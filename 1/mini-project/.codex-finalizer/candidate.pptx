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3093ce03294b46" /><Relationship Type="http://schemas.openxmlformats.org/officeDocument/2006/relationships/extended-properties" Target="/docProps/app.xml" Id="Rfc966efb715f4e2a" /><Relationship Type="http://schemas.openxmlformats.org/officeDocument/2006/relationships/officeDocument" Target="/ppt/presentation.xml" Id="Re3aef9ad419b4aa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54d656165cb4185"/>
  </p:sldMasterIdLst>
  <p:notesMasterIdLst>
    <p:notesMasterId xmlns:r="http://schemas.openxmlformats.org/officeDocument/2006/relationships" r:id="R08c3ae9867c14f60"/>
  </p:notesMasterIdLst>
  <p:sldIdLst>
    <p:sldId xmlns:r="http://schemas.openxmlformats.org/officeDocument/2006/relationships" id="256" r:id="R73e1257f94a34183"/>
    <p:sldId xmlns:r="http://schemas.openxmlformats.org/officeDocument/2006/relationships" id="257" r:id="R1eb68fee3cb34278"/>
    <p:sldId xmlns:r="http://schemas.openxmlformats.org/officeDocument/2006/relationships" id="258" r:id="Rf62fba6cf6c24fcf"/>
    <p:sldId xmlns:r="http://schemas.openxmlformats.org/officeDocument/2006/relationships" id="259" r:id="Re08d5d190b8a4d4d"/>
    <p:sldId xmlns:r="http://schemas.openxmlformats.org/officeDocument/2006/relationships" id="260" r:id="Rfdc23923a5234064"/>
    <p:sldId xmlns:r="http://schemas.openxmlformats.org/officeDocument/2006/relationships" id="261" r:id="R462c3ac1df244d0e"/>
    <p:sldId xmlns:r="http://schemas.openxmlformats.org/officeDocument/2006/relationships" id="262" r:id="R010dc4123bae4693"/>
    <p:sldId xmlns:r="http://schemas.openxmlformats.org/officeDocument/2006/relationships" id="263" r:id="R22f11f164be84761"/>
    <p:sldId xmlns:r="http://schemas.openxmlformats.org/officeDocument/2006/relationships" id="264" r:id="Ra3b9b72d60a34472"/>
    <p:sldId xmlns:r="http://schemas.openxmlformats.org/officeDocument/2006/relationships" id="265" r:id="R06daede546534d1b"/>
    <p:sldId xmlns:r="http://schemas.openxmlformats.org/officeDocument/2006/relationships" id="266" r:id="R179f365ad1ca4374"/>
    <p:sldId xmlns:r="http://schemas.openxmlformats.org/officeDocument/2006/relationships" id="267" r:id="R0581a770540a430d"/>
    <p:sldId xmlns:r="http://schemas.openxmlformats.org/officeDocument/2006/relationships" id="268" r:id="Rd5a510e445e14a7d"/>
    <p:sldId xmlns:r="http://schemas.openxmlformats.org/officeDocument/2006/relationships" id="269" r:id="R740b6ae48e4a4798"/>
    <p:sldId xmlns:r="http://schemas.openxmlformats.org/officeDocument/2006/relationships" id="270" r:id="Re6e4bfc3dbea49a4"/>
    <p:sldId xmlns:r="http://schemas.openxmlformats.org/officeDocument/2006/relationships" id="271" r:id="R986d8a183d414632"/>
    <p:sldId xmlns:r="http://schemas.openxmlformats.org/officeDocument/2006/relationships" id="272" r:id="R27be390c268542e8"/>
    <p:sldId xmlns:r="http://schemas.openxmlformats.org/officeDocument/2006/relationships" id="273" r:id="Re61a5ddd9fed40fe"/>
  </p:sldIdLst>
  <p:sldSz cx="18288000" cy="10287000"/>
  <p:notesSz cx="6858000" cy="9144000"/>
  <p:embeddedFontLst>
    <p:embeddedFont>
      <p:font typeface="Muli Ultra-Bold"/>
      <p:regular xmlns:r="http://schemas.openxmlformats.org/officeDocument/2006/relationships" r:id="R4f963705e8754795"/>
    </p:embeddedFont>
    <p:embeddedFont>
      <p:font typeface="Muli"/>
      <p:regular xmlns:r="http://schemas.openxmlformats.org/officeDocument/2006/relationships" r:id="Re46828a8c4f545ce"/>
    </p:embeddedFont>
    <p:embeddedFont>
      <p:font typeface="Muli Bold Italics"/>
      <p:regular xmlns:r="http://schemas.openxmlformats.org/officeDocument/2006/relationships" r:id="Rdb74da5bb42f4cd9"/>
    </p:embeddedFont>
    <p:embeddedFont>
      <p:font typeface="Muli Bold"/>
      <p:regular xmlns:r="http://schemas.openxmlformats.org/officeDocument/2006/relationships" r:id="Rd398859aec624d0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afc903669e4534" /><Relationship Type="http://schemas.openxmlformats.org/officeDocument/2006/relationships/slideMaster" Target="/ppt/slideMasters/slideMaster1.xml" Id="R154d656165cb4185" /><Relationship Type="http://schemas.openxmlformats.org/officeDocument/2006/relationships/notesMaster" Target="/ppt/notesMasters/notesMaster1.xml" Id="R08c3ae9867c14f60" /><Relationship Type="http://schemas.openxmlformats.org/officeDocument/2006/relationships/presProps" Target="/ppt/presProps.xml" Id="R1da5b89568b14b67" /><Relationship Type="http://schemas.openxmlformats.org/officeDocument/2006/relationships/viewProps" Target="/ppt/viewProps.xml" Id="R8caa55d6e9484320" /><Relationship Type="http://schemas.openxmlformats.org/officeDocument/2006/relationships/tableStyles" Target="/ppt/tableStyles.xml" Id="R755da22b813449e0" /><Relationship Type="http://schemas.openxmlformats.org/officeDocument/2006/relationships/font" Target="/ppt/fonts/font.dat" Id="R4f963705e8754795" /><Relationship Type="http://schemas.openxmlformats.org/officeDocument/2006/relationships/font" Target="/ppt/fonts/font2.dat" Id="Re46828a8c4f545ce" /><Relationship Type="http://schemas.openxmlformats.org/officeDocument/2006/relationships/font" Target="/ppt/fonts/font3.dat" Id="Rdb74da5bb42f4cd9" /><Relationship Type="http://schemas.openxmlformats.org/officeDocument/2006/relationships/font" Target="/ppt/fonts/font4.dat" Id="Rd398859aec624d08" /><Relationship Type="http://schemas.openxmlformats.org/officeDocument/2006/relationships/slide" Target="/ppt/slides/slide1.xml" Id="R73e1257f94a34183" /><Relationship Type="http://schemas.openxmlformats.org/officeDocument/2006/relationships/slide" Target="/ppt/slides/slide2.xml" Id="R1eb68fee3cb34278" /><Relationship Type="http://schemas.openxmlformats.org/officeDocument/2006/relationships/slide" Target="/ppt/slides/slide3.xml" Id="Rf62fba6cf6c24fcf" /><Relationship Type="http://schemas.openxmlformats.org/officeDocument/2006/relationships/slide" Target="/ppt/slides/slide4.xml" Id="Re08d5d190b8a4d4d" /><Relationship Type="http://schemas.openxmlformats.org/officeDocument/2006/relationships/slide" Target="/ppt/slides/slide5.xml" Id="Rfdc23923a5234064" /><Relationship Type="http://schemas.openxmlformats.org/officeDocument/2006/relationships/slide" Target="/ppt/slides/slide6.xml" Id="R462c3ac1df244d0e" /><Relationship Type="http://schemas.openxmlformats.org/officeDocument/2006/relationships/slide" Target="/ppt/slides/slide7.xml" Id="R010dc4123bae4693" /><Relationship Type="http://schemas.openxmlformats.org/officeDocument/2006/relationships/slide" Target="/ppt/slides/slide8.xml" Id="R22f11f164be84761" /><Relationship Type="http://schemas.openxmlformats.org/officeDocument/2006/relationships/slide" Target="/ppt/slides/slide9.xml" Id="Ra3b9b72d60a34472" /><Relationship Type="http://schemas.openxmlformats.org/officeDocument/2006/relationships/slide" Target="/ppt/slides/slide10.xml" Id="R06daede546534d1b" /><Relationship Type="http://schemas.openxmlformats.org/officeDocument/2006/relationships/slide" Target="/ppt/slides/slide11.xml" Id="R179f365ad1ca4374" /><Relationship Type="http://schemas.openxmlformats.org/officeDocument/2006/relationships/slide" Target="/ppt/slides/slide12.xml" Id="R0581a770540a430d" /><Relationship Type="http://schemas.openxmlformats.org/officeDocument/2006/relationships/slide" Target="/ppt/slides/slide13.xml" Id="Rd5a510e445e14a7d" /><Relationship Type="http://schemas.openxmlformats.org/officeDocument/2006/relationships/slide" Target="/ppt/slides/slide14.xml" Id="R740b6ae48e4a4798" /><Relationship Type="http://schemas.openxmlformats.org/officeDocument/2006/relationships/slide" Target="/ppt/slides/slide15.xml" Id="Re6e4bfc3dbea49a4" /><Relationship Type="http://schemas.openxmlformats.org/officeDocument/2006/relationships/slide" Target="/ppt/slides/slide16.xml" Id="R986d8a183d414632" /><Relationship Type="http://schemas.openxmlformats.org/officeDocument/2006/relationships/slide" Target="/ppt/slides/slide17.xml" Id="R27be390c268542e8" /><Relationship Type="http://schemas.openxmlformats.org/officeDocument/2006/relationships/slide" Target="/ppt/slides/slide18.xml" Id="Re61a5ddd9fed40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787801832148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9c844d7d964994" /><Relationship Type="http://schemas.openxmlformats.org/officeDocument/2006/relationships/notesMaster" Target="/ppt/notesMasters/notesMaster1.xml" Id="R6ce8cc5c5b1249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c87b6bd1f244b6" /><Relationship Type="http://schemas.openxmlformats.org/officeDocument/2006/relationships/notesMaster" Target="/ppt/notesMasters/notesMaster1.xml" Id="R50067e8419674f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62833f85a84410" /><Relationship Type="http://schemas.openxmlformats.org/officeDocument/2006/relationships/notesMaster" Target="/ppt/notesMasters/notesMaster1.xml" Id="R6fd25de6bb0943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5ede57c5e6400c" /><Relationship Type="http://schemas.openxmlformats.org/officeDocument/2006/relationships/notesMaster" Target="/ppt/notesMasters/notesMaster1.xml" Id="R2b0a791d857e45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e03ff01fb046ef" /><Relationship Type="http://schemas.openxmlformats.org/officeDocument/2006/relationships/notesMaster" Target="/ppt/notesMasters/notesMaster1.xml" Id="Rac0117f3b1364a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b49ae8befd4472" /><Relationship Type="http://schemas.openxmlformats.org/officeDocument/2006/relationships/notesMaster" Target="/ppt/notesMasters/notesMaster1.xml" Id="R81019570b5344b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0307c1b9694a3d" /><Relationship Type="http://schemas.openxmlformats.org/officeDocument/2006/relationships/notesMaster" Target="/ppt/notesMasters/notesMaster1.xml" Id="Rc464ca3eaee545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f15e05e277420f" /><Relationship Type="http://schemas.openxmlformats.org/officeDocument/2006/relationships/notesMaster" Target="/ppt/notesMasters/notesMaster1.xml" Id="R82c005c8e8014b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1dd2f8ecd64470" /><Relationship Type="http://schemas.openxmlformats.org/officeDocument/2006/relationships/notesMaster" Target="/ppt/notesMasters/notesMaster1.xml" Id="R61bf53c2bbb348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89dd68c234411b" /><Relationship Type="http://schemas.openxmlformats.org/officeDocument/2006/relationships/notesMaster" Target="/ppt/notesMasters/notesMaster1.xml" Id="R0979d97c67664e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4c621d69934490" /><Relationship Type="http://schemas.openxmlformats.org/officeDocument/2006/relationships/notesMaster" Target="/ppt/notesMasters/notesMaster1.xml" Id="R081577a4041746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013c7bc06e4bc2" /><Relationship Type="http://schemas.openxmlformats.org/officeDocument/2006/relationships/notesMaster" Target="/ppt/notesMasters/notesMaster1.xml" Id="R6195b4d9b5b54b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625e860cb74c98" /><Relationship Type="http://schemas.openxmlformats.org/officeDocument/2006/relationships/notesMaster" Target="/ppt/notesMasters/notesMaster1.xml" Id="R67916d5b37c44e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08943ec20e49c0" /><Relationship Type="http://schemas.openxmlformats.org/officeDocument/2006/relationships/notesMaster" Target="/ppt/notesMasters/notesMaster1.xml" Id="R046a9470148849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eeb904a29a4d5b" /><Relationship Type="http://schemas.openxmlformats.org/officeDocument/2006/relationships/notesMaster" Target="/ppt/notesMasters/notesMaster1.xml" Id="Rea240d2e65f841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ad544990454e69" /><Relationship Type="http://schemas.openxmlformats.org/officeDocument/2006/relationships/notesMaster" Target="/ppt/notesMasters/notesMaster1.xml" Id="Raa7db19269bb4b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8121419eea488c" /><Relationship Type="http://schemas.openxmlformats.org/officeDocument/2006/relationships/notesMaster" Target="/ppt/notesMasters/notesMaster1.xml" Id="R3d376b092f404d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01ef113b0d46ae" /><Relationship Type="http://schemas.openxmlformats.org/officeDocument/2006/relationships/notesMaster" Target="/ppt/notesMasters/notesMaster1.xml" Id="R7ecff29c5ca74d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1. Mini-project ตามโจทย์ Lab 2 หน้า 14 ที่ให้แสดงปัญหาของประตูเลื่อนและออกแบบ state machine ใหม่ โดยไม่ซ้ำกับกลุ่มตัวอย่างที่ใช้ระบบรหัสผ่าน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2. วัตถุประสงค์ทั้งสามข้อวัดผลได้จากเอกสารออกแบบ ตาราง state และผลการประกอบโปรแกรมด้วย EdSim51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3. ลำดับ 01 ถึง 04 คือ storyboard ของสถานการณ์เดียวกันบนระบบใหม่ ตัวเลขเวลาอ้างอิงจากเอกสารออกแบบ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4. FSM มี 8 สถานะ เงื่อนไขทุกเส้นมาจากเอกสาร PROPOSED_SOLUTION_DESIGN.md หัวข้อ 5 และตรงกับโปรแกรมใน firmware/SLIDING_DOOR.asm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5. ค่า P1 ทุกไบต์ตรวจซ้ำกับตารางในโปรแกรมและกับผลการรันบน CPU ของ EdSim51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6. แผนภาพนี้เป็นการเชื่อมต่อเชิงตรรกะ รายละเอียดขาและค่าอุปกรณ์อยู่ในเอกสารออกแบบหัวข้อ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7. ตอบคำถามเรื่องแรงดันและค่าหน่วงเวลาโดยตรง ค่าทุกค่าตรงกับไฟล์ firmware/SLIDING_DOOR_CLASSROOM.asm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8. START ตรวจตำแหน่งก่อนเสมอ ถ้าไม่พบปลายทางที่ชัดเจนจะเข้าสถานะขัดข้องแทนการเคลื่อนที่เอง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9. Delay คือฐานเวลาเดียวของทั้งโปรแกรม ค่าเวลาอื่นเกิดจากการเรียกซ้ำตามจำนวนใน 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9. ประตูปิดสนิท หยุดนิ่ง 200 ms ก่อนรับคำสั่ง แล้วยืนยันการกดปุ่มอีก 20 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10. ตั้งทิศทางขณะยังตัดแรงขับ แล้วจึงจ่ายแรงขับ ลูปนับ 250 รอบเท่ากับ 5 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11. ตัวนับ 150 รอบเท่ากับ 3 s และเริ่มนับใหม่ทันทีที่ลำแสงถูกบังหรือมีการกดปุ่ม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12. ลำแสงและปุ่มถูกตรวจก่อนลิมิตปิด สิ่งกีดขวางจึงมีผลเหนือการปิดจนสุด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13. สถานะนี้มีไว้ให้แกนมอเตอร์หยุดก่อนกลับทิศ ป้องกันกระแสย้อนและความเสียหายเชิงกล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14. เปิดกลับจนสุดพร้อมเสียงเตือน แล้วกลับเข้าสถานะเปิดค้างเพื่อเริ่มนับเวลาว่างใหม่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15. การกู้คืนต้องผ่านการปล่อยปุ่ม การกดค้าง 20 ms และเงื่อนไขความปลอดภัยครบก่อนเริ่มใหม่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9. ผลในตารางมาจากการรัน assembler และ CPU ของ EdSim51 แบบไม่เปิดหน้าต่างโปรแกรม รายละเอียดอยู่ใน firmware/TEST_RESULTS.md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10. สรุปขอบเขตงานและสิ่งที่ยังต้องตรวจสอบก่อนนำไปใช้กับประตูจริง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c4353711049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56e92fab747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d4a41838045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0d7b671ff4c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3ca2c7de54b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20c0a65194f6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a4a39030b40c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dbfa480d3e419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d6c118029412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dd5c11ea35441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5c6ccc1d1405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7D6BF9-E33C-41A9-854D-554327408DC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D7ABF8A-89F7-4976-9A8D-3F9D94D34F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26F579-AC0E-4356-9A3F-276F85A3AA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92E69B-3FF1-49B7-8691-91ED2E230C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C1B8A4-273D-49D5-84F2-64B5BA4286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0C5866-9A0F-4683-B3DC-4EBD27C59C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801B878-2FE1-4077-A489-AE6730AA6C0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4506D3-0772-45B1-AA5B-E17225B5AB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3BC74D-8084-406B-8683-F5587D0FB2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EC685F-3DA3-4895-9FCF-4C429A71E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07CBE7-E9AC-4E86-9087-DCAE4A7E64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6A4D950-D43B-4BDE-91D6-EEEDE0D863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500BE4-3D8C-439B-A183-0C45185DB4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AE014C-9484-4FE7-8AC0-492773CC4A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3826BF-BCDF-47A8-990E-D9857A888C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BB6F51-7A37-469B-A545-D5B8733EB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4BC3149-82B9-486C-BDFF-45F32542C4D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FBB24B5-201B-4427-948A-AD40C679934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4F7B701-1620-456C-B1ED-97B10532A1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91D9597-64D1-490C-BD62-2DCCA74284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1F13EEE-4109-49ED-9432-EC1AC46E1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710D8F-9521-43CE-AD72-E8E3A27B13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C0DCE2-4B7D-4ABF-8F77-EDDDE8E8EE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E2C8A08-C841-4379-95BD-7A84D9660FC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3FAB64A-E15F-4BE8-9E30-BF8BBD424B6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A491C6D-66D6-44D0-BEA0-47088E3632C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2D999C4-753D-4F06-A956-E3095501B1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510037E-4192-48C2-BFA6-90FDA0DBA1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6A26B5D-664A-4691-B728-E0D0AFB996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E948E3-F70B-44E1-A716-A71DBCF2E5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36732C1-668C-4789-ADD3-B8BEBFB8F2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21FC926-E4F2-4BC6-8E08-C9167A786F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1DD8A94-5D4F-4F70-A805-09246DE906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B5BEFEB-7570-4966-98B8-28C9C02D0D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1E06F25-ACC7-4DE4-BCA4-AAFEA9AF79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B2F4C5C-887E-4737-9C2E-13F43FB716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BFB7F5-630B-4FD6-B20B-15D8760A4F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923056-9AC8-420D-B7C2-9639C3DFC86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2F12D59-F96E-4473-9943-E23594DBDC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293531C-79F5-41D7-A6E5-B6ADAC42D1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5968255-09B0-4807-AB6E-801D0C37BB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DE5D0C-DA7E-44B8-BC3C-B3D7EDC258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6D95FE-1165-43FF-985B-AF8A29031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91C973F-675F-4B2F-94D5-CB36DA373FB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BFF60B6-4B54-46B5-8307-36EF6F5CDE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972415E-AD9E-4516-8458-739399376D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BE995FF-508D-4983-B428-3B81FD8B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5E1571C-A396-4119-A6F6-9786E78B4B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B3F699-AB1E-412E-A4E8-FE7069180D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090890-36F5-4422-BEB6-E77870645F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EBC366-CB0A-4BA0-A504-C89CC751DE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401860-0DD6-45DE-B618-385EB96B60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479F19-1EF8-4271-8710-D510026A44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56EE553-0E61-4624-BA2A-BFA9B37C28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4F92C1C-7C09-4817-A949-A6CD950D43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74A7B4-CADF-48FB-B433-DC8B21A6ED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DA62C9-7747-481B-AD17-61316D6E87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BCA6B4-DEB6-447A-8125-88CE69EE78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1573570c3144fc" /><Relationship Type="http://schemas.openxmlformats.org/officeDocument/2006/relationships/slideLayout" Target="/ppt/slideLayouts/slideLayout1.xml" Id="R713afe9db4914261" /><Relationship Type="http://schemas.openxmlformats.org/officeDocument/2006/relationships/slideLayout" Target="/ppt/slideLayouts/slideLayout2.xml" Id="R57f1c61c989a4259" /><Relationship Type="http://schemas.openxmlformats.org/officeDocument/2006/relationships/slideLayout" Target="/ppt/slideLayouts/slideLayout3.xml" Id="R51f4c6d6fb6c4e37" /><Relationship Type="http://schemas.openxmlformats.org/officeDocument/2006/relationships/slideLayout" Target="/ppt/slideLayouts/slideLayout4.xml" Id="R2fe8bdca8b3848ea" /><Relationship Type="http://schemas.openxmlformats.org/officeDocument/2006/relationships/slideLayout" Target="/ppt/slideLayouts/slideLayout5.xml" Id="R4d552205b094493b" /><Relationship Type="http://schemas.openxmlformats.org/officeDocument/2006/relationships/slideLayout" Target="/ppt/slideLayouts/slideLayout6.xml" Id="R503a7681463e4e91" /><Relationship Type="http://schemas.openxmlformats.org/officeDocument/2006/relationships/slideLayout" Target="/ppt/slideLayouts/slideLayout7.xml" Id="R0009644013bf4712" /><Relationship Type="http://schemas.openxmlformats.org/officeDocument/2006/relationships/slideLayout" Target="/ppt/slideLayouts/slideLayout8.xml" Id="R1e43660baf73496c" /><Relationship Type="http://schemas.openxmlformats.org/officeDocument/2006/relationships/slideLayout" Target="/ppt/slideLayouts/slideLayout9.xml" Id="R31f2f93cf22741c9" /><Relationship Type="http://schemas.openxmlformats.org/officeDocument/2006/relationships/slideLayout" Target="/ppt/slideLayouts/slideLayout10.xml" Id="R0cd763a9c12e4505" /><Relationship Type="http://schemas.openxmlformats.org/officeDocument/2006/relationships/slideLayout" Target="/ppt/slideLayouts/slideLayout11.xml" Id="R888ac52109bc4d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2F02B7F-937F-43A6-BC2F-E9BF24E6B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37C09A-65AB-4006-8D0D-C20FCF3DC6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50A85C-4172-4B26-B991-39EA8A405E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519E7B-91FB-4FD6-A0C4-2D224516385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567EA2-9197-400D-8A03-4380C5BF2A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3afe9db4914261"/>
    <p:sldLayoutId xmlns:r="http://schemas.openxmlformats.org/officeDocument/2006/relationships" id="2147483650" r:id="R57f1c61c989a4259"/>
    <p:sldLayoutId xmlns:r="http://schemas.openxmlformats.org/officeDocument/2006/relationships" id="2147483651" r:id="R51f4c6d6fb6c4e37"/>
    <p:sldLayoutId xmlns:r="http://schemas.openxmlformats.org/officeDocument/2006/relationships" id="2147483652" r:id="R2fe8bdca8b3848ea"/>
    <p:sldLayoutId xmlns:r="http://schemas.openxmlformats.org/officeDocument/2006/relationships" id="2147483653" r:id="R4d552205b094493b"/>
    <p:sldLayoutId xmlns:r="http://schemas.openxmlformats.org/officeDocument/2006/relationships" id="2147483654" r:id="R503a7681463e4e91"/>
    <p:sldLayoutId xmlns:r="http://schemas.openxmlformats.org/officeDocument/2006/relationships" id="2147483655" r:id="R0009644013bf4712"/>
    <p:sldLayoutId xmlns:r="http://schemas.openxmlformats.org/officeDocument/2006/relationships" id="2147483656" r:id="R1e43660baf73496c"/>
    <p:sldLayoutId xmlns:r="http://schemas.openxmlformats.org/officeDocument/2006/relationships" id="2147483657" r:id="R31f2f93cf22741c9"/>
    <p:sldLayoutId xmlns:r="http://schemas.openxmlformats.org/officeDocument/2006/relationships" id="2147483658" r:id="R0cd763a9c12e4505"/>
    <p:sldLayoutId xmlns:r="http://schemas.openxmlformats.org/officeDocument/2006/relationships" id="2147483659" r:id="R888ac52109bc4dab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af1ed5163f4c59" /><Relationship Type="http://schemas.openxmlformats.org/officeDocument/2006/relationships/image" Target="/ppt/media/image.png" Id="R78e8f5c9b4804fee" /><Relationship Type="http://schemas.openxmlformats.org/officeDocument/2006/relationships/image" Target="/ppt/media/image.svg" Id="R9ba96829f6aa4cd0" /><Relationship Type="http://schemas.openxmlformats.org/officeDocument/2006/relationships/image" Target="/ppt/media/image2.png" Id="R412093fa0db94c3c" /><Relationship Type="http://schemas.openxmlformats.org/officeDocument/2006/relationships/image" Target="/ppt/media/image2.svg" Id="Ra6fd5dc73dcb4b3f" /><Relationship Type="http://schemas.openxmlformats.org/officeDocument/2006/relationships/notesSlide" Target="/ppt/notesSlides/notesSlide1.xml" Id="R767c473590594e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5344ad789c4d58" /><Relationship Type="http://schemas.openxmlformats.org/officeDocument/2006/relationships/image" Target="/ppt/media/image3.png" Id="Rb82e7269b83c4a1a" /><Relationship Type="http://schemas.openxmlformats.org/officeDocument/2006/relationships/image" Target="/ppt/media/image3.svg" Id="R1fcadc2b8e5b4c54" /><Relationship Type="http://schemas.openxmlformats.org/officeDocument/2006/relationships/notesSlide" Target="/ppt/notesSlides/notesSlide2.xml" Id="Rf4eeb2f8cdd742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89e5e014414851" /><Relationship Type="http://schemas.openxmlformats.org/officeDocument/2006/relationships/image" Target="/ppt/media/image4.png" Id="R87a16dde36e0432f" /><Relationship Type="http://schemas.openxmlformats.org/officeDocument/2006/relationships/image" Target="/ppt/media/image4.svg" Id="Ra0dcb55523994cac" /><Relationship Type="http://schemas.openxmlformats.org/officeDocument/2006/relationships/notesSlide" Target="/ppt/notesSlides/notesSlide3.xml" Id="R54661fd55dd64a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61c7268e434be7" /><Relationship Type="http://schemas.openxmlformats.org/officeDocument/2006/relationships/image" Target="/ppt/media/image4.png" Id="R3bf02050c2894ac5" /><Relationship Type="http://schemas.openxmlformats.org/officeDocument/2006/relationships/image" Target="/ppt/media/image4.svg" Id="R6578e299a71b463f" /><Relationship Type="http://schemas.openxmlformats.org/officeDocument/2006/relationships/notesSlide" Target="/ppt/notesSlides/notesSlide4.xml" Id="R53cad47dae2540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5c80392a71465e" /><Relationship Type="http://schemas.openxmlformats.org/officeDocument/2006/relationships/image" Target="/ppt/media/image4.png" Id="Rfa9893320a31402c" /><Relationship Type="http://schemas.openxmlformats.org/officeDocument/2006/relationships/image" Target="/ppt/media/image4.svg" Id="Rbf95c8f938664810" /><Relationship Type="http://schemas.openxmlformats.org/officeDocument/2006/relationships/notesSlide" Target="/ppt/notesSlides/notesSlide5.xml" Id="R58a367c4992c45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740b5c79bb41f2" /><Relationship Type="http://schemas.openxmlformats.org/officeDocument/2006/relationships/image" Target="/ppt/media/image4.png" Id="R4cffd111a9d648e7" /><Relationship Type="http://schemas.openxmlformats.org/officeDocument/2006/relationships/image" Target="/ppt/media/image4.svg" Id="Re8afaf5fea924e73" /><Relationship Type="http://schemas.openxmlformats.org/officeDocument/2006/relationships/notesSlide" Target="/ppt/notesSlides/notesSlide6.xml" Id="R12a6eac5c65b46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3bad4065c14a6b" /><Relationship Type="http://schemas.openxmlformats.org/officeDocument/2006/relationships/image" Target="/ppt/media/image4.png" Id="Rdc0cafa4df6b425a" /><Relationship Type="http://schemas.openxmlformats.org/officeDocument/2006/relationships/image" Target="/ppt/media/image4.svg" Id="Rb028ea271f7c4845" /><Relationship Type="http://schemas.openxmlformats.org/officeDocument/2006/relationships/notesSlide" Target="/ppt/notesSlides/notesSlide7.xml" Id="R2dabc049b2e44e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729c8e6add4ae6" /><Relationship Type="http://schemas.openxmlformats.org/officeDocument/2006/relationships/image" Target="/ppt/media/image4.png" Id="R1cd6d34af3f64d29" /><Relationship Type="http://schemas.openxmlformats.org/officeDocument/2006/relationships/image" Target="/ppt/media/image4.svg" Id="R1ca4b8feda754ecb" /><Relationship Type="http://schemas.openxmlformats.org/officeDocument/2006/relationships/notesSlide" Target="/ppt/notesSlides/notesSlide8.xml" Id="R7654de567ba046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b1691467254776" /><Relationship Type="http://schemas.openxmlformats.org/officeDocument/2006/relationships/image" Target="/ppt/media/image4.png" Id="Rc16a35a27f6b4b55" /><Relationship Type="http://schemas.openxmlformats.org/officeDocument/2006/relationships/image" Target="/ppt/media/image4.svg" Id="R93a6025234524349" /><Relationship Type="http://schemas.openxmlformats.org/officeDocument/2006/relationships/notesSlide" Target="/ppt/notesSlides/notesSlide9.xml" Id="R8c63942a07df41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0940dfa9b94282" /><Relationship Type="http://schemas.openxmlformats.org/officeDocument/2006/relationships/image" Target="/ppt/media/image4.png" Id="R6f7c136940374e46" /><Relationship Type="http://schemas.openxmlformats.org/officeDocument/2006/relationships/image" Target="/ppt/media/image4.svg" Id="R8887f3481fe649b1" /><Relationship Type="http://schemas.openxmlformats.org/officeDocument/2006/relationships/notesSlide" Target="/ppt/notesSlides/notesSlide10.xml" Id="R202cb60a5d744a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f8adceaadd4016" /><Relationship Type="http://schemas.openxmlformats.org/officeDocument/2006/relationships/image" Target="/ppt/media/image4.png" Id="R55829d82770d4ae0" /><Relationship Type="http://schemas.openxmlformats.org/officeDocument/2006/relationships/image" Target="/ppt/media/image4.svg" Id="Rbc1cdd3759a740c2" /><Relationship Type="http://schemas.openxmlformats.org/officeDocument/2006/relationships/notesSlide" Target="/ppt/notesSlides/notesSlide11.xml" Id="Rd0879dc47e7349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3b5857a122442b" /><Relationship Type="http://schemas.openxmlformats.org/officeDocument/2006/relationships/image" Target="/ppt/media/image4.png" Id="Rc313546d65d247b0" /><Relationship Type="http://schemas.openxmlformats.org/officeDocument/2006/relationships/image" Target="/ppt/media/image4.svg" Id="R9152daa9b4424f48" /><Relationship Type="http://schemas.openxmlformats.org/officeDocument/2006/relationships/notesSlide" Target="/ppt/notesSlides/notesSlide12.xml" Id="R90bfea7087994f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a7eabf742f4039" /><Relationship Type="http://schemas.openxmlformats.org/officeDocument/2006/relationships/image" Target="/ppt/media/image4.png" Id="Rad5e315ca9d74cb7" /><Relationship Type="http://schemas.openxmlformats.org/officeDocument/2006/relationships/image" Target="/ppt/media/image4.svg" Id="R4b05df1b18d94797" /><Relationship Type="http://schemas.openxmlformats.org/officeDocument/2006/relationships/notesSlide" Target="/ppt/notesSlides/notesSlide13.xml" Id="Ree440047217c45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9952cc750e4915" /><Relationship Type="http://schemas.openxmlformats.org/officeDocument/2006/relationships/image" Target="/ppt/media/image4.png" Id="Rc048f5231ac945cb" /><Relationship Type="http://schemas.openxmlformats.org/officeDocument/2006/relationships/image" Target="/ppt/media/image4.svg" Id="R4bf885f7f7514bcb" /><Relationship Type="http://schemas.openxmlformats.org/officeDocument/2006/relationships/notesSlide" Target="/ppt/notesSlides/notesSlide14.xml" Id="Rd40ecf4ccd3746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378c902c674f23" /><Relationship Type="http://schemas.openxmlformats.org/officeDocument/2006/relationships/image" Target="/ppt/media/image4.png" Id="Rec65988d26ab4b0e" /><Relationship Type="http://schemas.openxmlformats.org/officeDocument/2006/relationships/image" Target="/ppt/media/image4.svg" Id="R09a0a3c451b44803" /><Relationship Type="http://schemas.openxmlformats.org/officeDocument/2006/relationships/notesSlide" Target="/ppt/notesSlides/notesSlide15.xml" Id="Rabc1a005d6d84f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7536d5e6404069" /><Relationship Type="http://schemas.openxmlformats.org/officeDocument/2006/relationships/image" Target="/ppt/media/image4.png" Id="R70342a9c1dec49ce" /><Relationship Type="http://schemas.openxmlformats.org/officeDocument/2006/relationships/image" Target="/ppt/media/image4.svg" Id="R008f1197044644d5" /><Relationship Type="http://schemas.openxmlformats.org/officeDocument/2006/relationships/notesSlide" Target="/ppt/notesSlides/notesSlide16.xml" Id="Ra6f66ce336b64e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06da1e65c94b26" /><Relationship Type="http://schemas.openxmlformats.org/officeDocument/2006/relationships/image" Target="/ppt/media/image4.png" Id="R3c79278fb4ed4bc3" /><Relationship Type="http://schemas.openxmlformats.org/officeDocument/2006/relationships/image" Target="/ppt/media/image4.svg" Id="R68bbf771cebc498a" /><Relationship Type="http://schemas.openxmlformats.org/officeDocument/2006/relationships/notesSlide" Target="/ppt/notesSlides/notesSlide17.xml" Id="R6eacdef52ef74f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61cc5616384dd5" /><Relationship Type="http://schemas.openxmlformats.org/officeDocument/2006/relationships/image" Target="/ppt/media/image3.png" Id="Rb6196a7aaea74c85" /><Relationship Type="http://schemas.openxmlformats.org/officeDocument/2006/relationships/image" Target="/ppt/media/image3.svg" Id="Rbf8afdc1bf8a47ca" /><Relationship Type="http://schemas.openxmlformats.org/officeDocument/2006/relationships/image" Target="/ppt/media/image2.png" Id="R00c6ac6ba5444d3c" /><Relationship Type="http://schemas.openxmlformats.org/officeDocument/2006/relationships/image" Target="/ppt/media/image2.svg" Id="Re1e494c2f198411b" /><Relationship Type="http://schemas.openxmlformats.org/officeDocument/2006/relationships/notesSlide" Target="/ppt/notesSlides/notesSlide18.xml" Id="R5739dc99599f40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C1146F0-4DB5-4B25-8189-EB7B8532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07175" y="6941125"/>
            <a:ext cx="7590520" cy="3345875"/>
          </a:xfrm>
          <a:custGeom xmlns:a="http://schemas.openxmlformats.org/drawingml/2006/main">
            <a:rect l="l" t="t" r="r" b="b"/>
            <a:pathLst>
              <a:path w="7590520" h="3345875">
                <a:moveTo>
                  <a:pt x="0" y="0"/>
                </a:moveTo>
                <a:lnTo>
                  <a:pt x="7590520" y="0"/>
                </a:lnTo>
                <a:lnTo>
                  <a:pt x="7590520" y="3345875"/>
                </a:lnTo>
                <a:lnTo>
                  <a:pt x="0" y="33458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e8f5c9b4804fee">
              <a:extLst>
                <a:ext uri="{96DAC541-7B7A-43D3-8B79-37D633B846F1}">
                  <asvg:svgBlip xmlns:asvg="http://schemas.microsoft.com/office/drawing/2016/SVG/main" r:embed="R9ba96829f6aa4cd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0759EB4-1382-4D33-944B-E5F993A3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0697480" y="0"/>
            <a:ext cx="7590520" cy="3345875"/>
          </a:xfrm>
          <a:custGeom xmlns:a="http://schemas.openxmlformats.org/drawingml/2006/main">
            <a:rect l="l" t="t" r="r" b="b"/>
            <a:pathLst>
              <a:path w="7590520" h="3345875">
                <a:moveTo>
                  <a:pt x="7590520" y="3345875"/>
                </a:moveTo>
                <a:lnTo>
                  <a:pt x="0" y="3345875"/>
                </a:lnTo>
                <a:lnTo>
                  <a:pt x="0" y="0"/>
                </a:lnTo>
                <a:lnTo>
                  <a:pt x="7590520" y="0"/>
                </a:lnTo>
                <a:lnTo>
                  <a:pt x="7590520" y="334587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e8f5c9b4804fee">
              <a:extLst>
                <a:ext uri="{96DAC541-7B7A-43D3-8B79-37D633B846F1}">
                  <asvg:svgBlip xmlns:asvg="http://schemas.microsoft.com/office/drawing/2016/SVG/main" r:embed="R9ba96829f6aa4cd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5099B172-72CD-4630-AB91-32E970EE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199551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130CEEE-DE6D-4731-9870-04C97B0C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2180679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DE71732-B1B8-4F89-83BF-19F7AD02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886554" y="-7141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5C08000-82B3-4C25-89BB-CA90B364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85577" y="-296565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A2E5930-D089-48BF-B7CF-E6A538DF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331096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A7574F3-ACF6-42AE-9C7C-0CCB1CE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51626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24F86CF-4ABE-4E3C-80B0-CE5D4FCD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61397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6AC7CB7-032B-4ED6-925E-C40321A8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799136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6F8C658-6F83-4A21-BC7A-C0D1BBA4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3859422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EE84A4CE-4DC1-4D3A-9C3B-44A98866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4044588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A3881C20-9E5B-48A6-B93B-789F590A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4848538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407C38C6-E865-452D-B395-C616E9FC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5033704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C4FAF88A-7D5C-4E75-9DE6-1E23D7B5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282451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3622E7FC-FD76-4519-8F4D-C79CCB33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097285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7BFEB33-8F43-4D40-8A78-765A8806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92664" y="944345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EC482F98-FF0D-4DAF-B94B-F424DB32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3641" y="9218313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A66519A-6B0E-4432-ACB8-1A654F18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61803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B7DC1F30-BE54-49D3-AD3F-DBC09367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432867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76F70FF3-85C5-42D6-A4F1-3D899821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900908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0E920F5-5B7D-46E0-90B4-C9E3E481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71574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DD7992B1-B4C2-42A3-961A-51C1E3EF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814636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52FEF1C-A315-45F6-8F86-AEDD99FA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7961194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51C1F816-C249-4D69-99CF-8278F523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9135475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B2B6B66B-BA2E-4B6F-A508-8864D57D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8950309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3AE9D49A-8E05-4851-947E-FFF7A1AF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068" y="5617057"/>
            <a:ext cx="900967" cy="706031"/>
          </a:xfrm>
          <a:custGeom xmlns:a="http://schemas.openxmlformats.org/drawingml/2006/main">
            <a:rect l="l" t="t" r="r" b="b"/>
            <a:pathLst>
              <a:path w="1201290" h="941375">
                <a:moveTo>
                  <a:pt x="0" y="0"/>
                </a:moveTo>
                <a:lnTo>
                  <a:pt x="1201290" y="0"/>
                </a:lnTo>
                <a:lnTo>
                  <a:pt x="1201290" y="941375"/>
                </a:lnTo>
                <a:lnTo>
                  <a:pt x="0" y="9413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2093fa0db94c3c">
              <a:extLst>
                <a:ext uri="{96DAC541-7B7A-43D3-8B79-37D633B846F1}">
                  <asvg:svgBlip xmlns:asvg="http://schemas.microsoft.com/office/drawing/2016/SVG/main" r:embed="Ra6fd5dc73dcb4b3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496E705A-8744-4A9F-B391-60656924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0719963" y="6008336"/>
            <a:ext cx="900967" cy="706031"/>
          </a:xfrm>
          <a:custGeom xmlns:a="http://schemas.openxmlformats.org/drawingml/2006/main">
            <a:rect l="l" t="t" r="r" b="b"/>
            <a:pathLst>
              <a:path w="1201290" h="941375">
                <a:moveTo>
                  <a:pt x="1201290" y="941374"/>
                </a:moveTo>
                <a:lnTo>
                  <a:pt x="0" y="941374"/>
                </a:lnTo>
                <a:lnTo>
                  <a:pt x="0" y="0"/>
                </a:lnTo>
                <a:lnTo>
                  <a:pt x="1201290" y="0"/>
                </a:lnTo>
                <a:lnTo>
                  <a:pt x="1201290" y="94137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2093fa0db94c3c">
              <a:extLst>
                <a:ext uri="{96DAC541-7B7A-43D3-8B79-37D633B846F1}">
                  <asvg:svgBlip xmlns:asvg="http://schemas.microsoft.com/office/drawing/2016/SVG/main" r:embed="Ra6fd5dc73dcb4b3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33B00A27-BA33-424F-BEA7-E0DEE269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89733" y="5796340"/>
            <a:ext cx="4508532" cy="705843"/>
          </a:xfrm>
          <a:custGeom xmlns:a="http://schemas.openxmlformats.org/drawingml/2006/main">
            <a:rect l="l" t="t" r="r" b="b"/>
            <a:pathLst>
              <a:path w="927682" h="145235">
                <a:moveTo>
                  <a:pt x="0" y="0"/>
                </a:moveTo>
                <a:lnTo>
                  <a:pt x="927682" y="0"/>
                </a:lnTo>
                <a:lnTo>
                  <a:pt x="927682" y="145235"/>
                </a:lnTo>
                <a:lnTo>
                  <a:pt x="0" y="145235"/>
                </a:lnTo>
                <a:close/>
              </a:path>
            </a:pathLst>
          </a:custGeom>
          <a:solidFill xmlns:a="http://schemas.openxmlformats.org/drawingml/2006/main">
            <a:srgbClr val="77E8FF">
              <a:alpha val="10980"/>
            </a:srgbClr>
          </a:solid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59F9C773-099B-42D5-A100-EA7224DD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89733" y="5611174"/>
            <a:ext cx="4508532" cy="891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F17ECB3B-704F-48CF-AC20-2BAFCDF4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143250"/>
            <a:ext cx="16002000" cy="41120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189"/>
              </a:lnSpc>
              <a:buNone/>
              <a:defRPr sz="4575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4575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SLIDING DOOR SAFETY CONTROL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FFAFA01-B218-4863-A76B-54576417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5857875"/>
            <a:ext cx="685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19"/>
              </a:lnSpc>
              <a:buNone/>
              <a:defRPr sz="240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240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ระบบตรวจจับสิ่งกีดขวางและเปิดกลับ</a:t>
            </a:r>
          </a:p>
        </p:txBody>
      </p:sp>
      <p:sp>
        <p:nvSpPr>
          <p:cNvPr id="50" name="metadata">
            <a:extLst xmlns:a="http://schemas.openxmlformats.org/drawingml/2006/main">
              <a:ext uri="{FF2B5EF4-FFF2-40B4-BE49-F238E27FC236}">
                <a16:creationId xmlns:a16="http://schemas.microsoft.com/office/drawing/2014/main" id="{399FCD64-9CCE-42F1-963C-8B04161F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953250"/>
            <a:ext cx="11430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1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1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รายวิชา Embedded Systems (8051 และ EdSim51) กลุ่มที่ 1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21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1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66362416 นายธีรภัทร ภู่ระย้า ลำดับที่ 4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21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1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66363116 นางสาวปราณปรียา ศรียอง ลำดับที่ 7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21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1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อาจารย์ที่ปรึกษา ดร.แสงชัย มังกรทอง</a:t>
            </a:r>
          </a:p>
        </p:txBody>
      </p:sp>
    </p:spTree>
    <p:extLst>
      <p:ext uri="{BB962C8B-B14F-4D97-AF65-F5344CB8AC3E}">
        <p14:creationId xmlns:p14="http://schemas.microsoft.com/office/powerpoint/2010/main" val="1433841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EB622A1-2C51-4BCA-9C18-C4D8D613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84135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A5E2FB6-3A1D-4D66-8B68-FDD1B0FB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60194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EB03A269-2838-4F3F-9288-EFE2436A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398219" y="9481046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77EE904-C708-4E86-AA7C-5B55CE8F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457570" y="9189949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B9DF986-3BBA-4870-8304-39684AE9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80594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C6C507A-CE65-4D54-BE71-BAB464C9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56654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0F27973-D137-4481-9703-F0CF375B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441639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77B90DD-26A8-485B-BB6B-F31CCD7C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202234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E4AF7E59-320E-4D31-856F-CD479636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864466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9689F04-9B80-4505-8B57-700652B6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625061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586C55A-2CE9-4714-8E66-5D96CBBC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941177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638E55C5-DB8E-4304-ADEA-3CDA2535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701772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B0ECEC6-F8B5-40EF-8EFB-FDDB9055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31197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B8FE52D-0A8A-4E3B-B9CF-FB25016A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55137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78CBC52-3E36-468D-8A9F-08BB66BC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5971" y="-377019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7438C9E9-BC2C-4B3C-84BB-1290B37A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76620" y="-668116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64844313-741E-45C7-BE5F-83D0BB08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276567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516EB2C-8C70-4FC4-A99F-317549B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515972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797EF21-46C9-4455-B55F-94CCCEDD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591225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C3EA25BF-BEF2-4C6B-B718-2C598217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615166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E43651C5-4DCE-4E2E-85B2-3EB6958E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335085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922C0A1-6B55-4F37-9C85-B4574A12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574490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10EFAF24-6AAE-4BCC-82A6-20D205AB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411795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80DE1C1F-B08E-4381-BC40-F99E6FDB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651200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488F87B8-95A7-4AD9-930F-B30D7F6F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1500241" y="-2398012"/>
            <a:ext cx="6222760" cy="4114800"/>
          </a:xfrm>
          <a:custGeom xmlns:a="http://schemas.openxmlformats.org/drawingml/2006/main">
            <a:rect l="l" t="t" r="r" b="b"/>
            <a:pathLst>
              <a:path w="6222760" h="4114800">
                <a:moveTo>
                  <a:pt x="0" y="4114800"/>
                </a:moveTo>
                <a:lnTo>
                  <a:pt x="6222760" y="4114800"/>
                </a:lnTo>
                <a:lnTo>
                  <a:pt x="622276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82e7269b83c4a1a">
              <a:extLst>
                <a:ext uri="{96DAC541-7B7A-43D3-8B79-37D633B846F1}">
                  <asvg:svgBlip xmlns:asvg="http://schemas.microsoft.com/office/drawing/2016/SVG/main" r:embed="R1fcadc2b8e5b4c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480DD357-11C5-402E-A5F0-AC902DD6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565481" y="8570212"/>
            <a:ext cx="6222760" cy="4114800"/>
          </a:xfrm>
          <a:custGeom xmlns:a="http://schemas.openxmlformats.org/drawingml/2006/main">
            <a:rect l="l" t="t" r="r" b="b"/>
            <a:pathLst>
              <a:path w="6222760" h="4114800">
                <a:moveTo>
                  <a:pt x="6222760" y="0"/>
                </a:moveTo>
                <a:lnTo>
                  <a:pt x="0" y="0"/>
                </a:lnTo>
                <a:lnTo>
                  <a:pt x="0" y="4114800"/>
                </a:lnTo>
                <a:lnTo>
                  <a:pt x="6222760" y="4114800"/>
                </a:lnTo>
                <a:lnTo>
                  <a:pt x="622276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82e7269b83c4a1a">
              <a:extLst>
                <a:ext uri="{96DAC541-7B7A-43D3-8B79-37D633B846F1}">
                  <asvg:svgBlip xmlns:asvg="http://schemas.microsoft.com/office/drawing/2016/SVG/main" r:embed="R1fcadc2b8e5b4c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0F673B1-A3F4-41C2-B538-184D6C3D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11899"/>
              </a:lnSpc>
              <a:spcBef>
                <a:spcPct val="0"/>
              </a:spcBef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 u="none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Summary and Objectives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B93E637F-3166-4150-A442-00A033E6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3619500"/>
            <a:ext cx="12573000" cy="1493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325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ออกแบบ FSM 8 สถานะพร้อมลำดับความสำคัญของเงื่อนไข ให้ชุดสัญญาณเดิมให้ผลลัพธ์เดิมเสมอ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19B27FB8-AADC-48C1-BB93-737092B2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3695700"/>
            <a:ext cx="1685925" cy="12444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799"/>
              </a:lnSpc>
              <a:buNone/>
            </a:pPr>
            <a:r>
              <a:rPr sz="6999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01.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56C9AC97-262E-47EF-8117-C7140D36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5429250"/>
            <a:ext cx="12573000" cy="1493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325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กำหนดค่าตรรกะบนพอร์ต P0 P1 และ P2 ครบทุกสถานะ และบังคับให้หยุดจ่ายแรงขับอย่างน้อย 200 ms ก่อนกลับทิศ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EE72F603-67B1-4B70-AF50-30CC9304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5505450"/>
            <a:ext cx="1685925" cy="12444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799"/>
              </a:lnSpc>
              <a:buNone/>
            </a:pPr>
            <a:r>
              <a:rPr sz="6999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02.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C5968BC0-C985-410D-A273-E5561F8C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7239000"/>
            <a:ext cx="12573000" cy="1493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325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เขียนโปรแกรมภาษาแอสเซมบลีที่ประกอบและทดสอบได้จริงด้วย assembler และ CPU ของ EdSim51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A5C896F-261C-4556-8D03-4A732DB6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7315200"/>
            <a:ext cx="1685925" cy="12444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799"/>
              </a:lnSpc>
              <a:buNone/>
            </a:pPr>
            <a:r>
              <a:rPr sz="6999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03.</a:t>
            </a:r>
          </a:p>
        </p:txBody>
      </p:sp>
      <p:sp>
        <p:nvSpPr>
          <p:cNvPr id="49" name="summary">
            <a:extLst xmlns:a="http://schemas.openxmlformats.org/drawingml/2006/main">
              <a:ext uri="{FF2B5EF4-FFF2-40B4-BE49-F238E27FC236}">
                <a16:creationId xmlns:a16="http://schemas.microsoft.com/office/drawing/2014/main" id="{88EAEBDD-68B9-4C32-A651-D66F566D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57450"/>
            <a:ext cx="1447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2100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ประตูต้นแบบตัดสินใจปิดจากตัวนับเวลาเพียงอย่างเดียว ระบบที่เสนอเพิ่มลำแสงตรวจจับสองระดับ สถานะรอก่อนกลับทิศ และสถานะขัดข้องที่ต้องรีเซ็ตด้วยมือ</a:t>
            </a:r>
          </a:p>
        </p:txBody>
      </p:sp>
    </p:spTree>
    <p:extLst>
      <p:ext uri="{BB962C8B-B14F-4D97-AF65-F5344CB8AC3E}">
        <p14:creationId xmlns:p14="http://schemas.microsoft.com/office/powerpoint/2010/main" val="328097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A3CB94E-DC9F-450F-A3FE-2FFA9BA2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84135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AEF63B6-1C49-44F1-856D-9DB65A2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60194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67ACA534-B1E5-42ED-BC26-3FD4B95B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398219" y="9481046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4E0D10B-ECBD-4D60-A78C-89DC0A08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457570" y="9189949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780A345-6B13-4208-9130-2D8DE004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80594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5DEF76E-2607-4D5F-A4CF-C7D3482F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56654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FA474AE-88CD-4D7F-B982-46A55176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441639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CD2A7C4-7AC2-4A84-A4E9-8FBD9FD3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202234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B9C05CD-60F7-456F-B443-2F1AEED3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864466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A02EB5A-6BFF-48AD-A4DA-1A5D3050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625061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FE97A9D1-5E40-4E62-B298-00660820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941177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6A8CB03-C27F-4616-96F7-78297232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701772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7B6A423B-0937-4D90-A1B4-52BD81AC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31197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01F17FE-996E-420A-9745-C199032A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55137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F13EE94-92A1-4C44-BA7A-D3A607A5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5971" y="-377019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EB100D90-6415-42A9-A62D-9F90C184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76620" y="-668116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FBC870C1-F3CE-49C7-9284-D0B4D281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276567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B071881-FBF5-4813-9C13-409B7BA9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515972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2023B07-8A45-49D3-99B1-5310B37A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591225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457AE7E-7590-4067-B060-36E2EBA0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615166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66199B59-5C1E-476B-9016-A80362D6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335085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65DC05FF-8B2C-4197-B2B8-A40BC503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574490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67F8314-0EC4-4ECE-8536-BD6F121B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411795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D71D302D-C4E5-4C8F-967B-CB9B6128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651200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25D1480F-B978-48AC-96C5-B11D42CB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332174" y="8570212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0"/>
                </a:moveTo>
                <a:lnTo>
                  <a:pt x="0" y="0"/>
                </a:lnTo>
                <a:lnTo>
                  <a:pt x="0" y="2958662"/>
                </a:lnTo>
                <a:lnTo>
                  <a:pt x="7315200" y="2958662"/>
                </a:lnTo>
                <a:lnTo>
                  <a:pt x="73152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a16dde36e0432f">
              <a:extLst>
                <a:ext uri="{96DAC541-7B7A-43D3-8B79-37D633B846F1}">
                  <asvg:svgBlip xmlns:asvg="http://schemas.microsoft.com/office/drawing/2016/SVG/main" r:embed="Ra0dcb55523994ca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5F9FA69A-08F5-40AD-91EE-D544437D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2359374" y="-1241874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2958662"/>
                </a:moveTo>
                <a:lnTo>
                  <a:pt x="7315200" y="2958662"/>
                </a:lnTo>
                <a:lnTo>
                  <a:pt x="7315200" y="0"/>
                </a:lnTo>
                <a:lnTo>
                  <a:pt x="0" y="0"/>
                </a:lnTo>
                <a:lnTo>
                  <a:pt x="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a16dde36e0432f">
              <a:extLst>
                <a:ext uri="{96DAC541-7B7A-43D3-8B79-37D633B846F1}">
                  <asvg:svgBlip xmlns:asvg="http://schemas.microsoft.com/office/drawing/2016/SVG/main" r:embed="Ra0dcb55523994ca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978E3151-093A-4C59-9FEC-AEF91A41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11899"/>
              </a:lnSpc>
              <a:spcBef>
                <a:spcPct val="0"/>
              </a:spcBef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 u="none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Problem and Scenario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004B2CDD-F32C-41F4-B1D7-767ACAAD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425" y="3390900"/>
            <a:ext cx="672465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175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ตัวนับเวลาเพียงอย่างเดียวเป็นตัวสั่งปิด ระบบไม่ทราบว่ามีคนหรือสัตว์เลี้ยงอยู่ในช่องทางผ่าน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75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175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ผู้สูงอายุที่เดินช้ากว่าเวลาที่ตั้งไว้จึงพบบานประตูเคลื่อนเข้าหา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75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175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เมื่อบานชนสิ่งกีดขวาง ระบบไม่มีสถานะกู้คืน และไม่มีเงื่อนไขตรวจสอบก่อนปิดรอบใหม่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4AE88375-2B5A-4E93-9F77-BD6B5FD3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425" y="2552700"/>
            <a:ext cx="7058025" cy="7110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99"/>
              </a:lnSpc>
              <a:buNone/>
              <a:defRPr sz="2925" b="1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2925" b="1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ระบบเดิม (As-Is)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2D8DD45B-5DD8-4CFF-8949-05D37EED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625" y="3390900"/>
            <a:ext cx="6877050" cy="35549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175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ลำแสง through-beam สองระดับเฝ้าช่องทางผ่านตลอดเวลา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75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175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ขณะปิด ถ้าลำแสงถูกบังหรือมีการกดปุ่ม ระบบตัดแรงขับมอเตอร์ทันทีแล้วเข้าสถานะรอ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75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175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หลังหยุดอย่างน้อย 200 ms ประตูเปิดกลับจนถึงลิมิตเปิด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75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175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ปิดรอบใหม่เมื่อทางผ่านว่างและปุ่มถูกปล่อยต่อเนื่อง 3 วินาที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9892FD40-6EEA-430C-A996-10220B21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625" y="2552700"/>
            <a:ext cx="7058025" cy="7110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99"/>
              </a:lnSpc>
              <a:buNone/>
              <a:defRPr sz="2925" b="1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2925" b="1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ระบบที่เสนอ (To-Be)</a:t>
            </a:r>
          </a:p>
        </p:txBody>
      </p:sp>
      <p:sp>
        <p:nvSpPr>
          <p:cNvPr id="47" name="step-01">
            <a:extLst xmlns:a="http://schemas.openxmlformats.org/drawingml/2006/main">
              <a:ext uri="{FF2B5EF4-FFF2-40B4-BE49-F238E27FC236}">
                <a16:creationId xmlns:a16="http://schemas.microsoft.com/office/drawing/2014/main" id="{ADF3A193-544D-4820-98C2-62844E80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7448550"/>
            <a:ext cx="33909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step-n-01">
            <a:extLst xmlns:a="http://schemas.openxmlformats.org/drawingml/2006/main">
              <a:ext uri="{FF2B5EF4-FFF2-40B4-BE49-F238E27FC236}">
                <a16:creationId xmlns:a16="http://schemas.microsoft.com/office/drawing/2014/main" id="{6D44591A-E4CD-4834-968A-886E5B8C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75819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400" b="1">
                <a:solidFill>
                  <a:srgbClr val="3199CE"/>
                </a:solidFill>
                <a:latin typeface="Sukhumvit Set"/>
                <a:ea typeface="Sukhumvit Set"/>
                <a:cs typeface="Sukhumvit Set"/>
              </a:defRPr>
            </a:pPr>
            <a:r>
              <a:rPr sz="2400" b="1">
                <a:solidFill>
                  <a:srgbClr val="3199CE"/>
                </a:solidFill>
                <a:latin typeface="Sukhumvit Set"/>
                <a:ea typeface="Sukhumvit Set"/>
                <a:cs typeface="Sukhumvit Set"/>
              </a:rPr>
              <a:t>01</a:t>
            </a:r>
          </a:p>
        </p:txBody>
      </p:sp>
      <p:sp>
        <p:nvSpPr>
          <p:cNvPr id="49" name="step-t-01">
            <a:extLst xmlns:a="http://schemas.openxmlformats.org/drawingml/2006/main">
              <a:ext uri="{FF2B5EF4-FFF2-40B4-BE49-F238E27FC236}">
                <a16:creationId xmlns:a16="http://schemas.microsoft.com/office/drawing/2014/main" id="{2E463273-EB11-4934-B9E4-4A352885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79819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0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ผู้ใช้กดปุ่มเปิด</a:t>
            </a:r>
          </a:p>
        </p:txBody>
      </p:sp>
      <p:sp>
        <p:nvSpPr>
          <p:cNvPr id="50" name="step-02">
            <a:extLst xmlns:a="http://schemas.openxmlformats.org/drawingml/2006/main">
              <a:ext uri="{FF2B5EF4-FFF2-40B4-BE49-F238E27FC236}">
                <a16:creationId xmlns:a16="http://schemas.microsoft.com/office/drawing/2014/main" id="{D1F470BE-E1CE-46BC-92D6-C5620C39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7448550"/>
            <a:ext cx="33909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step-n-02">
            <a:extLst xmlns:a="http://schemas.openxmlformats.org/drawingml/2006/main">
              <a:ext uri="{FF2B5EF4-FFF2-40B4-BE49-F238E27FC236}">
                <a16:creationId xmlns:a16="http://schemas.microsoft.com/office/drawing/2014/main" id="{B9BAD87E-D3A8-49B5-83CE-D83BF8F4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75819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400" b="1">
                <a:solidFill>
                  <a:srgbClr val="3199CE"/>
                </a:solidFill>
                <a:latin typeface="Sukhumvit Set"/>
                <a:ea typeface="Sukhumvit Set"/>
                <a:cs typeface="Sukhumvit Set"/>
              </a:defRPr>
            </a:pPr>
            <a:r>
              <a:rPr sz="2400" b="1">
                <a:solidFill>
                  <a:srgbClr val="3199CE"/>
                </a:solidFill>
                <a:latin typeface="Sukhumvit Set"/>
                <a:ea typeface="Sukhumvit Set"/>
                <a:cs typeface="Sukhumvit Set"/>
              </a:rPr>
              <a:t>02</a:t>
            </a:r>
          </a:p>
        </p:txBody>
      </p:sp>
      <p:sp>
        <p:nvSpPr>
          <p:cNvPr id="52" name="step-t-02">
            <a:extLst xmlns:a="http://schemas.openxmlformats.org/drawingml/2006/main">
              <a:ext uri="{FF2B5EF4-FFF2-40B4-BE49-F238E27FC236}">
                <a16:creationId xmlns:a16="http://schemas.microsoft.com/office/drawing/2014/main" id="{C1AD12D1-9D2B-49A8-8C50-C6CF6A7E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79819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0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ผู้ใช้ยังอยู่ในช่องทางผ่าน</a:t>
            </a:r>
          </a:p>
        </p:txBody>
      </p:sp>
      <p:sp>
        <p:nvSpPr>
          <p:cNvPr id="53" name="step-03">
            <a:extLst xmlns:a="http://schemas.openxmlformats.org/drawingml/2006/main">
              <a:ext uri="{FF2B5EF4-FFF2-40B4-BE49-F238E27FC236}">
                <a16:creationId xmlns:a16="http://schemas.microsoft.com/office/drawing/2014/main" id="{9B81B13A-853B-4400-B14B-15D9854A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7448550"/>
            <a:ext cx="33909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step-n-03">
            <a:extLst xmlns:a="http://schemas.openxmlformats.org/drawingml/2006/main">
              <a:ext uri="{FF2B5EF4-FFF2-40B4-BE49-F238E27FC236}">
                <a16:creationId xmlns:a16="http://schemas.microsoft.com/office/drawing/2014/main" id="{3B96E8EF-2381-46C4-8F3B-EC725FCF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5819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400" b="1">
                <a:solidFill>
                  <a:srgbClr val="3199CE"/>
                </a:solidFill>
                <a:latin typeface="Sukhumvit Set"/>
                <a:ea typeface="Sukhumvit Set"/>
                <a:cs typeface="Sukhumvit Set"/>
              </a:defRPr>
            </a:pPr>
            <a:r>
              <a:rPr sz="2400" b="1">
                <a:solidFill>
                  <a:srgbClr val="3199CE"/>
                </a:solidFill>
                <a:latin typeface="Sukhumvit Set"/>
                <a:ea typeface="Sukhumvit Set"/>
                <a:cs typeface="Sukhumvit Set"/>
              </a:rPr>
              <a:t>03</a:t>
            </a:r>
          </a:p>
        </p:txBody>
      </p:sp>
      <p:sp>
        <p:nvSpPr>
          <p:cNvPr id="55" name="step-t-03">
            <a:extLst xmlns:a="http://schemas.openxmlformats.org/drawingml/2006/main">
              <a:ext uri="{FF2B5EF4-FFF2-40B4-BE49-F238E27FC236}">
                <a16:creationId xmlns:a16="http://schemas.microsoft.com/office/drawing/2014/main" id="{BBCC79D8-84E1-4828-A64F-E35C974A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9819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0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ลำแสงถูกบังขณะประตูปิด</a:t>
            </a:r>
          </a:p>
        </p:txBody>
      </p:sp>
      <p:sp>
        <p:nvSpPr>
          <p:cNvPr id="56" name="step-04">
            <a:extLst xmlns:a="http://schemas.openxmlformats.org/drawingml/2006/main">
              <a:ext uri="{FF2B5EF4-FFF2-40B4-BE49-F238E27FC236}">
                <a16:creationId xmlns:a16="http://schemas.microsoft.com/office/drawing/2014/main" id="{9C41BC59-6F32-454B-AC51-5821E7F4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7448550"/>
            <a:ext cx="33909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step-n-04">
            <a:extLst xmlns:a="http://schemas.openxmlformats.org/drawingml/2006/main">
              <a:ext uri="{FF2B5EF4-FFF2-40B4-BE49-F238E27FC236}">
                <a16:creationId xmlns:a16="http://schemas.microsoft.com/office/drawing/2014/main" id="{44AAE58C-4382-46DA-9057-A20A10A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75819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400" b="1">
                <a:solidFill>
                  <a:srgbClr val="3199CE"/>
                </a:solidFill>
                <a:latin typeface="Sukhumvit Set"/>
                <a:ea typeface="Sukhumvit Set"/>
                <a:cs typeface="Sukhumvit Set"/>
              </a:defRPr>
            </a:pPr>
            <a:r>
              <a:rPr sz="2400" b="1">
                <a:solidFill>
                  <a:srgbClr val="3199CE"/>
                </a:solidFill>
                <a:latin typeface="Sukhumvit Set"/>
                <a:ea typeface="Sukhumvit Set"/>
                <a:cs typeface="Sukhumvit Set"/>
              </a:rPr>
              <a:t>04</a:t>
            </a:r>
          </a:p>
        </p:txBody>
      </p:sp>
      <p:sp>
        <p:nvSpPr>
          <p:cNvPr id="58" name="step-t-04">
            <a:extLst xmlns:a="http://schemas.openxmlformats.org/drawingml/2006/main">
              <a:ext uri="{FF2B5EF4-FFF2-40B4-BE49-F238E27FC236}">
                <a16:creationId xmlns:a16="http://schemas.microsoft.com/office/drawing/2014/main" id="{32B95DD3-6007-438D-A877-2C985D94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79819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0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หยุดจ่ายแรงขับแล้วเปิดกลับ</a:t>
            </a:r>
          </a:p>
        </p:txBody>
      </p:sp>
    </p:spTree>
    <p:extLst>
      <p:ext uri="{BB962C8B-B14F-4D97-AF65-F5344CB8AC3E}">
        <p14:creationId xmlns:p14="http://schemas.microsoft.com/office/powerpoint/2010/main" val="1879249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6E8376B-64AC-4D16-8D04-D2B65978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84135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BED0E09-F074-4339-9DA0-C07D75CA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60194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E0DEA4B-3173-4F49-ADB8-6369A92C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398219" y="9481046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442BF6D-199C-45A4-AE3E-0F5DBE86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457570" y="9189949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D3E5842-45E0-43F1-95C5-2DC716E7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80594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991231-C0F9-48AD-9880-A742A6FD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56654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64B08A5-2F9F-4EF7-9A09-4ABDB90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441639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F9F1E6A-49F3-4D0B-8734-BB31B630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202234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E1E916E-EEFF-47C9-961B-BBB263D9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864466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C34301A-4B5D-44FF-B03F-61FAE7FE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625061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D865834-38CC-4822-86BA-BCEEBE73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941177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45E5AB2-FE23-4BC5-89F9-48A44385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701772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D960860-8AEF-4602-91A2-AAC1DC7C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31197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CC0F163-1B1C-484A-B9CF-A6BCFE56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55137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59C1A39-2232-402B-81EE-35BA3D47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5971" y="-377019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AEDC70-0D18-48EA-B5C2-0DAB1E8C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76620" y="-668116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0975600-AC0F-44B7-A313-CDE2A21D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276567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560B290-8A3E-46CB-AFEB-C49B96E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515972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67A6C01-9406-449C-8874-F0F8C123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591225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3A92FDD5-05FE-40AB-ACF9-A63D09A6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615166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74CE10F-8D22-47A1-901D-9312EA62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335085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B02CA8A-5D92-4AF6-9301-686192F9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574490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7CBB5D09-A856-449E-ADF2-239A81A2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411795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4C7C7B9-9F45-416A-A638-46433F9E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651200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E4DEB34D-577F-48B1-959E-1959CBD5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332174" y="8570212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0"/>
                </a:moveTo>
                <a:lnTo>
                  <a:pt x="0" y="0"/>
                </a:lnTo>
                <a:lnTo>
                  <a:pt x="0" y="2958662"/>
                </a:lnTo>
                <a:lnTo>
                  <a:pt x="7315200" y="2958662"/>
                </a:lnTo>
                <a:lnTo>
                  <a:pt x="73152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bf02050c2894ac5">
              <a:extLst>
                <a:ext uri="{96DAC541-7B7A-43D3-8B79-37D633B846F1}">
                  <asvg:svgBlip xmlns:asvg="http://schemas.microsoft.com/office/drawing/2016/SVG/main" r:embed="R6578e299a71b463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2F0EC6A7-E8A3-4349-A3BF-E4037A48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2359374" y="-1241874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2958662"/>
                </a:moveTo>
                <a:lnTo>
                  <a:pt x="7315200" y="2958662"/>
                </a:lnTo>
                <a:lnTo>
                  <a:pt x="7315200" y="0"/>
                </a:lnTo>
                <a:lnTo>
                  <a:pt x="0" y="0"/>
                </a:lnTo>
                <a:lnTo>
                  <a:pt x="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bf02050c2894ac5">
              <a:extLst>
                <a:ext uri="{96DAC541-7B7A-43D3-8B79-37D633B846F1}">
                  <asvg:svgBlip xmlns:asvg="http://schemas.microsoft.com/office/drawing/2016/SVG/main" r:embed="R6578e299a71b463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D4A5B11E-8D10-42AA-819E-AB021380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11899"/>
              </a:lnSpc>
              <a:spcBef>
                <a:spcPct val="0"/>
              </a:spcBef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 u="none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System Architecture and FSM</a:t>
            </a:r>
          </a:p>
        </p:txBody>
      </p:sp>
      <p:sp>
        <p:nvSpPr>
          <p:cNvPr id="43" name="START">
            <a:extLst xmlns:a="http://schemas.openxmlformats.org/drawingml/2006/main">
              <a:ext uri="{FF2B5EF4-FFF2-40B4-BE49-F238E27FC236}">
                <a16:creationId xmlns:a16="http://schemas.microsoft.com/office/drawing/2014/main" id="{2BCE811C-8A2F-427F-8DA7-EACE99C3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905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113E7A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113E7A"/>
                </a:solidFill>
                <a:latin typeface="Menlo"/>
                <a:ea typeface="Menlo"/>
                <a:cs typeface="Menlo"/>
              </a:rPr>
              <a:t>START</a:t>
            </a:r>
          </a:p>
        </p:txBody>
      </p:sp>
      <p:sp>
        <p:nvSpPr>
          <p:cNvPr id="44" name="FAULT">
            <a:extLst xmlns:a="http://schemas.openxmlformats.org/drawingml/2006/main">
              <a:ext uri="{FF2B5EF4-FFF2-40B4-BE49-F238E27FC236}">
                <a16:creationId xmlns:a16="http://schemas.microsoft.com/office/drawing/2014/main" id="{A7D22999-566B-4C6F-AD05-D31853B3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6000"/>
            <a:ext cx="1905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0D2648"/>
          </a:solidFill>
          <a:ln xmlns:a="http://schemas.openxmlformats.org/drawingml/2006/main" w="28575">
            <a:solidFill>
              <a:srgbClr val="0D26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FAULT</a:t>
            </a:r>
          </a:p>
        </p:txBody>
      </p:sp>
      <p:sp>
        <p:nvSpPr>
          <p:cNvPr id="45" name="CLOSED">
            <a:extLst xmlns:a="http://schemas.openxmlformats.org/drawingml/2006/main">
              <a:ext uri="{FF2B5EF4-FFF2-40B4-BE49-F238E27FC236}">
                <a16:creationId xmlns:a16="http://schemas.microsoft.com/office/drawing/2014/main" id="{51B35719-E9DD-4B16-8590-C1AF2CA4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1905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113E7A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113E7A"/>
                </a:solidFill>
                <a:latin typeface="Menlo"/>
                <a:ea typeface="Menlo"/>
                <a:cs typeface="Menlo"/>
              </a:rPr>
              <a:t>CLOSED</a:t>
            </a:r>
          </a:p>
        </p:txBody>
      </p:sp>
      <p:sp>
        <p:nvSpPr>
          <p:cNvPr id="46" name="OPENING">
            <a:extLst xmlns:a="http://schemas.openxmlformats.org/drawingml/2006/main">
              <a:ext uri="{FF2B5EF4-FFF2-40B4-BE49-F238E27FC236}">
                <a16:creationId xmlns:a16="http://schemas.microsoft.com/office/drawing/2014/main" id="{A925361C-74A5-4C06-92F3-0C3CB677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619500"/>
            <a:ext cx="1905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5DBD"/>
          </a:solidFill>
          <a:ln xmlns:a="http://schemas.openxmlformats.org/drawingml/2006/main" w="28575">
            <a:solidFill>
              <a:srgbClr val="175DBD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OPENING</a:t>
            </a:r>
          </a:p>
        </p:txBody>
      </p:sp>
      <p:sp>
        <p:nvSpPr>
          <p:cNvPr id="47" name="HOLD">
            <a:extLst xmlns:a="http://schemas.openxmlformats.org/drawingml/2006/main">
              <a:ext uri="{FF2B5EF4-FFF2-40B4-BE49-F238E27FC236}">
                <a16:creationId xmlns:a16="http://schemas.microsoft.com/office/drawing/2014/main" id="{8754BF67-7140-4A2C-AF54-BCCAAD5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05500"/>
            <a:ext cx="1905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113E7A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113E7A"/>
                </a:solidFill>
                <a:latin typeface="Menlo"/>
                <a:ea typeface="Menlo"/>
                <a:cs typeface="Menlo"/>
              </a:rPr>
              <a:t>HOLD</a:t>
            </a:r>
          </a:p>
        </p:txBody>
      </p:sp>
      <p:sp>
        <p:nvSpPr>
          <p:cNvPr id="48" name="CLOSING">
            <a:extLst xmlns:a="http://schemas.openxmlformats.org/drawingml/2006/main">
              <a:ext uri="{FF2B5EF4-FFF2-40B4-BE49-F238E27FC236}">
                <a16:creationId xmlns:a16="http://schemas.microsoft.com/office/drawing/2014/main" id="{73CB49F4-874D-4DE5-B7AC-A82BFF7F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05500"/>
            <a:ext cx="1905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5DBD"/>
          </a:solidFill>
          <a:ln xmlns:a="http://schemas.openxmlformats.org/drawingml/2006/main" w="28575">
            <a:solidFill>
              <a:srgbClr val="175DBD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CLOSING</a:t>
            </a:r>
          </a:p>
        </p:txBody>
      </p:sp>
      <p:sp>
        <p:nvSpPr>
          <p:cNvPr id="49" name="REV_WAIT">
            <a:extLst xmlns:a="http://schemas.openxmlformats.org/drawingml/2006/main">
              <a:ext uri="{FF2B5EF4-FFF2-40B4-BE49-F238E27FC236}">
                <a16:creationId xmlns:a16="http://schemas.microsoft.com/office/drawing/2014/main" id="{22F111A3-4799-493D-A17A-F8946C04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096250"/>
            <a:ext cx="1905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77E8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113E7A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113E7A"/>
                </a:solidFill>
                <a:latin typeface="Menlo"/>
                <a:ea typeface="Menlo"/>
                <a:cs typeface="Menlo"/>
              </a:rPr>
              <a:t>REV_WAIT</a:t>
            </a:r>
          </a:p>
        </p:txBody>
      </p:sp>
      <p:sp>
        <p:nvSpPr>
          <p:cNvPr id="50" name="REOPEN">
            <a:extLst xmlns:a="http://schemas.openxmlformats.org/drawingml/2006/main">
              <a:ext uri="{FF2B5EF4-FFF2-40B4-BE49-F238E27FC236}">
                <a16:creationId xmlns:a16="http://schemas.microsoft.com/office/drawing/2014/main" id="{5CB95D25-3731-4AB3-B1AB-45E52DCA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096250"/>
            <a:ext cx="1905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5DBD"/>
          </a:solidFill>
          <a:ln xmlns:a="http://schemas.openxmlformats.org/drawingml/2006/main" w="28575">
            <a:solidFill>
              <a:srgbClr val="175DBD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REOPEN</a:t>
            </a:r>
          </a:p>
        </p:txBody>
      </p:sp>
      <p:cxnSp>
        <p:nvCxnSpPr>
          <p:cNvPr id="152" name=""/>
          <p:cNvCxnSpPr>
            <a:stCxn xmlns:a="http://schemas.openxmlformats.org/drawingml/2006/main" id="43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2857500" y="39909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53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6191250" y="3990975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54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12382500" y="4362450"/>
            <a:ext cx="0" cy="1543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55" name=""/>
          <p:cNvCxnSpPr>
            <a:stCxn xmlns:a="http://schemas.openxmlformats.org/drawingml/2006/main" id="47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6191250" y="6276975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56" name=""/>
          <p:cNvCxnSpPr>
            <a:stCxn xmlns:a="http://schemas.openxmlformats.org/drawingml/2006/main" id="48" idx="0"/>
            <a:endCxn xmlns:a="http://schemas.openxmlformats.org/drawingml/2006/main" id="45" idx="2"/>
          </p:cNvCxnSpPr>
          <p:nvPr/>
        </p:nvCxnSpPr>
        <p:spPr>
          <a:xfrm xmlns:a="http://schemas.openxmlformats.org/drawingml/2006/main" flipV="1">
            <a:off x="5238750" y="4362450"/>
            <a:ext cx="0" cy="1543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57" name=""/>
          <p:cNvCxnSpPr>
            <a:stCxn xmlns:a="http://schemas.openxmlformats.org/drawingml/2006/main" id="48" idx="2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5238750" y="6648450"/>
            <a:ext cx="857250" cy="18192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58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001000" y="84677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59" name=""/>
          <p:cNvCxnSpPr>
            <a:stCxn xmlns:a="http://schemas.openxmlformats.org/drawingml/2006/main" id="50" idx="3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12001500" y="6648450"/>
            <a:ext cx="381000" cy="181927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60" name=""/>
          <p:cNvCxnSpPr>
            <a:stCxn xmlns:a="http://schemas.openxmlformats.org/drawingml/2006/main" id="44" idx="0"/>
            <a:endCxn xmlns:a="http://schemas.openxmlformats.org/drawingml/2006/main" id="43" idx="2"/>
          </p:cNvCxnSpPr>
          <p:nvPr/>
        </p:nvCxnSpPr>
        <p:spPr>
          <a:xfrm xmlns:a="http://schemas.openxmlformats.org/drawingml/2006/main" flipV="1">
            <a:off x="266700" y="4362450"/>
            <a:ext cx="1638300" cy="173355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61" name=""/>
          <p:cNvCxnSpPr>
            <a:stCxn xmlns:a="http://schemas.openxmlformats.org/drawingml/2006/main" id="48" idx="1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2857500" y="6276975"/>
            <a:ext cx="142875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0D2648"/>
            </a:solidFill>
            <a:prstDash val="dash"/>
            <a:tailEnd type="triangle" w="med" len="med"/>
          </a:ln>
        </p:spPr>
      </p:cxnSp>
      <p:sp>
        <p:nvSpPr>
          <p:cNvPr id="61" name="l1">
            <a:extLst xmlns:a="http://schemas.openxmlformats.org/drawingml/2006/main">
              <a:ext uri="{FF2B5EF4-FFF2-40B4-BE49-F238E27FC236}">
                <a16:creationId xmlns:a16="http://schemas.microsoft.com/office/drawing/2014/main" id="{85174987-3D6C-4056-A161-F8378587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670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LC ต่อเนื่อง 20 ms</a:t>
            </a:r>
          </a:p>
        </p:txBody>
      </p:sp>
      <p:sp>
        <p:nvSpPr>
          <p:cNvPr id="62" name="l2">
            <a:extLst xmlns:a="http://schemas.openxmlformats.org/drawingml/2006/main">
              <a:ext uri="{FF2B5EF4-FFF2-40B4-BE49-F238E27FC236}">
                <a16:creationId xmlns:a16="http://schemas.microsoft.com/office/drawing/2014/main" id="{CC8E9E0C-19D7-4F36-8B08-C850B7D2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กดปุ่มต่อเนื่อง 20 ms และหยุดครบ 200 ms</a:t>
            </a:r>
          </a:p>
        </p:txBody>
      </p:sp>
      <p:sp>
        <p:nvSpPr>
          <p:cNvPr id="63" name="l3">
            <a:extLst xmlns:a="http://schemas.openxmlformats.org/drawingml/2006/main">
              <a:ext uri="{FF2B5EF4-FFF2-40B4-BE49-F238E27FC236}">
                <a16:creationId xmlns:a16="http://schemas.microsoft.com/office/drawing/2014/main" id="{40FABCBE-7DF7-4B5E-A065-33319A10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4767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ถึงลิมิตเปิด LO</a:t>
            </a:r>
          </a:p>
        </p:txBody>
      </p:sp>
      <p:sp>
        <p:nvSpPr>
          <p:cNvPr id="64" name="l4">
            <a:extLst xmlns:a="http://schemas.openxmlformats.org/drawingml/2006/main">
              <a:ext uri="{FF2B5EF4-FFF2-40B4-BE49-F238E27FC236}">
                <a16:creationId xmlns:a16="http://schemas.microsoft.com/office/drawing/2014/main" id="{3F5A8782-EAE6-4F25-B6FE-9B51DA55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435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ทางผ่านว่างต่อเนื่อง 3 s</a:t>
            </a:r>
          </a:p>
        </p:txBody>
      </p:sp>
      <p:sp>
        <p:nvSpPr>
          <p:cNvPr id="65" name="l5">
            <a:extLst xmlns:a="http://schemas.openxmlformats.org/drawingml/2006/main">
              <a:ext uri="{FF2B5EF4-FFF2-40B4-BE49-F238E27FC236}">
                <a16:creationId xmlns:a16="http://schemas.microsoft.com/office/drawing/2014/main" id="{D337C426-5F47-42CA-BAF6-4B95C9B5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625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ถึงลิมิตปิด LC</a:t>
            </a:r>
          </a:p>
        </p:txBody>
      </p:sp>
      <p:sp>
        <p:nvSpPr>
          <p:cNvPr id="66" name="l6">
            <a:extLst xmlns:a="http://schemas.openxmlformats.org/drawingml/2006/main">
              <a:ext uri="{FF2B5EF4-FFF2-40B4-BE49-F238E27FC236}">
                <a16:creationId xmlns:a16="http://schemas.microsoft.com/office/drawing/2014/main" id="{8307115F-8D91-4BA7-AC95-ACF50DBA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2580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ลำแสงถูกบังหรือมีการกดปุ่ม</a:t>
            </a:r>
          </a:p>
        </p:txBody>
      </p:sp>
      <p:sp>
        <p:nvSpPr>
          <p:cNvPr id="67" name="l7">
            <a:extLst xmlns:a="http://schemas.openxmlformats.org/drawingml/2006/main">
              <a:ext uri="{FF2B5EF4-FFF2-40B4-BE49-F238E27FC236}">
                <a16:creationId xmlns:a16="http://schemas.microsoft.com/office/drawing/2014/main" id="{2868E13D-EF39-4EAA-90CA-D7210F53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620000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หยุดครบ 200 ms</a:t>
            </a:r>
          </a:p>
        </p:txBody>
      </p:sp>
      <p:sp>
        <p:nvSpPr>
          <p:cNvPr id="68" name="l8">
            <a:extLst xmlns:a="http://schemas.openxmlformats.org/drawingml/2006/main">
              <a:ext uri="{FF2B5EF4-FFF2-40B4-BE49-F238E27FC236}">
                <a16:creationId xmlns:a16="http://schemas.microsoft.com/office/drawing/2014/main" id="{358FB9FF-EC41-4B27-8503-07C203BA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5247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ถึงลิมิตเปิด LO</a:t>
            </a:r>
          </a:p>
        </p:txBody>
      </p:sp>
      <p:sp>
        <p:nvSpPr>
          <p:cNvPr id="69" name="l9">
            <a:extLst xmlns:a="http://schemas.openxmlformats.org/drawingml/2006/main">
              <a:ext uri="{FF2B5EF4-FFF2-40B4-BE49-F238E27FC236}">
                <a16:creationId xmlns:a16="http://schemas.microsoft.com/office/drawing/2014/main" id="{197359CD-C9DC-48F0-AD15-BF39AF24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625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รีเซ็ตที่ผ่านเงื่อนไขปลอดภัย</a:t>
            </a:r>
          </a:p>
        </p:txBody>
      </p:sp>
      <p:sp>
        <p:nvSpPr>
          <p:cNvPr id="70" name="fault-note">
            <a:extLst xmlns:a="http://schemas.openxmlformats.org/drawingml/2006/main">
              <a:ext uri="{FF2B5EF4-FFF2-40B4-BE49-F238E27FC236}">
                <a16:creationId xmlns:a16="http://schemas.microsoft.com/office/drawing/2014/main" id="{6FDB44F6-039F-4F72-ADB5-31A5B2EC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247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5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จากทุกสถานะเมื่อกดหยุดฉุกเฉิน เดินทางเกิน 5 s หรือหลุดจากลิมิตที่ควรอยู่</a:t>
            </a:r>
          </a:p>
        </p:txBody>
      </p:sp>
      <p:sp>
        <p:nvSpPr>
          <p:cNvPr id="71" name="legend">
            <a:extLst xmlns:a="http://schemas.openxmlformats.org/drawingml/2006/main">
              <a:ext uri="{FF2B5EF4-FFF2-40B4-BE49-F238E27FC236}">
                <a16:creationId xmlns:a16="http://schemas.microsoft.com/office/drawing/2014/main" id="{1924A468-6BD6-4187-AFDD-AD1EE95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067800"/>
            <a:ext cx="1638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LO และ LC คือลิมิตเปิดและลิมิตปิด ระดับ 0 เมื่อถึงตำแหน่ง ลำแสงให้ระดับ 1 เมื่อถูกบังหรือไฟเซนเซอร์หาย ปุ่มให้ระดับ 0 เมื่อกด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ลำดับตรวจสอบขณะปิด คือ หยุดฉุกเฉิน ก่อนสิ่งกีดขวางและการกดปุ่ม ก่อนการถึงลิมิตปิด ส่วนลิมิตขัดแย้งตรวจตอนเริ่มระบบ และ START ไปสถานะ HOLD เมื่อบูตที่ลิมิตเปิด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กล่องสีน้ำเงินคือสถานะที่จ่ายแรงขับมอเตอร์ สีฟ้าคือรอก่อนกลับทิศ สีขาวคือหยุดนิ่ง</a:t>
            </a:r>
          </a:p>
        </p:txBody>
      </p:sp>
    </p:spTree>
    <p:extLst>
      <p:ext uri="{BB962C8B-B14F-4D97-AF65-F5344CB8AC3E}">
        <p14:creationId xmlns:p14="http://schemas.microsoft.com/office/powerpoint/2010/main" val="13803165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5F706A8-E76D-4A53-93DB-926F9E87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199551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7B5D995-6B25-43EF-B144-E329E066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2180679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02BA788-80B6-488B-8BE1-AD854E0B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886554" y="-7141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F5CC06C-A097-46B5-987A-3BB04B2B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85577" y="-296565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C094096-8CE5-4A51-A83C-029DE3D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331096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7EC014A-581F-4EAE-B727-9D9670E8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51626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724780C-1C58-41C9-929C-697CBD15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61397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ECEF652-9317-4CC7-8A06-992793E9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799136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4950317-9A9E-43A0-A8D6-7D4989E8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3859422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AD17124-2FB0-4AA1-8909-AFA0CCA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4044588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003C55CB-535A-4F16-BC50-2C0D4518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4848538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3EAAE3-9489-4FB9-A030-04A4FD3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5033704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C43BF61-3862-4C42-A65B-B083B72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282451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2239C0D-7487-494B-8586-4220E579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097285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B897A8F-50EF-4432-B173-73663A1A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92664" y="944345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94DA84F-39F2-44A4-A185-D6C70CA5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3641" y="9218313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E9F1906-B56A-481C-9919-CD121B3B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61803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673EEFA-CBCE-4CD9-A9D4-032FD20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432867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828BB53-BC16-48BC-AA0C-AD76E84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900908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22A2B1F-2E5B-4F5B-9A33-79D5C619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71574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99DF304-4DB4-4F59-A00B-6915FC17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814636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E989E11-AB49-43FA-A6C7-6B7B0426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7961194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D82B836-75A5-470F-8D08-77A7561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9135475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4F22BA6A-0C54-4C1C-B67A-A75E2DDE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8950309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BEA33402-7247-40E0-8B8C-E730C0A9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825623" y="8364789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0"/>
                </a:moveTo>
                <a:lnTo>
                  <a:pt x="7315200" y="0"/>
                </a:lnTo>
                <a:lnTo>
                  <a:pt x="7315200" y="2958662"/>
                </a:lnTo>
                <a:lnTo>
                  <a:pt x="0" y="29586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a9893320a31402c">
              <a:extLst>
                <a:ext uri="{96DAC541-7B7A-43D3-8B79-37D633B846F1}">
                  <asvg:svgBlip xmlns:asvg="http://schemas.microsoft.com/office/drawing/2016/SVG/main" r:embed="Rbf95c8f9386648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53728231-B203-452F-87B1-D48706F0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798423" y="-1036451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2958662"/>
                </a:moveTo>
                <a:lnTo>
                  <a:pt x="0" y="2958662"/>
                </a:lnTo>
                <a:lnTo>
                  <a:pt x="0" y="0"/>
                </a:lnTo>
                <a:lnTo>
                  <a:pt x="7315200" y="0"/>
                </a:lnTo>
                <a:lnTo>
                  <a:pt x="731520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a9893320a31402c">
              <a:extLst>
                <a:ext uri="{96DAC541-7B7A-43D3-8B79-37D633B846F1}">
                  <asvg:svgBlip xmlns:asvg="http://schemas.microsoft.com/office/drawing/2016/SVG/main" r:embed="Rbf95c8f9386648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6AF3E5C3-DB15-43BE-94E3-23478471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899"/>
              </a:lnSpc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State Description</a:t>
            </a:r>
          </a:p>
        </p:txBody>
      </p:sp>
      <p:graphicFrame>
        <p:nvGraphicFramePr>
          <p:cNvPr id="73" name=""/>
          <p:cNvGraphicFramePr/>
          <p:nvPr/>
        </p:nvGraphicFramePr>
        <p:xfrm>
          <a:off xmlns:a="http://schemas.openxmlformats.org/drawingml/2006/main" x="1047750" y="2857500"/>
          <a:ext xmlns:a="http://schemas.openxmlformats.org/drawingml/2006/main" cx="16192500" cy="584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428750"/>
                <a:gridCol w="1428750"/>
                <a:gridCol w="1285875"/>
                <a:gridCol w="1285875"/>
                <a:gridCol w="1714500"/>
                <a:gridCol w="1714500"/>
                <a:gridCol w="2190750"/>
                <a:gridCol w="1905000"/>
              </a:tblGrid>
              <a:tr h="649817"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สถานะ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P1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IN1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IN2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RUN_N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RED_N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GREEN_N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BUZZ_N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</a:tr>
              <a:tr h="649817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START ตรวจตำแหน่ง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F8H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ECH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9817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CLOSED ปิดสนิท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F9H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FCH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649817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OPENING กำลังเปิด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FAH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D9H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9817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HOLD เปิดค้าง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FBH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DCH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649817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CLOSING กำลังปิด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FCH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6AH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9817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REV_WAIT รอกลับทิศ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FDH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6CH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649817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REOPEN เปิดกลับ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FEH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69H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9817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FAULT ขัดข้อง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FFH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6CH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</a:tbl>
          </a:graphicData>
        </a:graphic>
      </p:graphicFrame>
      <p:sp>
        <p:nvSpPr>
          <p:cNvPr id="44" name="table-note">
            <a:extLst xmlns:a="http://schemas.openxmlformats.org/drawingml/2006/main">
              <a:ext uri="{FF2B5EF4-FFF2-40B4-BE49-F238E27FC236}">
                <a16:creationId xmlns:a16="http://schemas.microsoft.com/office/drawing/2014/main" id="{3249B3C0-5FAA-4CA6-B376-CB42D47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58250"/>
            <a:ext cx="16192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ค่าในตารางคือระดับตรรกะที่ขาพอร์ต ไม่ใช่สถานะเปิดปิดของอุปกรณ์ สัญญาณที่ลงท้ายด้วย _N ทำงานที่ระดับ 0 และ P1.3 กับ P1.6 คงระดับ 1 เสมอ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อินพุตอ่านจาก P2 ซึ่งเขียนค่า latch FFH ครั้งเดียว ประกอบด้วย .0 ปุ่มภายใน .1 ปุ่มภายนอก .2 ลำแสงล่าง .3 ลิมิตเปิด .4 ลิมิตปิด .5 ลำแสงบน .6 รีเซ็ต .7 โซ่หยุดฉุกเฉิน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RUN_N ระดับ 1 ปิดการทำงานของ L293D ผ่านวงจรกลับเฟสภายนอก จึงหยุดจ่ายแรงขับทั้งขณะรีเซ็ตไมโครคอนโทรลเลอร์และในสถานะขัดข้อง</a:t>
            </a:r>
          </a:p>
        </p:txBody>
      </p:sp>
    </p:spTree>
    <p:extLst>
      <p:ext uri="{BB962C8B-B14F-4D97-AF65-F5344CB8AC3E}">
        <p14:creationId xmlns:p14="http://schemas.microsoft.com/office/powerpoint/2010/main" val="1044865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6E8376B-64AC-4D16-8D04-D2B65978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84135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BED0E09-F074-4339-9DA0-C07D75CA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60194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E0DEA4B-3173-4F49-ADB8-6369A92C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398219" y="9481046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442BF6D-199C-45A4-AE3E-0F5DBE86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457570" y="9189949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D3E5842-45E0-43F1-95C5-2DC716E7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80594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991231-C0F9-48AD-9880-A742A6FD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56654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64B08A5-2F9F-4EF7-9A09-4ABDB90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441639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F9F1E6A-49F3-4D0B-8734-BB31B630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202234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E1E916E-EEFF-47C9-961B-BBB263D9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864466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C34301A-4B5D-44FF-B03F-61FAE7FE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625061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D865834-38CC-4822-86BA-BCEEBE73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941177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45E5AB2-FE23-4BC5-89F9-48A44385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701772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D960860-8AEF-4602-91A2-AAC1DC7C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31197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CC0F163-1B1C-484A-B9CF-A6BCFE56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55137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59C1A39-2232-402B-81EE-35BA3D47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5971" y="-377019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AEDC70-0D18-48EA-B5C2-0DAB1E8C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76620" y="-668116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0975600-AC0F-44B7-A313-CDE2A21D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276567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560B290-8A3E-46CB-AFEB-C49B96E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515972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67A6C01-9406-449C-8874-F0F8C123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591225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3A92FDD5-05FE-40AB-ACF9-A63D09A6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615166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74CE10F-8D22-47A1-901D-9312EA62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335085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B02CA8A-5D92-4AF6-9301-686192F9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574490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7CBB5D09-A856-449E-ADF2-239A81A2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411795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4C7C7B9-9F45-416A-A638-46433F9E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651200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E4DEB34D-577F-48B1-959E-1959CBD5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332174" y="8570212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0"/>
                </a:moveTo>
                <a:lnTo>
                  <a:pt x="0" y="0"/>
                </a:lnTo>
                <a:lnTo>
                  <a:pt x="0" y="2958662"/>
                </a:lnTo>
                <a:lnTo>
                  <a:pt x="7315200" y="2958662"/>
                </a:lnTo>
                <a:lnTo>
                  <a:pt x="73152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ffd111a9d648e7">
              <a:extLst>
                <a:ext uri="{96DAC541-7B7A-43D3-8B79-37D633B846F1}">
                  <asvg:svgBlip xmlns:asvg="http://schemas.microsoft.com/office/drawing/2016/SVG/main" r:embed="Re8afaf5fea924e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2F0EC6A7-E8A3-4349-A3BF-E4037A48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2359374" y="-1241874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2958662"/>
                </a:moveTo>
                <a:lnTo>
                  <a:pt x="7315200" y="2958662"/>
                </a:lnTo>
                <a:lnTo>
                  <a:pt x="7315200" y="0"/>
                </a:lnTo>
                <a:lnTo>
                  <a:pt x="0" y="0"/>
                </a:lnTo>
                <a:lnTo>
                  <a:pt x="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ffd111a9d648e7">
              <a:extLst>
                <a:ext uri="{96DAC541-7B7A-43D3-8B79-37D633B846F1}">
                  <asvg:svgBlip xmlns:asvg="http://schemas.microsoft.com/office/drawing/2016/SVG/main" r:embed="Re8afaf5fea924e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D4A5B11E-8D10-42AA-819E-AB021380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11899"/>
              </a:lnSpc>
              <a:spcBef>
                <a:spcPct val="0"/>
              </a:spcBef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 u="none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Hardware Interface</a:t>
            </a:r>
          </a:p>
        </p:txBody>
      </p:sp>
      <p:sp>
        <p:nvSpPr>
          <p:cNvPr id="43" name="mcu">
            <a:extLst xmlns:a="http://schemas.openxmlformats.org/drawingml/2006/main">
              <a:ext uri="{FF2B5EF4-FFF2-40B4-BE49-F238E27FC236}">
                <a16:creationId xmlns:a16="http://schemas.microsoft.com/office/drawing/2014/main" id="{6DBA15BF-D5DA-47F3-A537-889F01E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143250" cy="2286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38100">
            <a:solidFill>
              <a:srgbClr val="113E7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625" b="1">
                <a:solidFill>
                  <a:srgbClr val="113E7A"/>
                </a:solidFill>
                <a:latin typeface="Menlo"/>
                <a:ea typeface="Menlo"/>
                <a:cs typeface="Menlo"/>
              </a:defRPr>
            </a:pPr>
            <a:r>
              <a:rPr sz="2625" b="1">
                <a:solidFill>
                  <a:srgbClr val="113E7A"/>
                </a:solidFill>
                <a:latin typeface="Menlo"/>
                <a:ea typeface="Menlo"/>
                <a:cs typeface="Menlo"/>
              </a:rPr>
              <a:t>8051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2625" b="1">
                <a:solidFill>
                  <a:srgbClr val="113E7A"/>
                </a:solidFill>
                <a:latin typeface="Menlo"/>
                <a:ea typeface="Menlo"/>
                <a:cs typeface="Menlo"/>
              </a:defRPr>
            </a:pPr>
            <a:r>
              <a:rPr sz="2625" b="1">
                <a:solidFill>
                  <a:srgbClr val="113E7A"/>
                </a:solidFill>
                <a:latin typeface="Menlo"/>
                <a:ea typeface="Menlo"/>
                <a:cs typeface="Menlo"/>
              </a:rPr>
              <a:t>12.000 MHz</a:t>
            </a:r>
          </a:p>
        </p:txBody>
      </p:sp>
      <p:sp>
        <p:nvSpPr>
          <p:cNvPr id="44" name="in-0">
            <a:extLst xmlns:a="http://schemas.openxmlformats.org/drawingml/2006/main">
              <a:ext uri="{FF2B5EF4-FFF2-40B4-BE49-F238E27FC236}">
                <a16:creationId xmlns:a16="http://schemas.microsoft.com/office/drawing/2014/main" id="{AEAC7E55-50FA-46E8-9B62-81A57041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1524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ปุ่มเปิดภายใน P2.0 และภายนอก P2.1</a:t>
            </a:r>
          </a:p>
        </p:txBody>
      </p:sp>
      <p:sp>
        <p:nvSpPr>
          <p:cNvPr id="45" name="in-1">
            <a:extLst xmlns:a="http://schemas.openxmlformats.org/drawingml/2006/main">
              <a:ext uri="{FF2B5EF4-FFF2-40B4-BE49-F238E27FC236}">
                <a16:creationId xmlns:a16="http://schemas.microsoft.com/office/drawing/2014/main" id="{DA14D5B8-E429-435E-B33D-22775827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1524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ลิมิตเปิด LO P2.3 และลิมิตปิด LC P2.4</a:t>
            </a:r>
          </a:p>
        </p:txBody>
      </p:sp>
      <p:sp>
        <p:nvSpPr>
          <p:cNvPr id="46" name="in-2">
            <a:extLst xmlns:a="http://schemas.openxmlformats.org/drawingml/2006/main">
              <a:ext uri="{FF2B5EF4-FFF2-40B4-BE49-F238E27FC236}">
                <a16:creationId xmlns:a16="http://schemas.microsoft.com/office/drawing/2014/main" id="{19EDF1E7-5514-44F3-969C-DA6B4595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1524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ลำแสงล่าง P2.2 และลำแสงบน P2.5</a:t>
            </a:r>
          </a:p>
        </p:txBody>
      </p:sp>
      <p:sp>
        <p:nvSpPr>
          <p:cNvPr id="47" name="in-3">
            <a:extLst xmlns:a="http://schemas.openxmlformats.org/drawingml/2006/main">
              <a:ext uri="{FF2B5EF4-FFF2-40B4-BE49-F238E27FC236}">
                <a16:creationId xmlns:a16="http://schemas.microsoft.com/office/drawing/2014/main" id="{5B7BCC5D-3B98-45A8-A351-D4F78D0D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8640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152400" tIns="57150" rIns="1143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หยุดฉุกเฉิน P2.7 และรีเซ็ต P2.6</a:t>
            </a:r>
          </a:p>
        </p:txBody>
      </p:sp>
      <p:cxnSp>
        <p:nvCxnSpPr>
          <p:cNvPr id="144" name=""/>
          <p:cNvCxnSpPr>
            <a:stCxn xmlns:a="http://schemas.openxmlformats.org/drawingml/2006/main" id="44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5715000" y="3219450"/>
            <a:ext cx="1333500" cy="1066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45" name=""/>
          <p:cNvCxnSpPr>
            <a:stCxn xmlns:a="http://schemas.openxmlformats.org/drawingml/2006/main" id="45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5715000" y="4095750"/>
            <a:ext cx="133350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46" name=""/>
          <p:cNvCxnSpPr>
            <a:stCxn xmlns:a="http://schemas.openxmlformats.org/drawingml/2006/main" id="46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5715000" y="4286250"/>
            <a:ext cx="133350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47" name=""/>
          <p:cNvCxnSpPr>
            <a:stCxn xmlns:a="http://schemas.openxmlformats.org/drawingml/2006/main" id="47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5715000" y="4286250"/>
            <a:ext cx="1333500" cy="1562100"/>
          </a:xfrm>
          <a:prstGeom xmlns:a="http://schemas.openxmlformats.org/drawingml/2006/main" prst="bentConnector3">
            <a:avLst>
              <a:gd name="adj1" fmla="val 17143"/>
            </a:avLst>
          </a:prstGeom>
          <a:ln xmlns:a="http://schemas.openxmlformats.org/drawingml/2006/main" w="19050">
            <a:solidFill>
              <a:srgbClr val="3199CE"/>
            </a:solidFill>
            <a:prstDash val="solid"/>
            <a:tailEnd type="triangle" w="med" len="med"/>
          </a:ln>
        </p:spPr>
      </p:cxnSp>
      <p:sp>
        <p:nvSpPr>
          <p:cNvPr id="52" name="hct">
            <a:extLst xmlns:a="http://schemas.openxmlformats.org/drawingml/2006/main">
              <a:ext uri="{FF2B5EF4-FFF2-40B4-BE49-F238E27FC236}">
                <a16:creationId xmlns:a16="http://schemas.microsoft.com/office/drawing/2014/main" id="{50020457-3503-4428-B977-00D69E48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0"/>
            <a:ext cx="266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SN74HCT14</a:t>
            </a:r>
          </a:p>
        </p:txBody>
      </p:sp>
      <p:sp>
        <p:nvSpPr>
          <p:cNvPr id="53" name="drv">
            <a:extLst xmlns:a="http://schemas.openxmlformats.org/drawingml/2006/main">
              <a:ext uri="{FF2B5EF4-FFF2-40B4-BE49-F238E27FC236}">
                <a16:creationId xmlns:a16="http://schemas.microsoft.com/office/drawing/2014/main" id="{F1A7D1DE-2A16-4F24-B9EF-748A5913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28650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0D2648"/>
                </a:solidFill>
                <a:latin typeface="Menlo"/>
                <a:ea typeface="Menlo"/>
                <a:cs typeface="Menlo"/>
              </a:rPr>
              <a:t>L293D</a:t>
            </a:r>
          </a:p>
        </p:txBody>
      </p:sp>
      <p:sp>
        <p:nvSpPr>
          <p:cNvPr id="54" name="mot">
            <a:extLst xmlns:a="http://schemas.openxmlformats.org/drawingml/2006/main">
              <a:ext uri="{FF2B5EF4-FFF2-40B4-BE49-F238E27FC236}">
                <a16:creationId xmlns:a16="http://schemas.microsoft.com/office/drawing/2014/main" id="{603A1D4D-D7CF-4D02-8250-BD042DA2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619125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มอเตอร์เกียร์ 12 V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และตัวต้านทาน 27 Ω</a:t>
            </a:r>
          </a:p>
        </p:txBody>
      </p:sp>
      <p:sp>
        <p:nvSpPr>
          <p:cNvPr id="55" name="ind">
            <a:extLst xmlns:a="http://schemas.openxmlformats.org/drawingml/2006/main">
              <a:ext uri="{FF2B5EF4-FFF2-40B4-BE49-F238E27FC236}">
                <a16:creationId xmlns:a16="http://schemas.microsoft.com/office/drawing/2014/main" id="{75932918-BDE0-4D2B-BD25-D6E07E2A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85750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LED แดง P1.4 เขียว P1.5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บัซเซอร์ P1.7</a:t>
            </a:r>
          </a:p>
        </p:txBody>
      </p:sp>
      <p:cxnSp>
        <p:nvCxnSpPr>
          <p:cNvPr id="152" name=""/>
          <p:cNvCxnSpPr>
            <a:stCxn xmlns:a="http://schemas.openxmlformats.org/drawingml/2006/main" id="43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8620125" y="54292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53" name=""/>
          <p:cNvCxnSpPr>
            <a:stCxn xmlns:a="http://schemas.openxmlformats.org/drawingml/2006/main" id="43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0191750" y="4286250"/>
            <a:ext cx="1047750" cy="457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54" name=""/>
          <p:cNvCxnSpPr>
            <a:stCxn xmlns:a="http://schemas.openxmlformats.org/drawingml/2006/main" id="52" idx="2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10191750" y="5200650"/>
            <a:ext cx="2381250" cy="1609725"/>
          </a:xfrm>
          <a:prstGeom xmlns:a="http://schemas.openxmlformats.org/drawingml/2006/main" prst="bentConnector5">
            <a:avLst>
              <a:gd name="adj1" fmla="val 0"/>
              <a:gd name="adj2" fmla="val 14201"/>
              <a:gd name="adj3" fmla="val 90400"/>
            </a:avLst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55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10191750" y="6457950"/>
            <a:ext cx="4286250" cy="35242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56" name=""/>
          <p:cNvCxnSpPr>
            <a:stCxn xmlns:a="http://schemas.openxmlformats.org/drawingml/2006/main" id="43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 flipV="1">
            <a:off x="10191750" y="3476625"/>
            <a:ext cx="4286250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99CE"/>
            </a:solidFill>
            <a:prstDash val="solid"/>
            <a:tailEnd type="triangle" w="med" len="med"/>
          </a:ln>
        </p:spPr>
      </p:cxnSp>
      <p:sp>
        <p:nvSpPr>
          <p:cNvPr id="61" name="h1">
            <a:extLst xmlns:a="http://schemas.openxmlformats.org/drawingml/2006/main">
              <a:ext uri="{FF2B5EF4-FFF2-40B4-BE49-F238E27FC236}">
                <a16:creationId xmlns:a16="http://schemas.microsoft.com/office/drawing/2014/main" id="{7C895F9D-B166-4D85-BFC3-183419E7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76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IN1 P1.0 และ IN2 P1.1</a:t>
            </a:r>
          </a:p>
        </p:txBody>
      </p:sp>
      <p:sp>
        <p:nvSpPr>
          <p:cNvPr id="62" name="h2">
            <a:extLst xmlns:a="http://schemas.openxmlformats.org/drawingml/2006/main">
              <a:ext uri="{FF2B5EF4-FFF2-40B4-BE49-F238E27FC236}">
                <a16:creationId xmlns:a16="http://schemas.microsoft.com/office/drawing/2014/main" id="{432F7E8A-1249-490D-BBAC-7346DE20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1000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RUN_N P1.2</a:t>
            </a:r>
          </a:p>
        </p:txBody>
      </p:sp>
      <p:sp>
        <p:nvSpPr>
          <p:cNvPr id="63" name="h3">
            <a:extLst xmlns:a="http://schemas.openxmlformats.org/drawingml/2006/main">
              <a:ext uri="{FF2B5EF4-FFF2-40B4-BE49-F238E27FC236}">
                <a16:creationId xmlns:a16="http://schemas.microsoft.com/office/drawing/2014/main" id="{233B6364-2491-4F2E-B8F2-7E7E089C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76900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EN ของ L293D</a:t>
            </a:r>
          </a:p>
        </p:txBody>
      </p:sp>
      <p:sp>
        <p:nvSpPr>
          <p:cNvPr id="64" name="h4">
            <a:extLst xmlns:a="http://schemas.openxmlformats.org/drawingml/2006/main">
              <a:ext uri="{FF2B5EF4-FFF2-40B4-BE49-F238E27FC236}">
                <a16:creationId xmlns:a16="http://schemas.microsoft.com/office/drawing/2014/main" id="{905DE834-49AC-4C2E-B1A8-B315A710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722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1575" b="0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กระแสจำกัด 0.50 A</a:t>
            </a:r>
          </a:p>
        </p:txBody>
      </p:sp>
      <p:graphicFrame>
        <p:nvGraphicFramePr>
          <p:cNvPr id="161" name=""/>
          <p:cNvGraphicFramePr/>
          <p:nvPr/>
        </p:nvGraphicFramePr>
        <p:xfrm>
          <a:off xmlns:a="http://schemas.openxmlformats.org/drawingml/2006/main" x="1047750" y="7715250"/>
          <a:ext xmlns:a="http://schemas.openxmlformats.org/drawingml/2006/main" cx="161925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5905500"/>
                <a:gridCol w="6667500"/>
              </a:tblGrid>
              <a:tr h="476250"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อุปกรณ์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รุ่นอ้างอิง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ประเด็นที่ต้องตรวจก่อนใช้งาน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</a:tr>
              <a:tr h="47625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ไมโครคอนโทรลเลอร์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8051 แบบ 12 clock, คริสตัล 12.000 MHz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เขียน P2 เป็น FFH ก่อนอ่านอินพุตทุกครั้ง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ไดรเวอร์มอเตอร์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L293D จ่ายได้ 600 mA ต่อช่อง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EN มาจากการกลับเฟส RUN_N ด้วย SN74HCT14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47625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มอเตอร์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เกียร์ DC 12 V กับตัวต้านทาน 27 Ω 10 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วัดกระแสจริงให้ไม่เกิน 0.50 A ก่อนต่อบานประตู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เซนเซอร์ลำแสง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E3Z-T61 แบบ NPN ร่วมกับ VO617A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แปลงระดับ 12 V เป็น 5 V ห้ามต่อเข้าขาโดยตรง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316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5F706A8-E76D-4A53-93DB-926F9E87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199551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7B5D995-6B25-43EF-B144-E329E066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2180679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02BA788-80B6-488B-8BE1-AD854E0B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886554" y="-7141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F5CC06C-A097-46B5-987A-3BB04B2B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85577" y="-296565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C094096-8CE5-4A51-A83C-029DE3D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331096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7EC014A-581F-4EAE-B727-9D9670E8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51626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724780C-1C58-41C9-929C-697CBD15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61397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ECEF652-9317-4CC7-8A06-992793E9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799136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4950317-9A9E-43A0-A8D6-7D4989E8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3859422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AD17124-2FB0-4AA1-8909-AFA0CCA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4044588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003C55CB-535A-4F16-BC50-2C0D4518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4848538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3EAAE3-9489-4FB9-A030-04A4FD3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5033704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C43BF61-3862-4C42-A65B-B083B72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282451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2239C0D-7487-494B-8586-4220E579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097285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B897A8F-50EF-4432-B173-73663A1A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92664" y="944345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94DA84F-39F2-44A4-A185-D6C70CA5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3641" y="9218313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E9F1906-B56A-481C-9919-CD121B3B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61803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673EEFA-CBCE-4CD9-A9D4-032FD20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432867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828BB53-BC16-48BC-AA0C-AD76E84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900908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22A2B1F-2E5B-4F5B-9A33-79D5C619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71574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99DF304-4DB4-4F59-A00B-6915FC17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814636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E989E11-AB49-43FA-A6C7-6B7B0426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7961194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D82B836-75A5-470F-8D08-77A7561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9135475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4F22BA6A-0C54-4C1C-B67A-A75E2DDE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8950309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BEA33402-7247-40E0-8B8C-E730C0A9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825623" y="8364789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0"/>
                </a:moveTo>
                <a:lnTo>
                  <a:pt x="7315200" y="0"/>
                </a:lnTo>
                <a:lnTo>
                  <a:pt x="7315200" y="2958662"/>
                </a:lnTo>
                <a:lnTo>
                  <a:pt x="0" y="29586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c0cafa4df6b425a">
              <a:extLst>
                <a:ext uri="{96DAC541-7B7A-43D3-8B79-37D633B846F1}">
                  <asvg:svgBlip xmlns:asvg="http://schemas.microsoft.com/office/drawing/2016/SVG/main" r:embed="Rb028ea271f7c48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53728231-B203-452F-87B1-D48706F0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798423" y="-1036451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2958662"/>
                </a:moveTo>
                <a:lnTo>
                  <a:pt x="0" y="2958662"/>
                </a:lnTo>
                <a:lnTo>
                  <a:pt x="0" y="0"/>
                </a:lnTo>
                <a:lnTo>
                  <a:pt x="7315200" y="0"/>
                </a:lnTo>
                <a:lnTo>
                  <a:pt x="731520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c0cafa4df6b425a">
              <a:extLst>
                <a:ext uri="{96DAC541-7B7A-43D3-8B79-37D633B846F1}">
                  <asvg:svgBlip xmlns:asvg="http://schemas.microsoft.com/office/drawing/2016/SVG/main" r:embed="Rb028ea271f7c48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6AF3E5C3-DB15-43BE-94E3-23478471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899"/>
              </a:lnSpc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Power and Delay Budget</a:t>
            </a:r>
          </a:p>
        </p:txBody>
      </p:sp>
      <p:graphicFrame>
        <p:nvGraphicFramePr>
          <p:cNvPr id="75" name=""/>
          <p:cNvGraphicFramePr/>
          <p:nvPr/>
        </p:nvGraphicFramePr>
        <p:xfrm>
          <a:off xmlns:a="http://schemas.openxmlformats.org/drawingml/2006/main" x="1047750" y="2743200"/>
          <a:ext xmlns:a="http://schemas.openxmlformats.org/drawingml/2006/main" cx="8382000" cy="4876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952750"/>
              </a:tblGrid>
              <a:tr h="609600"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จุดจ่ายไฟ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แรงดันที่ใช้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8051 และ SN74HCT14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5 V DC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L293D ขา VCC1 ฝั่งลอจิก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5 V DC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L293D ขา VCC2 ฝั่งกำลัง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12 V DC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มอเตอร์เกียร์ DC กับตัวต้านทาน 27 Ω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12 V DC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เซนเซอร์ลำแสง E3Z-T61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12 V DC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LED บัซเซอร์ และฝั่งออกของออปโตคัปเปลอร์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5 V DC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สัญญาณทุกเส้นที่เข้าขา 8051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 ถึง 5 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"/>
          <p:cNvGraphicFramePr/>
          <p:nvPr/>
        </p:nvGraphicFramePr>
        <p:xfrm>
          <a:off xmlns:a="http://schemas.openxmlformats.org/drawingml/2006/main" x="9810750" y="2743200"/>
          <a:ext xmlns:a="http://schemas.openxmlformats.org/drawingml/2006/main" cx="7429500" cy="4876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619250"/>
                <a:gridCol w="1809750"/>
              </a:tblGrid>
              <a:tr h="609600"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ค่าหน่วงเวลา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R1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เวลารวม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ซับรูทีน Delay หนึ่งครั้ง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-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20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กันสัญญาณกระเพื่อมของปุ่ม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20 ms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ตรวจตำแหน่งตอนเริ่มระบบ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20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หยุดนิ่งก่อนรับคำสั่งใหม่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200 ms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หยุดนิ่งก่อนกลับทิศ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200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ทางผ่านว่างก่อนเริ่มปิด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150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3.00 s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เวลาสูงสุดของการเดินทาง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250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5.00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budget-note">
            <a:extLst xmlns:a="http://schemas.openxmlformats.org/drawingml/2006/main">
              <a:ext uri="{FF2B5EF4-FFF2-40B4-BE49-F238E27FC236}">
                <a16:creationId xmlns:a16="http://schemas.microsoft.com/office/drawing/2014/main" id="{F4A068E8-93B0-42B5-AB9F-B5DC5A46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905750"/>
            <a:ext cx="1619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228600" tIns="171450" rIns="228600" bIns="1714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7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ซับรูทีน Delay ใช้ Timer 0 โหมด 1 ค่าเริ่มนับ B1E0H ซึ่งเท่ากับ 65536 ลบ 20000 ที่คริสตัล 12.000 MHz ให้ 1 machine cycle เท่ากับ 1 µs จึงได้ 20 ms ต่อหนึ่งครั้ง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7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สถานะที่เคลื่อนที่เรียก Delay อยู่ภายในลูป จึงอ่านลำแสงและปุ่มซ้ำทุก 20 ms เวลาตัดแรงขับหลังพบสิ่งกีดขวางจึงไม่เกิน 20 ms บวกเวลาประมวลผลไม่กี่ไมโครวินาที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7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มอเตอร์ 12 V ต้องจำกัดกระแสไม่เกิน 0.50 A เพราะ L293D จ่ายได้ 600 mA ต่อช่อง ตัวต้านทาน 27 Ω ขนาด 10 W ทำหน้าที่นี้ และต้องวัดกระแสจริงก่อนต่อบานประตู</a:t>
            </a:r>
          </a:p>
        </p:txBody>
      </p:sp>
    </p:spTree>
    <p:extLst>
      <p:ext uri="{BB962C8B-B14F-4D97-AF65-F5344CB8AC3E}">
        <p14:creationId xmlns:p14="http://schemas.microsoft.com/office/powerpoint/2010/main" val="10448655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6E8376B-64AC-4D16-8D04-D2B65978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84135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BED0E09-F074-4339-9DA0-C07D75CA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60194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E0DEA4B-3173-4F49-ADB8-6369A92C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398219" y="9481046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442BF6D-199C-45A4-AE3E-0F5DBE86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457570" y="9189949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D3E5842-45E0-43F1-95C5-2DC716E7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80594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991231-C0F9-48AD-9880-A742A6FD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56654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64B08A5-2F9F-4EF7-9A09-4ABDB90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441639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F9F1E6A-49F3-4D0B-8734-BB31B630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202234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E1E916E-EEFF-47C9-961B-BBB263D9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864466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C34301A-4B5D-44FF-B03F-61FAE7FE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625061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D865834-38CC-4822-86BA-BCEEBE73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941177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45E5AB2-FE23-4BC5-89F9-48A44385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701772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D960860-8AEF-4602-91A2-AAC1DC7C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31197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CC0F163-1B1C-484A-B9CF-A6BCFE56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55137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59C1A39-2232-402B-81EE-35BA3D47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5971" y="-377019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AEDC70-0D18-48EA-B5C2-0DAB1E8C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76620" y="-668116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0975600-AC0F-44B7-A313-CDE2A21D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276567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560B290-8A3E-46CB-AFEB-C49B96E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515972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67A6C01-9406-449C-8874-F0F8C123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591225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3A92FDD5-05FE-40AB-ACF9-A63D09A6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615166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74CE10F-8D22-47A1-901D-9312EA62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335085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B02CA8A-5D92-4AF6-9301-686192F9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574490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7CBB5D09-A856-449E-ADF2-239A81A2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411795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4C7C7B9-9F45-416A-A638-46433F9E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651200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E4DEB34D-577F-48B1-959E-1959CBD5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332174" y="8570212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0"/>
                </a:moveTo>
                <a:lnTo>
                  <a:pt x="0" y="0"/>
                </a:lnTo>
                <a:lnTo>
                  <a:pt x="0" y="2958662"/>
                </a:lnTo>
                <a:lnTo>
                  <a:pt x="7315200" y="2958662"/>
                </a:lnTo>
                <a:lnTo>
                  <a:pt x="73152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6d34af3f64d29">
              <a:extLst>
                <a:ext uri="{96DAC541-7B7A-43D3-8B79-37D633B846F1}">
                  <asvg:svgBlip xmlns:asvg="http://schemas.microsoft.com/office/drawing/2016/SVG/main" r:embed="R1ca4b8feda754ec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2F0EC6A7-E8A3-4349-A3BF-E4037A48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2359374" y="-1241874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2958662"/>
                </a:moveTo>
                <a:lnTo>
                  <a:pt x="7315200" y="2958662"/>
                </a:lnTo>
                <a:lnTo>
                  <a:pt x="7315200" y="0"/>
                </a:lnTo>
                <a:lnTo>
                  <a:pt x="0" y="0"/>
                </a:lnTo>
                <a:lnTo>
                  <a:pt x="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d6d34af3f64d29">
              <a:extLst>
                <a:ext uri="{96DAC541-7B7A-43D3-8B79-37D633B846F1}">
                  <asvg:svgBlip xmlns:asvg="http://schemas.microsoft.com/office/drawing/2016/SVG/main" r:embed="R1ca4b8feda754ec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D4A5B11E-8D10-42AA-819E-AB021380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11899"/>
              </a:lnSpc>
              <a:spcBef>
                <a:spcPct val="0"/>
              </a:spcBef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 u="none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Startup Sequence</a:t>
            </a:r>
          </a:p>
        </p:txBody>
      </p:sp>
      <p:sp>
        <p:nvSpPr>
          <p:cNvPr id="43" name="chain-0">
            <a:extLst xmlns:a="http://schemas.openxmlformats.org/drawingml/2006/main">
              <a:ext uri="{FF2B5EF4-FFF2-40B4-BE49-F238E27FC236}">
                <a16:creationId xmlns:a16="http://schemas.microsoft.com/office/drawing/2014/main" id="{738103E1-D221-4082-BBBE-0A85255A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เปิดเครื่อง</a:t>
            </a:r>
          </a:p>
        </p:txBody>
      </p:sp>
      <p:sp>
        <p:nvSpPr>
          <p:cNvPr id="44" name="chain-1">
            <a:extLst xmlns:a="http://schemas.openxmlformats.org/drawingml/2006/main">
              <a:ext uri="{FF2B5EF4-FFF2-40B4-BE49-F238E27FC236}">
                <a16:creationId xmlns:a16="http://schemas.microsoft.com/office/drawing/2014/main" id="{3363EF48-63AD-4A8B-940C-2DED87E5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5DBD"/>
          </a:solidFill>
          <a:ln xmlns:a="http://schemas.openxmlformats.org/drawingml/2006/main" w="28575">
            <a:solidFill>
              <a:srgbClr val="175DBD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START</a:t>
            </a:r>
          </a:p>
        </p:txBody>
      </p:sp>
      <p:sp>
        <p:nvSpPr>
          <p:cNvPr id="45" name="chain-2">
            <a:extLst xmlns:a="http://schemas.openxmlformats.org/drawingml/2006/main">
              <a:ext uri="{FF2B5EF4-FFF2-40B4-BE49-F238E27FC236}">
                <a16:creationId xmlns:a16="http://schemas.microsoft.com/office/drawing/2014/main" id="{95819FA0-E2EF-4A0D-A681-5C0C0B06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ไปยัง CLOSED หรือ HOLD</a:t>
            </a:r>
          </a:p>
        </p:txBody>
      </p:sp>
      <p:cxnSp>
        <p:nvCxnSpPr>
          <p:cNvPr id="113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2952750" y="35623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295275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sp>
        <p:nvSpPr>
          <p:cNvPr id="48" name="info">
            <a:extLst xmlns:a="http://schemas.openxmlformats.org/drawingml/2006/main">
              <a:ext uri="{FF2B5EF4-FFF2-40B4-BE49-F238E27FC236}">
                <a16:creationId xmlns:a16="http://schemas.microsoft.com/office/drawing/2014/main" id="{78EE2F56-A8E6-4054-BF14-31174778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3810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1905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P0 = F8H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P1 = ECH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ไฟแดงติด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มอเตอร์หยุด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Delay 20 ms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ตรวจ LO และ LC</a:t>
            </a:r>
          </a:p>
        </p:txBody>
      </p:sp>
      <p:sp>
        <p:nvSpPr>
          <p:cNvPr id="49" name="code">
            <a:extLst xmlns:a="http://schemas.openxmlformats.org/drawingml/2006/main">
              <a:ext uri="{FF2B5EF4-FFF2-40B4-BE49-F238E27FC236}">
                <a16:creationId xmlns:a16="http://schemas.microsoft.com/office/drawing/2014/main" id="{CF23BF4A-FFB9-4E6C-BC9D-3577EC12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11944350" cy="7581900"/>
          </a:xfrm>
          <a:prstGeom xmlns:a="http://schemas.openxmlformats.org/drawingml/2006/main" prst="roundRect">
            <a:avLst>
              <a:gd name="adj" fmla="val 1005"/>
            </a:avLst>
          </a:prstGeom>
          <a:solidFill xmlns:a="http://schemas.openxmlformats.org/drawingml/2006/main">
            <a:srgbClr val="F2F8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code-text">
            <a:extLst xmlns:a="http://schemas.openxmlformats.org/drawingml/2006/main">
              <a:ext uri="{FF2B5EF4-FFF2-40B4-BE49-F238E27FC236}">
                <a16:creationId xmlns:a16="http://schemas.microsoft.com/office/drawing/2014/main" id="{754B2969-D409-4B52-AFD7-4DB382D6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28900"/>
            <a:ext cx="11620500" cy="73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95250" rIns="952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START: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P2,#0FFH          ; P2 เป็นอินพุตทั้งพอร์ต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SETB P1.2              ; ตัดแรงขับมอเตอร์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P1,#0ECH          ; ไฟแดงติด รอตรวจตำแหน่ง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P0,#0F8H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R0,#00H           ; R0 = 0 = Start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TMOD,#01H         ; Timer 0 โหมด 1 ขนาด 16 บิต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CALL Delay             ; รอ 20 ms ให้สัญญาณนิ่ง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P2.7,StartFault   ; หยุดฉุกเฉิน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P2.3,StartOpen    ; อยู่ที่ลิมิตเปิด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P2.4,StartClosed  ; อยู่ที่ลิมิตปิด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StartFault: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FaultState        ; ไม่ทราบตำแหน่ง จึงไม่เคลื่อนที่เอง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StartOpen: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P2.4,StartFault   ; ลิมิตสองตัวพร้อมกันคือขัดแย้ง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HoldState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StartClosed: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ClosedState</a:t>
            </a:r>
          </a:p>
        </p:txBody>
      </p:sp>
    </p:spTree>
    <p:extLst>
      <p:ext uri="{BB962C8B-B14F-4D97-AF65-F5344CB8AC3E}">
        <p14:creationId xmlns:p14="http://schemas.microsoft.com/office/powerpoint/2010/main" val="1380316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5F706A8-E76D-4A53-93DB-926F9E87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199551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7B5D995-6B25-43EF-B144-E329E066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2180679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02BA788-80B6-488B-8BE1-AD854E0B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886554" y="-7141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F5CC06C-A097-46B5-987A-3BB04B2B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85577" y="-296565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C094096-8CE5-4A51-A83C-029DE3D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331096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7EC014A-581F-4EAE-B727-9D9670E8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51626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724780C-1C58-41C9-929C-697CBD15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61397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ECEF652-9317-4CC7-8A06-992793E9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799136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4950317-9A9E-43A0-A8D6-7D4989E8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3859422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AD17124-2FB0-4AA1-8909-AFA0CCA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4044588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003C55CB-535A-4F16-BC50-2C0D4518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4848538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3EAAE3-9489-4FB9-A030-04A4FD3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5033704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C43BF61-3862-4C42-A65B-B083B72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282451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2239C0D-7487-494B-8586-4220E579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097285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B897A8F-50EF-4432-B173-73663A1A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92664" y="944345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94DA84F-39F2-44A4-A185-D6C70CA5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3641" y="9218313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E9F1906-B56A-481C-9919-CD121B3B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61803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673EEFA-CBCE-4CD9-A9D4-032FD20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432867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828BB53-BC16-48BC-AA0C-AD76E84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900908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22A2B1F-2E5B-4F5B-9A33-79D5C619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71574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99DF304-4DB4-4F59-A00B-6915FC17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814636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E989E11-AB49-43FA-A6C7-6B7B0426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7961194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D82B836-75A5-470F-8D08-77A7561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9135475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4F22BA6A-0C54-4C1C-B67A-A75E2DDE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8950309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BEA33402-7247-40E0-8B8C-E730C0A9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825623" y="8364789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0"/>
                </a:moveTo>
                <a:lnTo>
                  <a:pt x="7315200" y="0"/>
                </a:lnTo>
                <a:lnTo>
                  <a:pt x="7315200" y="2958662"/>
                </a:lnTo>
                <a:lnTo>
                  <a:pt x="0" y="29586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16a35a27f6b4b55">
              <a:extLst>
                <a:ext uri="{96DAC541-7B7A-43D3-8B79-37D633B846F1}">
                  <asvg:svgBlip xmlns:asvg="http://schemas.microsoft.com/office/drawing/2016/SVG/main" r:embed="R93a60252345243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53728231-B203-452F-87B1-D48706F0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798423" y="-1036451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2958662"/>
                </a:moveTo>
                <a:lnTo>
                  <a:pt x="0" y="2958662"/>
                </a:lnTo>
                <a:lnTo>
                  <a:pt x="0" y="0"/>
                </a:lnTo>
                <a:lnTo>
                  <a:pt x="7315200" y="0"/>
                </a:lnTo>
                <a:lnTo>
                  <a:pt x="731520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16a35a27f6b4b55">
              <a:extLst>
                <a:ext uri="{96DAC541-7B7A-43D3-8B79-37D633B846F1}">
                  <asvg:svgBlip xmlns:asvg="http://schemas.microsoft.com/office/drawing/2016/SVG/main" r:embed="R93a60252345243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6AF3E5C3-DB15-43BE-94E3-23478471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899"/>
              </a:lnSpc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Subroutine: Delay 20 ms</a:t>
            </a:r>
          </a:p>
        </p:txBody>
      </p:sp>
      <p:sp>
        <p:nvSpPr>
          <p:cNvPr id="43" name="chain-0">
            <a:extLst xmlns:a="http://schemas.openxmlformats.org/drawingml/2006/main">
              <a:ext uri="{FF2B5EF4-FFF2-40B4-BE49-F238E27FC236}">
                <a16:creationId xmlns:a16="http://schemas.microsoft.com/office/drawing/2014/main" id="{4F09777A-267B-4A33-804E-F8169971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ทุกสถานะที่ต้องหน่วงเวลา</a:t>
            </a:r>
          </a:p>
        </p:txBody>
      </p:sp>
      <p:sp>
        <p:nvSpPr>
          <p:cNvPr id="44" name="chain-1">
            <a:extLst xmlns:a="http://schemas.openxmlformats.org/drawingml/2006/main">
              <a:ext uri="{FF2B5EF4-FFF2-40B4-BE49-F238E27FC236}">
                <a16:creationId xmlns:a16="http://schemas.microsoft.com/office/drawing/2014/main" id="{37C11F19-84B6-4D35-95B4-1E1D54AE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5DBD"/>
          </a:solidFill>
          <a:ln xmlns:a="http://schemas.openxmlformats.org/drawingml/2006/main" w="28575">
            <a:solidFill>
              <a:srgbClr val="175DBD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Delay</a:t>
            </a:r>
          </a:p>
        </p:txBody>
      </p:sp>
      <p:sp>
        <p:nvSpPr>
          <p:cNvPr id="45" name="chain-2">
            <a:extLst xmlns:a="http://schemas.openxmlformats.org/drawingml/2006/main">
              <a:ext uri="{FF2B5EF4-FFF2-40B4-BE49-F238E27FC236}">
                <a16:creationId xmlns:a16="http://schemas.microsoft.com/office/drawing/2014/main" id="{2DB53049-4A94-4880-A3A1-F95CDCD5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กลับไปทำงานต่อ</a:t>
            </a:r>
          </a:p>
        </p:txBody>
      </p:sp>
      <p:cxnSp>
        <p:nvCxnSpPr>
          <p:cNvPr id="113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2952750" y="35623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295275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sp>
        <p:nvSpPr>
          <p:cNvPr id="48" name="info">
            <a:extLst xmlns:a="http://schemas.openxmlformats.org/drawingml/2006/main">
              <a:ext uri="{FF2B5EF4-FFF2-40B4-BE49-F238E27FC236}">
                <a16:creationId xmlns:a16="http://schemas.microsoft.com/office/drawing/2014/main" id="{D0ABE747-450D-4AC7-BAA0-B1C9710A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3810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1905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Timer 0 โหมด 1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ค่าเริ่มนับ B1E0H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65536 ลบ 20000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1 cycle = 1 µs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ได้ 20 ms ต่อครั้ง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R1 คือจำนวนครั้ง</a:t>
            </a:r>
          </a:p>
        </p:txBody>
      </p:sp>
      <p:sp>
        <p:nvSpPr>
          <p:cNvPr id="49" name="code">
            <a:extLst xmlns:a="http://schemas.openxmlformats.org/drawingml/2006/main">
              <a:ext uri="{FF2B5EF4-FFF2-40B4-BE49-F238E27FC236}">
                <a16:creationId xmlns:a16="http://schemas.microsoft.com/office/drawing/2014/main" id="{C8A70E27-6C90-4740-B213-CD70D282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11944350" cy="7581900"/>
          </a:xfrm>
          <a:prstGeom xmlns:a="http://schemas.openxmlformats.org/drawingml/2006/main" prst="roundRect">
            <a:avLst>
              <a:gd name="adj" fmla="val 1005"/>
            </a:avLst>
          </a:prstGeom>
          <a:solidFill xmlns:a="http://schemas.openxmlformats.org/drawingml/2006/main">
            <a:srgbClr val="F2F8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code-text">
            <a:extLst xmlns:a="http://schemas.openxmlformats.org/drawingml/2006/main">
              <a:ext uri="{FF2B5EF4-FFF2-40B4-BE49-F238E27FC236}">
                <a16:creationId xmlns:a16="http://schemas.microsoft.com/office/drawing/2014/main" id="{10E72AB3-2D79-4861-9917-5815E61A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28900"/>
            <a:ext cx="11620500" cy="73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95250" rIns="952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Delay:                     ; หน่วง 20 ms ด้วย Timer 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CLR  TR0               ; หยุดตัวนับก่อนตั้งค่า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TH0,#0B1H         ; ไบต์สูงของ B1E0H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TL0,#0E0H         ; ไบต์ต่ำของ B1E0H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CLR  TF0               ; ล้างธงล้น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SETB TR0               ; เริ่มนับ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DelayWait: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TF0,DelayWait     ; รอจนตัวนับล้น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CLR  TR0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CLR  TF0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RET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; ตัวอย่างการใช้งานในสถานะที่ต้องรอ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R1,#150           ; 150 x 20 ms = 3.00 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HoldLoop: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CALL Delay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DJNZ R1,HoldLoop</a:t>
            </a:r>
          </a:p>
        </p:txBody>
      </p:sp>
    </p:spTree>
    <p:extLst>
      <p:ext uri="{BB962C8B-B14F-4D97-AF65-F5344CB8AC3E}">
        <p14:creationId xmlns:p14="http://schemas.microsoft.com/office/powerpoint/2010/main" val="10448655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5F706A8-E76D-4A53-93DB-926F9E87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199551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7B5D995-6B25-43EF-B144-E329E066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2180679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02BA788-80B6-488B-8BE1-AD854E0B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886554" y="-7141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F5CC06C-A097-46B5-987A-3BB04B2B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85577" y="-296565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C094096-8CE5-4A51-A83C-029DE3D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331096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7EC014A-581F-4EAE-B727-9D9670E8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51626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724780C-1C58-41C9-929C-697CBD15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61397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ECEF652-9317-4CC7-8A06-992793E9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799136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4950317-9A9E-43A0-A8D6-7D4989E8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3859422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AD17124-2FB0-4AA1-8909-AFA0CCA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4044588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003C55CB-535A-4F16-BC50-2C0D4518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4848538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3EAAE3-9489-4FB9-A030-04A4FD3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5033704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C43BF61-3862-4C42-A65B-B083B72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282451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2239C0D-7487-494B-8586-4220E579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097285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B897A8F-50EF-4432-B173-73663A1A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92664" y="944345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94DA84F-39F2-44A4-A185-D6C70CA5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3641" y="9218313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E9F1906-B56A-481C-9919-CD121B3B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61803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673EEFA-CBCE-4CD9-A9D4-032FD20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432867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828BB53-BC16-48BC-AA0C-AD76E84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900908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22A2B1F-2E5B-4F5B-9A33-79D5C619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71574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99DF304-4DB4-4F59-A00B-6915FC17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814636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E989E11-AB49-43FA-A6C7-6B7B0426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7961194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D82B836-75A5-470F-8D08-77A7561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9135475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4F22BA6A-0C54-4C1C-B67A-A75E2DDE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8950309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BEA33402-7247-40E0-8B8C-E730C0A9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825623" y="8364789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0"/>
                </a:moveTo>
                <a:lnTo>
                  <a:pt x="7315200" y="0"/>
                </a:lnTo>
                <a:lnTo>
                  <a:pt x="7315200" y="2958662"/>
                </a:lnTo>
                <a:lnTo>
                  <a:pt x="0" y="29586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f7c136940374e46">
              <a:extLst>
                <a:ext uri="{96DAC541-7B7A-43D3-8B79-37D633B846F1}">
                  <asvg:svgBlip xmlns:asvg="http://schemas.microsoft.com/office/drawing/2016/SVG/main" r:embed="R8887f3481fe649b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53728231-B203-452F-87B1-D48706F0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798423" y="-1036451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2958662"/>
                </a:moveTo>
                <a:lnTo>
                  <a:pt x="0" y="2958662"/>
                </a:lnTo>
                <a:lnTo>
                  <a:pt x="0" y="0"/>
                </a:lnTo>
                <a:lnTo>
                  <a:pt x="7315200" y="0"/>
                </a:lnTo>
                <a:lnTo>
                  <a:pt x="731520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f7c136940374e46">
              <a:extLst>
                <a:ext uri="{96DAC541-7B7A-43D3-8B79-37D633B846F1}">
                  <asvg:svgBlip xmlns:asvg="http://schemas.microsoft.com/office/drawing/2016/SVG/main" r:embed="R8887f3481fe649b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6AF3E5C3-DB15-43BE-94E3-23478471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899"/>
              </a:lnSpc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State 1: Closed</a:t>
            </a:r>
          </a:p>
        </p:txBody>
      </p:sp>
      <p:sp>
        <p:nvSpPr>
          <p:cNvPr id="43" name="chain-0">
            <a:extLst xmlns:a="http://schemas.openxmlformats.org/drawingml/2006/main">
              <a:ext uri="{FF2B5EF4-FFF2-40B4-BE49-F238E27FC236}">
                <a16:creationId xmlns:a16="http://schemas.microsoft.com/office/drawing/2014/main" id="{6B9D03E9-07C7-4C2B-96B1-E79CFD3D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START</a:t>
            </a:r>
          </a:p>
        </p:txBody>
      </p:sp>
      <p:sp>
        <p:nvSpPr>
          <p:cNvPr id="44" name="chain-1">
            <a:extLst xmlns:a="http://schemas.openxmlformats.org/drawingml/2006/main">
              <a:ext uri="{FF2B5EF4-FFF2-40B4-BE49-F238E27FC236}">
                <a16:creationId xmlns:a16="http://schemas.microsoft.com/office/drawing/2014/main" id="{CBE07372-0118-4285-8E6E-66D0390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5DBD"/>
          </a:solidFill>
          <a:ln xmlns:a="http://schemas.openxmlformats.org/drawingml/2006/main" w="28575">
            <a:solidFill>
              <a:srgbClr val="175DBD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CLOSED</a:t>
            </a:r>
          </a:p>
        </p:txBody>
      </p:sp>
      <p:sp>
        <p:nvSpPr>
          <p:cNvPr id="45" name="chain-2">
            <a:extLst xmlns:a="http://schemas.openxmlformats.org/drawingml/2006/main">
              <a:ext uri="{FF2B5EF4-FFF2-40B4-BE49-F238E27FC236}">
                <a16:creationId xmlns:a16="http://schemas.microsoft.com/office/drawing/2014/main" id="{0BB424BE-D2EC-459E-908F-0D3A4D5C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OPENING</a:t>
            </a:r>
          </a:p>
        </p:txBody>
      </p:sp>
      <p:cxnSp>
        <p:nvCxnSpPr>
          <p:cNvPr id="113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2952750" y="35623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295275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sp>
        <p:nvSpPr>
          <p:cNvPr id="48" name="info">
            <a:extLst xmlns:a="http://schemas.openxmlformats.org/drawingml/2006/main">
              <a:ext uri="{FF2B5EF4-FFF2-40B4-BE49-F238E27FC236}">
                <a16:creationId xmlns:a16="http://schemas.microsoft.com/office/drawing/2014/main" id="{0D64CDA4-73A5-4BBC-A447-C6D82D10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3810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1905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P0 = F9H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P1 = FCH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มอเตอร์หยุด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ไฟและเสียงดับ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หยุดนิ่ง 200 ms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กันกระเพื่อม 20 ms</a:t>
            </a:r>
          </a:p>
        </p:txBody>
      </p:sp>
      <p:sp>
        <p:nvSpPr>
          <p:cNvPr id="49" name="code">
            <a:extLst xmlns:a="http://schemas.openxmlformats.org/drawingml/2006/main">
              <a:ext uri="{FF2B5EF4-FFF2-40B4-BE49-F238E27FC236}">
                <a16:creationId xmlns:a16="http://schemas.microsoft.com/office/drawing/2014/main" id="{F221F13F-DFBD-429D-BB23-FBC7F27F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11944350" cy="7581900"/>
          </a:xfrm>
          <a:prstGeom xmlns:a="http://schemas.openxmlformats.org/drawingml/2006/main" prst="roundRect">
            <a:avLst>
              <a:gd name="adj" fmla="val 1005"/>
            </a:avLst>
          </a:prstGeom>
          <a:solidFill xmlns:a="http://schemas.openxmlformats.org/drawingml/2006/main">
            <a:srgbClr val="F2F8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code-text">
            <a:extLst xmlns:a="http://schemas.openxmlformats.org/drawingml/2006/main">
              <a:ext uri="{FF2B5EF4-FFF2-40B4-BE49-F238E27FC236}">
                <a16:creationId xmlns:a16="http://schemas.microsoft.com/office/drawing/2014/main" id="{1BAA70E3-5024-4FCC-BB96-E3CFFF86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28900"/>
            <a:ext cx="11620500" cy="73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95250" rIns="952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ClosedState: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SETB P1.2              ; มอเตอร์หยุด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R0,#01H           ; R0 = 1 = Closed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P0,#0F9H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P1,#0FCH          ; ไฟและเสียงเตือนดับ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R1,#10            ; 10 x 20 ms = 200 ms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ClosedSettle: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CALL Delay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DJNZ R1,ClosedSettle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ClosedLoop: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P2.7,ClosedFault  ; หยุดฉุกเฉิน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P2.4,ClosedFault  ; ลิมิตปิดหลุด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P2.0,ClosedPress  ; ปุ่มภายใน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P2.1,ClosedPress  ; ปุ่มภายนอก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SJMP ClosedLoop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ClosedPress: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CALL Delay             ; 20 ms กันสัญญาณกระเพื่อม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P2.0,ClosedGo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P2.1,ClosedGo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SJMP ClosedLoop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ClosedGo: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OpeningState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ClosedFault: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FaultState</a:t>
            </a:r>
          </a:p>
        </p:txBody>
      </p:sp>
    </p:spTree>
    <p:extLst>
      <p:ext uri="{BB962C8B-B14F-4D97-AF65-F5344CB8AC3E}">
        <p14:creationId xmlns:p14="http://schemas.microsoft.com/office/powerpoint/2010/main" val="10448655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6E8376B-64AC-4D16-8D04-D2B65978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84135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BED0E09-F074-4339-9DA0-C07D75CA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60194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E0DEA4B-3173-4F49-ADB8-6369A92C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398219" y="9481046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442BF6D-199C-45A4-AE3E-0F5DBE86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457570" y="9189949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D3E5842-45E0-43F1-95C5-2DC716E7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80594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991231-C0F9-48AD-9880-A742A6FD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56654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64B08A5-2F9F-4EF7-9A09-4ABDB90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441639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F9F1E6A-49F3-4D0B-8734-BB31B630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202234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E1E916E-EEFF-47C9-961B-BBB263D9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864466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C34301A-4B5D-44FF-B03F-61FAE7FE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625061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D865834-38CC-4822-86BA-BCEEBE73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941177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45E5AB2-FE23-4BC5-89F9-48A44385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701772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D960860-8AEF-4602-91A2-AAC1DC7C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31197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CC0F163-1B1C-484A-B9CF-A6BCFE56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55137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59C1A39-2232-402B-81EE-35BA3D47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5971" y="-377019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AEDC70-0D18-48EA-B5C2-0DAB1E8C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76620" y="-668116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0975600-AC0F-44B7-A313-CDE2A21D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276567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560B290-8A3E-46CB-AFEB-C49B96E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515972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67A6C01-9406-449C-8874-F0F8C123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591225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3A92FDD5-05FE-40AB-ACF9-A63D09A6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615166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74CE10F-8D22-47A1-901D-9312EA62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335085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B02CA8A-5D92-4AF6-9301-686192F9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574490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7CBB5D09-A856-449E-ADF2-239A81A2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411795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4C7C7B9-9F45-416A-A638-46433F9E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651200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E4DEB34D-577F-48B1-959E-1959CBD5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332174" y="8570212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0"/>
                </a:moveTo>
                <a:lnTo>
                  <a:pt x="0" y="0"/>
                </a:lnTo>
                <a:lnTo>
                  <a:pt x="0" y="2958662"/>
                </a:lnTo>
                <a:lnTo>
                  <a:pt x="7315200" y="2958662"/>
                </a:lnTo>
                <a:lnTo>
                  <a:pt x="73152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829d82770d4ae0">
              <a:extLst>
                <a:ext uri="{96DAC541-7B7A-43D3-8B79-37D633B846F1}">
                  <asvg:svgBlip xmlns:asvg="http://schemas.microsoft.com/office/drawing/2016/SVG/main" r:embed="Rbc1cdd3759a740c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2F0EC6A7-E8A3-4349-A3BF-E4037A48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2359374" y="-1241874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2958662"/>
                </a:moveTo>
                <a:lnTo>
                  <a:pt x="7315200" y="2958662"/>
                </a:lnTo>
                <a:lnTo>
                  <a:pt x="7315200" y="0"/>
                </a:lnTo>
                <a:lnTo>
                  <a:pt x="0" y="0"/>
                </a:lnTo>
                <a:lnTo>
                  <a:pt x="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829d82770d4ae0">
              <a:extLst>
                <a:ext uri="{96DAC541-7B7A-43D3-8B79-37D633B846F1}">
                  <asvg:svgBlip xmlns:asvg="http://schemas.microsoft.com/office/drawing/2016/SVG/main" r:embed="Rbc1cdd3759a740c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D4A5B11E-8D10-42AA-819E-AB021380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11899"/>
              </a:lnSpc>
              <a:spcBef>
                <a:spcPct val="0"/>
              </a:spcBef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 u="none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State 2: Opening</a:t>
            </a:r>
          </a:p>
        </p:txBody>
      </p:sp>
      <p:sp>
        <p:nvSpPr>
          <p:cNvPr id="43" name="chain-0">
            <a:extLst xmlns:a="http://schemas.openxmlformats.org/drawingml/2006/main">
              <a:ext uri="{FF2B5EF4-FFF2-40B4-BE49-F238E27FC236}">
                <a16:creationId xmlns:a16="http://schemas.microsoft.com/office/drawing/2014/main" id="{C3CC8ECD-F23C-4B2A-9613-F448D4F2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CLOSED</a:t>
            </a:r>
          </a:p>
        </p:txBody>
      </p:sp>
      <p:sp>
        <p:nvSpPr>
          <p:cNvPr id="44" name="chain-1">
            <a:extLst xmlns:a="http://schemas.openxmlformats.org/drawingml/2006/main">
              <a:ext uri="{FF2B5EF4-FFF2-40B4-BE49-F238E27FC236}">
                <a16:creationId xmlns:a16="http://schemas.microsoft.com/office/drawing/2014/main" id="{B601D516-799F-48F2-A4AF-5F4C66B0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5DBD"/>
          </a:solidFill>
          <a:ln xmlns:a="http://schemas.openxmlformats.org/drawingml/2006/main" w="28575">
            <a:solidFill>
              <a:srgbClr val="175DBD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OPENING</a:t>
            </a:r>
          </a:p>
        </p:txBody>
      </p:sp>
      <p:sp>
        <p:nvSpPr>
          <p:cNvPr id="45" name="chain-2">
            <a:extLst xmlns:a="http://schemas.openxmlformats.org/drawingml/2006/main">
              <a:ext uri="{FF2B5EF4-FFF2-40B4-BE49-F238E27FC236}">
                <a16:creationId xmlns:a16="http://schemas.microsoft.com/office/drawing/2014/main" id="{4DF4F33E-BCDE-4B95-B213-FA700AEC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HOLD</a:t>
            </a:r>
          </a:p>
        </p:txBody>
      </p:sp>
      <p:cxnSp>
        <p:nvCxnSpPr>
          <p:cNvPr id="113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2952750" y="35623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295275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sp>
        <p:nvSpPr>
          <p:cNvPr id="48" name="info">
            <a:extLst xmlns:a="http://schemas.openxmlformats.org/drawingml/2006/main">
              <a:ext uri="{FF2B5EF4-FFF2-40B4-BE49-F238E27FC236}">
                <a16:creationId xmlns:a16="http://schemas.microsoft.com/office/drawing/2014/main" id="{0FA2D3B3-E9F1-487A-8D3B-443F365E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3810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1905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P0 = FAH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P1 = D9H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มอเตอร์เปิด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ไฟเขียวติด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รอลิมิตเปิด LO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เวลาสูงสุด 5.00 s</a:t>
            </a:r>
          </a:p>
        </p:txBody>
      </p:sp>
      <p:sp>
        <p:nvSpPr>
          <p:cNvPr id="49" name="code">
            <a:extLst xmlns:a="http://schemas.openxmlformats.org/drawingml/2006/main">
              <a:ext uri="{FF2B5EF4-FFF2-40B4-BE49-F238E27FC236}">
                <a16:creationId xmlns:a16="http://schemas.microsoft.com/office/drawing/2014/main" id="{0549C997-0ABB-434C-B8AA-C6825701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11944350" cy="7581900"/>
          </a:xfrm>
          <a:prstGeom xmlns:a="http://schemas.openxmlformats.org/drawingml/2006/main" prst="roundRect">
            <a:avLst>
              <a:gd name="adj" fmla="val 1005"/>
            </a:avLst>
          </a:prstGeom>
          <a:solidFill xmlns:a="http://schemas.openxmlformats.org/drawingml/2006/main">
            <a:srgbClr val="F2F8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code-text">
            <a:extLst xmlns:a="http://schemas.openxmlformats.org/drawingml/2006/main">
              <a:ext uri="{FF2B5EF4-FFF2-40B4-BE49-F238E27FC236}">
                <a16:creationId xmlns:a16="http://schemas.microsoft.com/office/drawing/2014/main" id="{E40B0F5C-AE2D-4D5A-BCCF-C7D6FEA5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28900"/>
            <a:ext cx="11620500" cy="73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95250" rIns="952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OpeningState: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SETB P1.2              ; ตัดแรงขับก่อนตั้งทิศทาง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R0,#02H           ; R0 = 2 = Opening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P0,#0FAH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P1,#0DDH          ; ตั้งทิศทางเปิดขณะยังตัดแรงขับ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P1,#0D9H          ; จ่ายแรงขับ ไฟเขียวติด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R1,#250           ; 250 x 20 ms = 5 s เวลาสูงสุด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OpeningLoop: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P2.7,OpeningFault ; หยุดฉุกเฉิน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P2.3,OpeningDone  ; ถึงลิมิตเปิด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CALL Delay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DJNZ R1,OpeningLoop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OpeningFault: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FaultState        ; เดินทางเกินเวลาที่กำหนด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OpeningDone: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HoldState</a:t>
            </a:r>
          </a:p>
        </p:txBody>
      </p:sp>
    </p:spTree>
    <p:extLst>
      <p:ext uri="{BB962C8B-B14F-4D97-AF65-F5344CB8AC3E}">
        <p14:creationId xmlns:p14="http://schemas.microsoft.com/office/powerpoint/2010/main" val="1380316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5F706A8-E76D-4A53-93DB-926F9E87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199551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7B5D995-6B25-43EF-B144-E329E066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2180679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02BA788-80B6-488B-8BE1-AD854E0B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886554" y="-7141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F5CC06C-A097-46B5-987A-3BB04B2B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85577" y="-296565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C094096-8CE5-4A51-A83C-029DE3D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331096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7EC014A-581F-4EAE-B727-9D9670E8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51626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724780C-1C58-41C9-929C-697CBD15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61397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ECEF652-9317-4CC7-8A06-992793E9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799136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4950317-9A9E-43A0-A8D6-7D4989E8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3859422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AD17124-2FB0-4AA1-8909-AFA0CCA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4044588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003C55CB-535A-4F16-BC50-2C0D4518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4848538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3EAAE3-9489-4FB9-A030-04A4FD3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5033704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C43BF61-3862-4C42-A65B-B083B72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282451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2239C0D-7487-494B-8586-4220E579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097285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B897A8F-50EF-4432-B173-73663A1A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92664" y="944345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94DA84F-39F2-44A4-A185-D6C70CA5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3641" y="9218313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E9F1906-B56A-481C-9919-CD121B3B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61803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673EEFA-CBCE-4CD9-A9D4-032FD20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432867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828BB53-BC16-48BC-AA0C-AD76E84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900908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22A2B1F-2E5B-4F5B-9A33-79D5C619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71574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99DF304-4DB4-4F59-A00B-6915FC17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814636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E989E11-AB49-43FA-A6C7-6B7B0426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7961194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D82B836-75A5-470F-8D08-77A7561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9135475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4F22BA6A-0C54-4C1C-B67A-A75E2DDE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8950309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BEA33402-7247-40E0-8B8C-E730C0A9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825623" y="8364789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0"/>
                </a:moveTo>
                <a:lnTo>
                  <a:pt x="7315200" y="0"/>
                </a:lnTo>
                <a:lnTo>
                  <a:pt x="7315200" y="2958662"/>
                </a:lnTo>
                <a:lnTo>
                  <a:pt x="0" y="29586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13546d65d247b0">
              <a:extLst>
                <a:ext uri="{96DAC541-7B7A-43D3-8B79-37D633B846F1}">
                  <asvg:svgBlip xmlns:asvg="http://schemas.microsoft.com/office/drawing/2016/SVG/main" r:embed="R9152daa9b4424f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53728231-B203-452F-87B1-D48706F0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798423" y="-1036451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2958662"/>
                </a:moveTo>
                <a:lnTo>
                  <a:pt x="0" y="2958662"/>
                </a:lnTo>
                <a:lnTo>
                  <a:pt x="0" y="0"/>
                </a:lnTo>
                <a:lnTo>
                  <a:pt x="7315200" y="0"/>
                </a:lnTo>
                <a:lnTo>
                  <a:pt x="731520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13546d65d247b0">
              <a:extLst>
                <a:ext uri="{96DAC541-7B7A-43D3-8B79-37D633B846F1}">
                  <asvg:svgBlip xmlns:asvg="http://schemas.microsoft.com/office/drawing/2016/SVG/main" r:embed="R9152daa9b4424f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6AF3E5C3-DB15-43BE-94E3-23478471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899"/>
              </a:lnSpc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State 3: Hold</a:t>
            </a:r>
          </a:p>
        </p:txBody>
      </p:sp>
      <p:sp>
        <p:nvSpPr>
          <p:cNvPr id="43" name="chain-0">
            <a:extLst xmlns:a="http://schemas.openxmlformats.org/drawingml/2006/main">
              <a:ext uri="{FF2B5EF4-FFF2-40B4-BE49-F238E27FC236}">
                <a16:creationId xmlns:a16="http://schemas.microsoft.com/office/drawing/2014/main" id="{74D58854-0EF4-4DD1-AF23-BFD7156D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OPENING หรือ REOPEN</a:t>
            </a:r>
          </a:p>
        </p:txBody>
      </p:sp>
      <p:sp>
        <p:nvSpPr>
          <p:cNvPr id="44" name="chain-1">
            <a:extLst xmlns:a="http://schemas.openxmlformats.org/drawingml/2006/main">
              <a:ext uri="{FF2B5EF4-FFF2-40B4-BE49-F238E27FC236}">
                <a16:creationId xmlns:a16="http://schemas.microsoft.com/office/drawing/2014/main" id="{6D5DEE2B-6BDD-4FB5-AB69-F58F7A21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5DBD"/>
          </a:solidFill>
          <a:ln xmlns:a="http://schemas.openxmlformats.org/drawingml/2006/main" w="28575">
            <a:solidFill>
              <a:srgbClr val="175DBD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HOLD</a:t>
            </a:r>
          </a:p>
        </p:txBody>
      </p:sp>
      <p:sp>
        <p:nvSpPr>
          <p:cNvPr id="45" name="chain-2">
            <a:extLst xmlns:a="http://schemas.openxmlformats.org/drawingml/2006/main">
              <a:ext uri="{FF2B5EF4-FFF2-40B4-BE49-F238E27FC236}">
                <a16:creationId xmlns:a16="http://schemas.microsoft.com/office/drawing/2014/main" id="{D0EE76BE-8C8F-4966-BFC2-9EAF2258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CLOSING</a:t>
            </a:r>
          </a:p>
        </p:txBody>
      </p:sp>
      <p:cxnSp>
        <p:nvCxnSpPr>
          <p:cNvPr id="113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2952750" y="35623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295275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sp>
        <p:nvSpPr>
          <p:cNvPr id="48" name="info">
            <a:extLst xmlns:a="http://schemas.openxmlformats.org/drawingml/2006/main">
              <a:ext uri="{FF2B5EF4-FFF2-40B4-BE49-F238E27FC236}">
                <a16:creationId xmlns:a16="http://schemas.microsoft.com/office/drawing/2014/main" id="{86AD5E2A-4A79-45BB-B36D-9F28F04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3810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1905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P0 = FBH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P1 = DCH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มอเตอร์หยุด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ไฟเขียวติด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ต้องว่าง 3.00 s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ถูกบังคือนับใหม่</a:t>
            </a:r>
          </a:p>
        </p:txBody>
      </p:sp>
      <p:sp>
        <p:nvSpPr>
          <p:cNvPr id="49" name="code">
            <a:extLst xmlns:a="http://schemas.openxmlformats.org/drawingml/2006/main">
              <a:ext uri="{FF2B5EF4-FFF2-40B4-BE49-F238E27FC236}">
                <a16:creationId xmlns:a16="http://schemas.microsoft.com/office/drawing/2014/main" id="{1145AF9F-3D8D-442C-8AC2-AF8B0CFA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11944350" cy="7581900"/>
          </a:xfrm>
          <a:prstGeom xmlns:a="http://schemas.openxmlformats.org/drawingml/2006/main" prst="roundRect">
            <a:avLst>
              <a:gd name="adj" fmla="val 1005"/>
            </a:avLst>
          </a:prstGeom>
          <a:solidFill xmlns:a="http://schemas.openxmlformats.org/drawingml/2006/main">
            <a:srgbClr val="F2F8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code-text">
            <a:extLst xmlns:a="http://schemas.openxmlformats.org/drawingml/2006/main">
              <a:ext uri="{FF2B5EF4-FFF2-40B4-BE49-F238E27FC236}">
                <a16:creationId xmlns:a16="http://schemas.microsoft.com/office/drawing/2014/main" id="{DCA5C6B4-EE90-4B11-A17E-3415453C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28900"/>
            <a:ext cx="11620500" cy="73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95250" rIns="952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HoldState: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SETB P1.2              ; มอเตอร์หยุด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R0,#03H           ; R0 = 3 = Hold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P0,#0FBH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P1,#0DCH          ; ไฟเขียวติด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HoldRestart: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R1,#150           ; 150 x 20 ms = 3.00 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HoldLoop: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P2.7,HoldFault    ; หยุดฉุกเฉิน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P2.3,HoldFault    ; ลิมิตเปิดหลุด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P2.2,HoldRestart  ; ลำแสงล่างถูกบัง เริ่มนับใหม่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P2.5,HoldRestart  ; ลำแสงบนถูกบัง เริ่มนับใหม่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P2.0,HoldRestart  ; ยังกดปุ่มภายใน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P2.1,HoldRestart  ; ยังกดปุ่มภายนอก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CALL Delay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DJNZ R1,HoldLoop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ClosingState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HoldFault: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FaultState</a:t>
            </a:r>
          </a:p>
        </p:txBody>
      </p:sp>
    </p:spTree>
    <p:extLst>
      <p:ext uri="{BB962C8B-B14F-4D97-AF65-F5344CB8AC3E}">
        <p14:creationId xmlns:p14="http://schemas.microsoft.com/office/powerpoint/2010/main" val="10448655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6E8376B-64AC-4D16-8D04-D2B65978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84135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BED0E09-F074-4339-9DA0-C07D75CA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60194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E0DEA4B-3173-4F49-ADB8-6369A92C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398219" y="9481046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442BF6D-199C-45A4-AE3E-0F5DBE86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457570" y="9189949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D3E5842-45E0-43F1-95C5-2DC716E7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80594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991231-C0F9-48AD-9880-A742A6FD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56654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64B08A5-2F9F-4EF7-9A09-4ABDB90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441639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F9F1E6A-49F3-4D0B-8734-BB31B630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202234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E1E916E-EEFF-47C9-961B-BBB263D9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864466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C34301A-4B5D-44FF-B03F-61FAE7FE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625061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D865834-38CC-4822-86BA-BCEEBE73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941177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45E5AB2-FE23-4BC5-89F9-48A44385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701772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D960860-8AEF-4602-91A2-AAC1DC7C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31197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CC0F163-1B1C-484A-B9CF-A6BCFE56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55137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59C1A39-2232-402B-81EE-35BA3D47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5971" y="-377019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AEDC70-0D18-48EA-B5C2-0DAB1E8C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76620" y="-668116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0975600-AC0F-44B7-A313-CDE2A21D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276567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560B290-8A3E-46CB-AFEB-C49B96E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515972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67A6C01-9406-449C-8874-F0F8C123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591225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3A92FDD5-05FE-40AB-ACF9-A63D09A6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615166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74CE10F-8D22-47A1-901D-9312EA62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335085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B02CA8A-5D92-4AF6-9301-686192F9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574490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7CBB5D09-A856-449E-ADF2-239A81A2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411795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4C7C7B9-9F45-416A-A638-46433F9E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651200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E4DEB34D-577F-48B1-959E-1959CBD5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332174" y="8570212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0"/>
                </a:moveTo>
                <a:lnTo>
                  <a:pt x="0" y="0"/>
                </a:lnTo>
                <a:lnTo>
                  <a:pt x="0" y="2958662"/>
                </a:lnTo>
                <a:lnTo>
                  <a:pt x="7315200" y="2958662"/>
                </a:lnTo>
                <a:lnTo>
                  <a:pt x="73152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5e315ca9d74cb7">
              <a:extLst>
                <a:ext uri="{96DAC541-7B7A-43D3-8B79-37D633B846F1}">
                  <asvg:svgBlip xmlns:asvg="http://schemas.microsoft.com/office/drawing/2016/SVG/main" r:embed="R4b05df1b18d947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2F0EC6A7-E8A3-4349-A3BF-E4037A48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2359374" y="-1241874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2958662"/>
                </a:moveTo>
                <a:lnTo>
                  <a:pt x="7315200" y="2958662"/>
                </a:lnTo>
                <a:lnTo>
                  <a:pt x="7315200" y="0"/>
                </a:lnTo>
                <a:lnTo>
                  <a:pt x="0" y="0"/>
                </a:lnTo>
                <a:lnTo>
                  <a:pt x="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5e315ca9d74cb7">
              <a:extLst>
                <a:ext uri="{96DAC541-7B7A-43D3-8B79-37D633B846F1}">
                  <asvg:svgBlip xmlns:asvg="http://schemas.microsoft.com/office/drawing/2016/SVG/main" r:embed="R4b05df1b18d947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D4A5B11E-8D10-42AA-819E-AB021380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11899"/>
              </a:lnSpc>
              <a:spcBef>
                <a:spcPct val="0"/>
              </a:spcBef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 u="none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State 4: Closing</a:t>
            </a:r>
          </a:p>
        </p:txBody>
      </p:sp>
      <p:sp>
        <p:nvSpPr>
          <p:cNvPr id="43" name="chain-0">
            <a:extLst xmlns:a="http://schemas.openxmlformats.org/drawingml/2006/main">
              <a:ext uri="{FF2B5EF4-FFF2-40B4-BE49-F238E27FC236}">
                <a16:creationId xmlns:a16="http://schemas.microsoft.com/office/drawing/2014/main" id="{F42DC644-DF01-4A14-A475-8DF1FD30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HOLD</a:t>
            </a:r>
          </a:p>
        </p:txBody>
      </p:sp>
      <p:sp>
        <p:nvSpPr>
          <p:cNvPr id="44" name="chain-1">
            <a:extLst xmlns:a="http://schemas.openxmlformats.org/drawingml/2006/main">
              <a:ext uri="{FF2B5EF4-FFF2-40B4-BE49-F238E27FC236}">
                <a16:creationId xmlns:a16="http://schemas.microsoft.com/office/drawing/2014/main" id="{6C9D5F3B-C0A0-4A85-9C32-DDD63606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5DBD"/>
          </a:solidFill>
          <a:ln xmlns:a="http://schemas.openxmlformats.org/drawingml/2006/main" w="28575">
            <a:solidFill>
              <a:srgbClr val="175DBD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CLOSING</a:t>
            </a:r>
          </a:p>
        </p:txBody>
      </p:sp>
      <p:sp>
        <p:nvSpPr>
          <p:cNvPr id="45" name="chain-2">
            <a:extLst xmlns:a="http://schemas.openxmlformats.org/drawingml/2006/main">
              <a:ext uri="{FF2B5EF4-FFF2-40B4-BE49-F238E27FC236}">
                <a16:creationId xmlns:a16="http://schemas.microsoft.com/office/drawing/2014/main" id="{1A1B7B7C-E46D-42BD-9C44-7FA5AAC0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CLOSED หรือ REV_WAIT</a:t>
            </a:r>
          </a:p>
        </p:txBody>
      </p:sp>
      <p:cxnSp>
        <p:nvCxnSpPr>
          <p:cNvPr id="113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2952750" y="35623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295275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sp>
        <p:nvSpPr>
          <p:cNvPr id="48" name="info">
            <a:extLst xmlns:a="http://schemas.openxmlformats.org/drawingml/2006/main">
              <a:ext uri="{FF2B5EF4-FFF2-40B4-BE49-F238E27FC236}">
                <a16:creationId xmlns:a16="http://schemas.microsoft.com/office/drawing/2014/main" id="{B73C6AB6-B309-4FEA-BA65-3C9E4C59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3810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1905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P0 = FCH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P1 = 6AH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มอเตอร์ปิด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ไฟแดงและเสียงเตือน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ตรวจลำแสงทุก 20 ms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เวลาสูงสุด 5.00 s</a:t>
            </a:r>
          </a:p>
        </p:txBody>
      </p:sp>
      <p:sp>
        <p:nvSpPr>
          <p:cNvPr id="49" name="code">
            <a:extLst xmlns:a="http://schemas.openxmlformats.org/drawingml/2006/main">
              <a:ext uri="{FF2B5EF4-FFF2-40B4-BE49-F238E27FC236}">
                <a16:creationId xmlns:a16="http://schemas.microsoft.com/office/drawing/2014/main" id="{D38F5F6B-DE38-4C30-ADE3-0666DED8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11944350" cy="7581900"/>
          </a:xfrm>
          <a:prstGeom xmlns:a="http://schemas.openxmlformats.org/drawingml/2006/main" prst="roundRect">
            <a:avLst>
              <a:gd name="adj" fmla="val 1005"/>
            </a:avLst>
          </a:prstGeom>
          <a:solidFill xmlns:a="http://schemas.openxmlformats.org/drawingml/2006/main">
            <a:srgbClr val="F2F8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code-text">
            <a:extLst xmlns:a="http://schemas.openxmlformats.org/drawingml/2006/main">
              <a:ext uri="{FF2B5EF4-FFF2-40B4-BE49-F238E27FC236}">
                <a16:creationId xmlns:a16="http://schemas.microsoft.com/office/drawing/2014/main" id="{FBDDC45C-689E-4E8E-BE7F-ADA5AD65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28900"/>
            <a:ext cx="11620500" cy="73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95250" rIns="952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ClosingState: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SETB P1.2              ; ตัดแรงขับก่อนตั้งทิศทาง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R0,#04H           ; R0 = 4 = Closing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P0,#0FCH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P1,#06EH          ; ตั้งทิศทางปิดขณะยังตัดแรงขับ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P1,#06AH          ; จ่ายแรงขับ ไฟแดงและเสียงเตือน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R1,#250           ; 250 x 20 ms = 5 s เวลาสูงสุด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ClosingLoop: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P2.7,ClosingFault ; หยุดฉุกเฉิน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P2.2,ClosingStop  ; ลำแสงล่างถูกบัง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P2.5,ClosingStop  ; ลำแสงบนถูกบัง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P2.0,ClosingStop  ; มีการกดปุ่มภายใน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P2.1,ClosingStop  ; มีการกดปุ่มภายนอก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P2.4,ClosingDone  ; ถึงลิมิตปิด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CALL Delay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DJNZ R1,ClosingLoop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ClosingFault: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FaultState        ; เดินทางเกินเวลาที่กำหนด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ClosingStop: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SETB P1.2              ; ตัดแรงขับทันทีที่พบสิ่งกีดขวาง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RevWaitState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ClosingDone: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ClosedState</a:t>
            </a:r>
          </a:p>
        </p:txBody>
      </p:sp>
    </p:spTree>
    <p:extLst>
      <p:ext uri="{BB962C8B-B14F-4D97-AF65-F5344CB8AC3E}">
        <p14:creationId xmlns:p14="http://schemas.microsoft.com/office/powerpoint/2010/main" val="13803165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5F706A8-E76D-4A53-93DB-926F9E87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199551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7B5D995-6B25-43EF-B144-E329E066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2180679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02BA788-80B6-488B-8BE1-AD854E0B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886554" y="-7141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F5CC06C-A097-46B5-987A-3BB04B2B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85577" y="-296565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C094096-8CE5-4A51-A83C-029DE3D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331096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7EC014A-581F-4EAE-B727-9D9670E8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51626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724780C-1C58-41C9-929C-697CBD15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61397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ECEF652-9317-4CC7-8A06-992793E9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799136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4950317-9A9E-43A0-A8D6-7D4989E8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3859422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AD17124-2FB0-4AA1-8909-AFA0CCA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4044588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003C55CB-535A-4F16-BC50-2C0D4518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4848538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3EAAE3-9489-4FB9-A030-04A4FD3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5033704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C43BF61-3862-4C42-A65B-B083B72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282451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2239C0D-7487-494B-8586-4220E579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097285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B897A8F-50EF-4432-B173-73663A1A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92664" y="944345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94DA84F-39F2-44A4-A185-D6C70CA5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3641" y="9218313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E9F1906-B56A-481C-9919-CD121B3B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61803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673EEFA-CBCE-4CD9-A9D4-032FD20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432867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828BB53-BC16-48BC-AA0C-AD76E84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900908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22A2B1F-2E5B-4F5B-9A33-79D5C619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71574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99DF304-4DB4-4F59-A00B-6915FC17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814636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E989E11-AB49-43FA-A6C7-6B7B0426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7961194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D82B836-75A5-470F-8D08-77A7561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9135475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4F22BA6A-0C54-4C1C-B67A-A75E2DDE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8950309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BEA33402-7247-40E0-8B8C-E730C0A9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825623" y="8364789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0"/>
                </a:moveTo>
                <a:lnTo>
                  <a:pt x="7315200" y="0"/>
                </a:lnTo>
                <a:lnTo>
                  <a:pt x="7315200" y="2958662"/>
                </a:lnTo>
                <a:lnTo>
                  <a:pt x="0" y="29586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48f5231ac945cb">
              <a:extLst>
                <a:ext uri="{96DAC541-7B7A-43D3-8B79-37D633B846F1}">
                  <asvg:svgBlip xmlns:asvg="http://schemas.microsoft.com/office/drawing/2016/SVG/main" r:embed="R4bf885f7f7514bc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53728231-B203-452F-87B1-D48706F0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798423" y="-1036451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2958662"/>
                </a:moveTo>
                <a:lnTo>
                  <a:pt x="0" y="2958662"/>
                </a:lnTo>
                <a:lnTo>
                  <a:pt x="0" y="0"/>
                </a:lnTo>
                <a:lnTo>
                  <a:pt x="7315200" y="0"/>
                </a:lnTo>
                <a:lnTo>
                  <a:pt x="731520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48f5231ac945cb">
              <a:extLst>
                <a:ext uri="{96DAC541-7B7A-43D3-8B79-37D633B846F1}">
                  <asvg:svgBlip xmlns:asvg="http://schemas.microsoft.com/office/drawing/2016/SVG/main" r:embed="R4bf885f7f7514bc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6AF3E5C3-DB15-43BE-94E3-23478471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899"/>
              </a:lnSpc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State 5: RevWait</a:t>
            </a:r>
          </a:p>
        </p:txBody>
      </p:sp>
      <p:sp>
        <p:nvSpPr>
          <p:cNvPr id="43" name="chain-0">
            <a:extLst xmlns:a="http://schemas.openxmlformats.org/drawingml/2006/main">
              <a:ext uri="{FF2B5EF4-FFF2-40B4-BE49-F238E27FC236}">
                <a16:creationId xmlns:a16="http://schemas.microsoft.com/office/drawing/2014/main" id="{99F496D8-1651-4C8B-8184-13E2397D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CLOSING</a:t>
            </a:r>
          </a:p>
        </p:txBody>
      </p:sp>
      <p:sp>
        <p:nvSpPr>
          <p:cNvPr id="44" name="chain-1">
            <a:extLst xmlns:a="http://schemas.openxmlformats.org/drawingml/2006/main">
              <a:ext uri="{FF2B5EF4-FFF2-40B4-BE49-F238E27FC236}">
                <a16:creationId xmlns:a16="http://schemas.microsoft.com/office/drawing/2014/main" id="{81248952-96A0-4AA1-9617-F5282428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5DBD"/>
          </a:solidFill>
          <a:ln xmlns:a="http://schemas.openxmlformats.org/drawingml/2006/main" w="28575">
            <a:solidFill>
              <a:srgbClr val="175DBD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REV_WAIT</a:t>
            </a:r>
          </a:p>
        </p:txBody>
      </p:sp>
      <p:sp>
        <p:nvSpPr>
          <p:cNvPr id="45" name="chain-2">
            <a:extLst xmlns:a="http://schemas.openxmlformats.org/drawingml/2006/main">
              <a:ext uri="{FF2B5EF4-FFF2-40B4-BE49-F238E27FC236}">
                <a16:creationId xmlns:a16="http://schemas.microsoft.com/office/drawing/2014/main" id="{E719B642-9607-4B4C-8E3E-C20EB139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REOPEN</a:t>
            </a:r>
          </a:p>
        </p:txBody>
      </p:sp>
      <p:cxnSp>
        <p:nvCxnSpPr>
          <p:cNvPr id="113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2952750" y="35623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295275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sp>
        <p:nvSpPr>
          <p:cNvPr id="48" name="info">
            <a:extLst xmlns:a="http://schemas.openxmlformats.org/drawingml/2006/main">
              <a:ext uri="{FF2B5EF4-FFF2-40B4-BE49-F238E27FC236}">
                <a16:creationId xmlns:a16="http://schemas.microsoft.com/office/drawing/2014/main" id="{C7B9BC7F-3DC2-4145-84CA-10F43758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3810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1905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P0 = FDH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P1 = 6CH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มอเตอร์หยุดสนิท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ไฟแดงและเสียงเตือน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รอ 200 ms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แล้วจึงเปิดกลับ</a:t>
            </a:r>
          </a:p>
        </p:txBody>
      </p:sp>
      <p:sp>
        <p:nvSpPr>
          <p:cNvPr id="49" name="code">
            <a:extLst xmlns:a="http://schemas.openxmlformats.org/drawingml/2006/main">
              <a:ext uri="{FF2B5EF4-FFF2-40B4-BE49-F238E27FC236}">
                <a16:creationId xmlns:a16="http://schemas.microsoft.com/office/drawing/2014/main" id="{77D844FE-9E29-4268-B180-F1A375B5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11944350" cy="7581900"/>
          </a:xfrm>
          <a:prstGeom xmlns:a="http://schemas.openxmlformats.org/drawingml/2006/main" prst="roundRect">
            <a:avLst>
              <a:gd name="adj" fmla="val 1005"/>
            </a:avLst>
          </a:prstGeom>
          <a:solidFill xmlns:a="http://schemas.openxmlformats.org/drawingml/2006/main">
            <a:srgbClr val="F2F8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code-text">
            <a:extLst xmlns:a="http://schemas.openxmlformats.org/drawingml/2006/main">
              <a:ext uri="{FF2B5EF4-FFF2-40B4-BE49-F238E27FC236}">
                <a16:creationId xmlns:a16="http://schemas.microsoft.com/office/drawing/2014/main" id="{AF065888-2F55-48F0-AE86-A06305FA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28900"/>
            <a:ext cx="11620500" cy="73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95250" rIns="952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RevWaitState: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SETB P1.2              ; มอเตอร์หยุด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R0,#05H           ; R0 = 5 = RevWait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P0,#0FDH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P1,#06CH          ; ไฟแดงและเสียงเตือนทำงาน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R1,#10            ; 10 x 20 ms = 200 ms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RevLoop: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P2.7,RevFault     ; หยุดฉุกเฉิน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CALL Delay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DJNZ R1,RevLoop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ReopenState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RevFault: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FaultState</a:t>
            </a:r>
          </a:p>
        </p:txBody>
      </p:sp>
    </p:spTree>
    <p:extLst>
      <p:ext uri="{BB962C8B-B14F-4D97-AF65-F5344CB8AC3E}">
        <p14:creationId xmlns:p14="http://schemas.microsoft.com/office/powerpoint/2010/main" val="10448655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6E8376B-64AC-4D16-8D04-D2B65978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84135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BED0E09-F074-4339-9DA0-C07D75CA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53043" y="860194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E0DEA4B-3173-4F49-ADB8-6369A92C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398219" y="9481046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442BF6D-199C-45A4-AE3E-0F5DBE86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457570" y="9189949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D3E5842-45E0-43F1-95C5-2DC716E7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80594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991231-C0F9-48AD-9880-A742A6FD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079848" y="756654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64B08A5-2F9F-4EF7-9A09-4ABDB90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441639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F9F1E6A-49F3-4D0B-8734-BB31B630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8152661" y="8202234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E1E916E-EEFF-47C9-961B-BBB263D9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864466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C34301A-4B5D-44FF-B03F-61FAE7FE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9762933" y="6625061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D865834-38CC-4822-86BA-BCEEBE73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941177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45E5AB2-FE23-4BC5-89F9-48A44385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1923403" y="6701772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D960860-8AEF-4602-91A2-AAC1DC7C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311970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CC0F163-1B1C-484A-B9CF-A6BCFE56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81910" y="-6551375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59C1A39-2232-402B-81EE-35BA3D47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5971" y="-377019"/>
            <a:ext cx="15750248" cy="1182972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AEDC70-0D18-48EA-B5C2-0DAB1E8C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76620" y="-668116"/>
            <a:ext cx="11868949" cy="1474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0975600-AC0F-44B7-A313-CDE2A21D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276567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560B290-8A3E-46CB-AFEB-C49B96E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08716" y="-5515972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67A6C01-9406-449C-8874-F0F8C123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5912258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3A92FDD5-05FE-40AB-ACF9-A63D09A6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1528" y="-6151663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74CE10F-8D22-47A1-901D-9312EA62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335085"/>
            <a:ext cx="15259132" cy="7757618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9909" y="0"/>
                </a:moveTo>
                <a:lnTo>
                  <a:pt x="2418494" y="0"/>
                </a:lnTo>
                <a:cubicBezTo>
                  <a:pt x="2421122" y="0"/>
                  <a:pt x="2423643" y="1044"/>
                  <a:pt x="2425501" y="2902"/>
                </a:cubicBezTo>
                <a:cubicBezTo>
                  <a:pt x="2427359" y="4761"/>
                  <a:pt x="2428403" y="7281"/>
                  <a:pt x="2428403" y="9909"/>
                </a:cubicBezTo>
                <a:lnTo>
                  <a:pt x="2428403" y="1224671"/>
                </a:lnTo>
                <a:cubicBezTo>
                  <a:pt x="2428403" y="1227299"/>
                  <a:pt x="2427359" y="1229820"/>
                  <a:pt x="2425501" y="1231678"/>
                </a:cubicBezTo>
                <a:cubicBezTo>
                  <a:pt x="2423643" y="1233536"/>
                  <a:pt x="2421122" y="1234580"/>
                  <a:pt x="2418494" y="1234580"/>
                </a:cubicBezTo>
                <a:lnTo>
                  <a:pt x="9909" y="1234580"/>
                </a:lnTo>
                <a:cubicBezTo>
                  <a:pt x="7281" y="1234580"/>
                  <a:pt x="4761" y="1233536"/>
                  <a:pt x="2902" y="1231678"/>
                </a:cubicBezTo>
                <a:cubicBezTo>
                  <a:pt x="1044" y="1229820"/>
                  <a:pt x="0" y="1227299"/>
                  <a:pt x="0" y="1224671"/>
                </a:cubicBezTo>
                <a:lnTo>
                  <a:pt x="0" y="9909"/>
                </a:lnTo>
                <a:cubicBezTo>
                  <a:pt x="0" y="7281"/>
                  <a:pt x="1044" y="4761"/>
                  <a:pt x="2902" y="2902"/>
                </a:cubicBezTo>
                <a:cubicBezTo>
                  <a:pt x="4761" y="1044"/>
                  <a:pt x="7281" y="0"/>
                  <a:pt x="9909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B02CA8A-5D92-4AF6-9301-686192F9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91801" y="-4574490"/>
            <a:ext cx="15259132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7CBB5D09-A856-449E-ADF2-239A81A2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411795"/>
            <a:ext cx="17022368" cy="7757618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8883" y="0"/>
                </a:moveTo>
                <a:lnTo>
                  <a:pt x="2700129" y="0"/>
                </a:lnTo>
                <a:cubicBezTo>
                  <a:pt x="2702485" y="0"/>
                  <a:pt x="2704745" y="936"/>
                  <a:pt x="2706411" y="2602"/>
                </a:cubicBezTo>
                <a:cubicBezTo>
                  <a:pt x="2708077" y="4268"/>
                  <a:pt x="2709012" y="6527"/>
                  <a:pt x="2709012" y="8883"/>
                </a:cubicBezTo>
                <a:lnTo>
                  <a:pt x="2709012" y="1225697"/>
                </a:lnTo>
                <a:cubicBezTo>
                  <a:pt x="2709012" y="1228053"/>
                  <a:pt x="2708077" y="1230313"/>
                  <a:pt x="2706411" y="1231979"/>
                </a:cubicBezTo>
                <a:cubicBezTo>
                  <a:pt x="2704745" y="1233645"/>
                  <a:pt x="2702485" y="1234580"/>
                  <a:pt x="2700129" y="1234580"/>
                </a:cubicBezTo>
                <a:lnTo>
                  <a:pt x="8883" y="1234580"/>
                </a:lnTo>
                <a:cubicBezTo>
                  <a:pt x="6527" y="1234580"/>
                  <a:pt x="4268" y="1233645"/>
                  <a:pt x="2602" y="1231979"/>
                </a:cubicBezTo>
                <a:cubicBezTo>
                  <a:pt x="936" y="1230313"/>
                  <a:pt x="0" y="1228053"/>
                  <a:pt x="0" y="1225697"/>
                </a:cubicBezTo>
                <a:lnTo>
                  <a:pt x="0" y="8883"/>
                </a:lnTo>
                <a:cubicBezTo>
                  <a:pt x="0" y="6527"/>
                  <a:pt x="936" y="4268"/>
                  <a:pt x="2602" y="2602"/>
                </a:cubicBezTo>
                <a:cubicBezTo>
                  <a:pt x="4268" y="936"/>
                  <a:pt x="6527" y="0"/>
                  <a:pt x="8883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4C7C7B9-9F45-416A-A638-46433F9E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9034" y="-4651200"/>
            <a:ext cx="17022368" cy="79970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5680" tIns="65680" rIns="65680" bIns="6568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E4DEB34D-577F-48B1-959E-1959CBD5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332174" y="8570212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0"/>
                </a:moveTo>
                <a:lnTo>
                  <a:pt x="0" y="0"/>
                </a:lnTo>
                <a:lnTo>
                  <a:pt x="0" y="2958662"/>
                </a:lnTo>
                <a:lnTo>
                  <a:pt x="7315200" y="2958662"/>
                </a:lnTo>
                <a:lnTo>
                  <a:pt x="731520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65988d26ab4b0e">
              <a:extLst>
                <a:ext uri="{96DAC541-7B7A-43D3-8B79-37D633B846F1}">
                  <asvg:svgBlip xmlns:asvg="http://schemas.microsoft.com/office/drawing/2016/SVG/main" r:embed="R09a0a3c451b448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2F0EC6A7-E8A3-4349-A3BF-E4037A48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2359374" y="-1241874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2958662"/>
                </a:moveTo>
                <a:lnTo>
                  <a:pt x="7315200" y="2958662"/>
                </a:lnTo>
                <a:lnTo>
                  <a:pt x="7315200" y="0"/>
                </a:lnTo>
                <a:lnTo>
                  <a:pt x="0" y="0"/>
                </a:lnTo>
                <a:lnTo>
                  <a:pt x="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65988d26ab4b0e">
              <a:extLst>
                <a:ext uri="{96DAC541-7B7A-43D3-8B79-37D633B846F1}">
                  <asvg:svgBlip xmlns:asvg="http://schemas.microsoft.com/office/drawing/2016/SVG/main" r:embed="R09a0a3c451b448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D4A5B11E-8D10-42AA-819E-AB021380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11899"/>
              </a:lnSpc>
              <a:spcBef>
                <a:spcPct val="0"/>
              </a:spcBef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 u="none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State 6: Reopen</a:t>
            </a:r>
          </a:p>
        </p:txBody>
      </p:sp>
      <p:sp>
        <p:nvSpPr>
          <p:cNvPr id="43" name="chain-0">
            <a:extLst xmlns:a="http://schemas.openxmlformats.org/drawingml/2006/main">
              <a:ext uri="{FF2B5EF4-FFF2-40B4-BE49-F238E27FC236}">
                <a16:creationId xmlns:a16="http://schemas.microsoft.com/office/drawing/2014/main" id="{FA2EC0BD-E224-4D02-B79B-AE864026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REV_WAIT</a:t>
            </a:r>
          </a:p>
        </p:txBody>
      </p:sp>
      <p:sp>
        <p:nvSpPr>
          <p:cNvPr id="44" name="chain-1">
            <a:extLst xmlns:a="http://schemas.openxmlformats.org/drawingml/2006/main">
              <a:ext uri="{FF2B5EF4-FFF2-40B4-BE49-F238E27FC236}">
                <a16:creationId xmlns:a16="http://schemas.microsoft.com/office/drawing/2014/main" id="{B54EFDAA-9D72-4392-86E2-12DFAE3C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5DBD"/>
          </a:solidFill>
          <a:ln xmlns:a="http://schemas.openxmlformats.org/drawingml/2006/main" w="28575">
            <a:solidFill>
              <a:srgbClr val="175DBD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REOPEN</a:t>
            </a:r>
          </a:p>
        </p:txBody>
      </p:sp>
      <p:sp>
        <p:nvSpPr>
          <p:cNvPr id="45" name="chain-2">
            <a:extLst xmlns:a="http://schemas.openxmlformats.org/drawingml/2006/main">
              <a:ext uri="{FF2B5EF4-FFF2-40B4-BE49-F238E27FC236}">
                <a16:creationId xmlns:a16="http://schemas.microsoft.com/office/drawing/2014/main" id="{BD2C4F22-6B9A-4B5C-9BC4-DBE26F94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HOLD</a:t>
            </a:r>
          </a:p>
        </p:txBody>
      </p:sp>
      <p:cxnSp>
        <p:nvCxnSpPr>
          <p:cNvPr id="113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2952750" y="35623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295275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sp>
        <p:nvSpPr>
          <p:cNvPr id="48" name="info">
            <a:extLst xmlns:a="http://schemas.openxmlformats.org/drawingml/2006/main">
              <a:ext uri="{FF2B5EF4-FFF2-40B4-BE49-F238E27FC236}">
                <a16:creationId xmlns:a16="http://schemas.microsoft.com/office/drawing/2014/main" id="{0689E3DD-FA7A-4163-B6AC-D8B064A3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3810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1905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P0 = FEH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P1 = 69H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มอเตอร์เปิด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เสียงเตือนดัง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รอลิมิตเปิด LO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เวลาสูงสุด 5.00 s</a:t>
            </a:r>
          </a:p>
        </p:txBody>
      </p:sp>
      <p:sp>
        <p:nvSpPr>
          <p:cNvPr id="49" name="code">
            <a:extLst xmlns:a="http://schemas.openxmlformats.org/drawingml/2006/main">
              <a:ext uri="{FF2B5EF4-FFF2-40B4-BE49-F238E27FC236}">
                <a16:creationId xmlns:a16="http://schemas.microsoft.com/office/drawing/2014/main" id="{058B7285-6843-407B-9874-1F9DDC40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11944350" cy="7581900"/>
          </a:xfrm>
          <a:prstGeom xmlns:a="http://schemas.openxmlformats.org/drawingml/2006/main" prst="roundRect">
            <a:avLst>
              <a:gd name="adj" fmla="val 1005"/>
            </a:avLst>
          </a:prstGeom>
          <a:solidFill xmlns:a="http://schemas.openxmlformats.org/drawingml/2006/main">
            <a:srgbClr val="F2F8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code-text">
            <a:extLst xmlns:a="http://schemas.openxmlformats.org/drawingml/2006/main">
              <a:ext uri="{FF2B5EF4-FFF2-40B4-BE49-F238E27FC236}">
                <a16:creationId xmlns:a16="http://schemas.microsoft.com/office/drawing/2014/main" id="{FC6B1858-4E48-42B5-84BD-FCF7BB1A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28900"/>
            <a:ext cx="11620500" cy="73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95250" rIns="952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ReopenState: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SETB P1.2              ; ตัดแรงขับก่อนตั้งทิศทาง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R0,#06H           ; R0 = 6 = Reopen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P0,#0FEH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P1,#06DH          ; ตั้งทิศทางเปิดขณะยังตัดแรงขับ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P1,#069H          ; เปิดกลับพร้อมเสียงเตือน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R1,#250           ; 250 x 20 ms = 5 s เวลาสูงสุด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ReopenLoop: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P2.7,ReopenFault  ; หยุดฉุกเฉิน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P2.3,ReopenDone   ; ถึงลิมิตเปิด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CALL Delay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DJNZ R1,ReopenLoop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ReopenFault: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FaultState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ReopenDone: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HoldState</a:t>
            </a:r>
          </a:p>
        </p:txBody>
      </p:sp>
    </p:spTree>
    <p:extLst>
      <p:ext uri="{BB962C8B-B14F-4D97-AF65-F5344CB8AC3E}">
        <p14:creationId xmlns:p14="http://schemas.microsoft.com/office/powerpoint/2010/main" val="13803165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5F706A8-E76D-4A53-93DB-926F9E87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199551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7B5D995-6B25-43EF-B144-E329E066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2180679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02BA788-80B6-488B-8BE1-AD854E0B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886554" y="-7141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F5CC06C-A097-46B5-987A-3BB04B2B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85577" y="-296565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C094096-8CE5-4A51-A83C-029DE3D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331096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7EC014A-581F-4EAE-B727-9D9670E8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51626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724780C-1C58-41C9-929C-697CBD15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61397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ECEF652-9317-4CC7-8A06-992793E9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799136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4950317-9A9E-43A0-A8D6-7D4989E8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3859422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AD17124-2FB0-4AA1-8909-AFA0CCA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4044588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003C55CB-535A-4F16-BC50-2C0D4518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4848538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3EAAE3-9489-4FB9-A030-04A4FD3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5033704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C43BF61-3862-4C42-A65B-B083B72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282451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2239C0D-7487-494B-8586-4220E579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097285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B897A8F-50EF-4432-B173-73663A1A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92664" y="944345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94DA84F-39F2-44A4-A185-D6C70CA5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3641" y="9218313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E9F1906-B56A-481C-9919-CD121B3B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61803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673EEFA-CBCE-4CD9-A9D4-032FD20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432867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828BB53-BC16-48BC-AA0C-AD76E84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900908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22A2B1F-2E5B-4F5B-9A33-79D5C619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71574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99DF304-4DB4-4F59-A00B-6915FC17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814636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E989E11-AB49-43FA-A6C7-6B7B0426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7961194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D82B836-75A5-470F-8D08-77A7561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9135475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4F22BA6A-0C54-4C1C-B67A-A75E2DDE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8950309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BEA33402-7247-40E0-8B8C-E730C0A9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825623" y="8364789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0"/>
                </a:moveTo>
                <a:lnTo>
                  <a:pt x="7315200" y="0"/>
                </a:lnTo>
                <a:lnTo>
                  <a:pt x="7315200" y="2958662"/>
                </a:lnTo>
                <a:lnTo>
                  <a:pt x="0" y="29586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342a9c1dec49ce">
              <a:extLst>
                <a:ext uri="{96DAC541-7B7A-43D3-8B79-37D633B846F1}">
                  <asvg:svgBlip xmlns:asvg="http://schemas.microsoft.com/office/drawing/2016/SVG/main" r:embed="R008f1197044644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53728231-B203-452F-87B1-D48706F0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798423" y="-1036451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2958662"/>
                </a:moveTo>
                <a:lnTo>
                  <a:pt x="0" y="2958662"/>
                </a:lnTo>
                <a:lnTo>
                  <a:pt x="0" y="0"/>
                </a:lnTo>
                <a:lnTo>
                  <a:pt x="7315200" y="0"/>
                </a:lnTo>
                <a:lnTo>
                  <a:pt x="731520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0342a9c1dec49ce">
              <a:extLst>
                <a:ext uri="{96DAC541-7B7A-43D3-8B79-37D633B846F1}">
                  <asvg:svgBlip xmlns:asvg="http://schemas.microsoft.com/office/drawing/2016/SVG/main" r:embed="R008f1197044644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6AF3E5C3-DB15-43BE-94E3-23478471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899"/>
              </a:lnSpc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State 7: Fault</a:t>
            </a:r>
          </a:p>
        </p:txBody>
      </p:sp>
      <p:sp>
        <p:nvSpPr>
          <p:cNvPr id="43" name="chain-0">
            <a:extLst xmlns:a="http://schemas.openxmlformats.org/drawingml/2006/main">
              <a:ext uri="{FF2B5EF4-FFF2-40B4-BE49-F238E27FC236}">
                <a16:creationId xmlns:a16="http://schemas.microsoft.com/office/drawing/2014/main" id="{0628BF9B-1A5E-46D6-BEB5-04E30CB9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ทุกสถานะที่พบความผิดปกติ</a:t>
            </a:r>
          </a:p>
        </p:txBody>
      </p:sp>
      <p:sp>
        <p:nvSpPr>
          <p:cNvPr id="44" name="chain-1">
            <a:extLst xmlns:a="http://schemas.openxmlformats.org/drawingml/2006/main">
              <a:ext uri="{FF2B5EF4-FFF2-40B4-BE49-F238E27FC236}">
                <a16:creationId xmlns:a16="http://schemas.microsoft.com/office/drawing/2014/main" id="{514107F7-F517-43FA-BDDA-14C5403D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5DBD"/>
          </a:solidFill>
          <a:ln xmlns:a="http://schemas.openxmlformats.org/drawingml/2006/main" w="28575">
            <a:solidFill>
              <a:srgbClr val="175DBD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75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FAULT</a:t>
            </a:r>
          </a:p>
        </p:txBody>
      </p:sp>
      <p:sp>
        <p:nvSpPr>
          <p:cNvPr id="45" name="chain-2">
            <a:extLst xmlns:a="http://schemas.openxmlformats.org/drawingml/2006/main">
              <a:ext uri="{FF2B5EF4-FFF2-40B4-BE49-F238E27FC236}">
                <a16:creationId xmlns:a16="http://schemas.microsoft.com/office/drawing/2014/main" id="{2D00FD59-1473-4CA1-8130-93D47D48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3810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99C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113E7A"/>
                </a:solidFill>
                <a:latin typeface="Sukhumvit Set"/>
                <a:ea typeface="Sukhumvit Set"/>
                <a:cs typeface="Sukhumvit Set"/>
              </a:rPr>
              <a:t>START</a:t>
            </a:r>
          </a:p>
        </p:txBody>
      </p:sp>
      <p:cxnSp>
        <p:nvCxnSpPr>
          <p:cNvPr id="113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2952750" y="35623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295275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99CE"/>
            </a:solidFill>
            <a:prstDash val="solid"/>
            <a:tailEnd type="triangle" w="med" len="med"/>
          </a:ln>
        </p:spPr>
      </p:cxnSp>
      <p:sp>
        <p:nvSpPr>
          <p:cNvPr id="48" name="info">
            <a:extLst xmlns:a="http://schemas.openxmlformats.org/drawingml/2006/main">
              <a:ext uri="{FF2B5EF4-FFF2-40B4-BE49-F238E27FC236}">
                <a16:creationId xmlns:a16="http://schemas.microsoft.com/office/drawing/2014/main" id="{A2E97EE9-870E-4359-A025-C010655F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3810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190500" tIns="152400" rIns="152400" bIns="1524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P0 = FFH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P1 = 6CH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มอเตอร์หยุด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ไฟแดงค้าง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ต้องปล่อยปุ่มก่อน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725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กดรีเซ็ต 20 ms</a:t>
            </a:r>
          </a:p>
        </p:txBody>
      </p:sp>
      <p:sp>
        <p:nvSpPr>
          <p:cNvPr id="49" name="code">
            <a:extLst xmlns:a="http://schemas.openxmlformats.org/drawingml/2006/main">
              <a:ext uri="{FF2B5EF4-FFF2-40B4-BE49-F238E27FC236}">
                <a16:creationId xmlns:a16="http://schemas.microsoft.com/office/drawing/2014/main" id="{1C627A8A-6D15-432D-83D3-F08DCF86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11944350" cy="7581900"/>
          </a:xfrm>
          <a:prstGeom xmlns:a="http://schemas.openxmlformats.org/drawingml/2006/main" prst="roundRect">
            <a:avLst>
              <a:gd name="adj" fmla="val 1005"/>
            </a:avLst>
          </a:prstGeom>
          <a:solidFill xmlns:a="http://schemas.openxmlformats.org/drawingml/2006/main">
            <a:srgbClr val="F2F8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code-text">
            <a:extLst xmlns:a="http://schemas.openxmlformats.org/drawingml/2006/main">
              <a:ext uri="{FF2B5EF4-FFF2-40B4-BE49-F238E27FC236}">
                <a16:creationId xmlns:a16="http://schemas.microsoft.com/office/drawing/2014/main" id="{BCC4B778-AA4E-4C01-94C3-8D78CE68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28900"/>
            <a:ext cx="11620500" cy="73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95250" rIns="952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FaultState: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SETB P1.2              ; ตัดแรงขับจนกว่าจะรีเซ็ต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R0,#07H           ; R0 = 7 = Fault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P0,#0FFH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MOV  P1,#06CH          ; ไฟแดงค้างและเสียงเตือนค้าง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FaultRelease: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P2.6,FaultRelease ; ต้องปล่อยปุ่มรีเซ็ตก่อน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FaultLoop: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JNB  P2.6,FaultCheck   ; กดปุ่มรีเซ็ต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SJMP FaultLoop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FaultCheck: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CALL Delay             ; 20 ms กันสัญญาณกระเพื่อม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P2.6,FaultLoop    ; ปล่อยเร็วเกินไป ไม่นับ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P2.7,FaultLoop    ; ยังกดหยุดฉุกเฉินอยู่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P2.2,FaultLoop    ; ลำแสงล่างยังถูกบัง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JB   P2.5,FaultLoop    ; ลำแสงบนยังถูกบัง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D2648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0D2648"/>
                </a:solidFill>
                <a:latin typeface="Menlo"/>
                <a:ea typeface="Menlo"/>
                <a:cs typeface="Menlo"/>
              </a:rPr>
              <a:t>    LJMP START             ; กลับไปตรวจตำแหน่งใหม่</a:t>
            </a:r>
          </a:p>
        </p:txBody>
      </p:sp>
    </p:spTree>
    <p:extLst>
      <p:ext uri="{BB962C8B-B14F-4D97-AF65-F5344CB8AC3E}">
        <p14:creationId xmlns:p14="http://schemas.microsoft.com/office/powerpoint/2010/main" val="10448655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5F706A8-E76D-4A53-93DB-926F9E87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199551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7B5D995-6B25-43EF-B144-E329E066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2180679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02BA788-80B6-488B-8BE1-AD854E0B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886554" y="-7141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F5CC06C-A097-46B5-987A-3BB04B2B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85577" y="-296565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C094096-8CE5-4A51-A83C-029DE3D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331096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7EC014A-581F-4EAE-B727-9D9670E8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51626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724780C-1C58-41C9-929C-697CBD15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61397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ECEF652-9317-4CC7-8A06-992793E9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799136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4950317-9A9E-43A0-A8D6-7D4989E8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3859422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AD17124-2FB0-4AA1-8909-AFA0CCA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4044588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003C55CB-535A-4F16-BC50-2C0D4518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4848538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3EAAE3-9489-4FB9-A030-04A4FD3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5033704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C43BF61-3862-4C42-A65B-B083B72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282451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2239C0D-7487-494B-8586-4220E579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097285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B897A8F-50EF-4432-B173-73663A1A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92664" y="944345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94DA84F-39F2-44A4-A185-D6C70CA5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3641" y="9218313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E9F1906-B56A-481C-9919-CD121B3B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61803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673EEFA-CBCE-4CD9-A9D4-032FD20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432867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828BB53-BC16-48BC-AA0C-AD76E84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900908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22A2B1F-2E5B-4F5B-9A33-79D5C619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71574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99DF304-4DB4-4F59-A00B-6915FC17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814636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E989E11-AB49-43FA-A6C7-6B7B0426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7961194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D82B836-75A5-470F-8D08-77A7561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9135475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4F22BA6A-0C54-4C1C-B67A-A75E2DDE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8950309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BEA33402-7247-40E0-8B8C-E730C0A9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825623" y="8364789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0" y="0"/>
                </a:moveTo>
                <a:lnTo>
                  <a:pt x="7315200" y="0"/>
                </a:lnTo>
                <a:lnTo>
                  <a:pt x="7315200" y="2958662"/>
                </a:lnTo>
                <a:lnTo>
                  <a:pt x="0" y="29586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79278fb4ed4bc3">
              <a:extLst>
                <a:ext uri="{96DAC541-7B7A-43D3-8B79-37D633B846F1}">
                  <asvg:svgBlip xmlns:asvg="http://schemas.microsoft.com/office/drawing/2016/SVG/main" r:embed="R68bbf771cebc498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53728231-B203-452F-87B1-D48706F0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2798423" y="-1036451"/>
            <a:ext cx="7315200" cy="2958662"/>
          </a:xfrm>
          <a:custGeom xmlns:a="http://schemas.openxmlformats.org/drawingml/2006/main">
            <a:rect l="l" t="t" r="r" b="b"/>
            <a:pathLst>
              <a:path w="7315200" h="2958662">
                <a:moveTo>
                  <a:pt x="7315200" y="2958662"/>
                </a:moveTo>
                <a:lnTo>
                  <a:pt x="0" y="2958662"/>
                </a:lnTo>
                <a:lnTo>
                  <a:pt x="0" y="0"/>
                </a:lnTo>
                <a:lnTo>
                  <a:pt x="7315200" y="0"/>
                </a:lnTo>
                <a:lnTo>
                  <a:pt x="7315200" y="2958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79278fb4ed4bc3">
              <a:extLst>
                <a:ext uri="{96DAC541-7B7A-43D3-8B79-37D633B846F1}">
                  <asvg:svgBlip xmlns:asvg="http://schemas.microsoft.com/office/drawing/2016/SVG/main" r:embed="R68bbf771cebc498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6AF3E5C3-DB15-43BE-94E3-23478471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91440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899"/>
              </a:lnSpc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Verification Results</a:t>
            </a:r>
          </a:p>
        </p:txBody>
      </p:sp>
      <p:graphicFrame>
        <p:nvGraphicFramePr>
          <p:cNvPr id="76" name=""/>
          <p:cNvGraphicFramePr/>
          <p:nvPr/>
        </p:nvGraphicFramePr>
        <p:xfrm>
          <a:off xmlns:a="http://schemas.openxmlformats.org/drawingml/2006/main" x="1047750" y="2857500"/>
          <a:ext xmlns:a="http://schemas.openxmlformats.org/drawingml/2006/main" cx="96202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143250"/>
                <a:gridCol w="2381250"/>
              </a:tblGrid>
              <a:tr h="595313"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รายการเวลาที่วัดบนตัวจำลอง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ค่าที่ออกแบบ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  <a:tc>
                  <a:txBody>
                    <a:bodyPr lIns="76200" tIns="57150" rIns="76200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ค่าที่วัดได้</a:t>
                      </a:r>
                    </a:p>
                  </a:txBody>
                  <a:tcPr marL="91440" marR="91440" marT="45720" marB="45720" anchor="ctr">
                    <a:solidFill>
                      <a:srgbClr val="113E7A"/>
                    </a:solidFill>
                  </a:tcPr>
                </a:tc>
              </a:tr>
              <a:tr h="595313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หยุดนิ่ง 200 ms กับกันกระเพื่อม 20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220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220.180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หยุดก่อนกลับทิศ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200 ms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200.179 ms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595313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ทางผ่านว่างก่อนเริ่มปิด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3.000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3.004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เริ่มนับใหม่หลังลำแสงว่าง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3.000 s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3.004 s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595313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เดินทางเกินเวลาขณะเปิด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5.000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5.005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เดินทางเกินเวลาขณะปิด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5.000 s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5.007 s</a:t>
                      </a:r>
                    </a:p>
                  </a:txBody>
                  <a:tcPr marL="91440" marR="91440" marT="45720" marB="45720" anchor="ctr">
                    <a:solidFill>
                      <a:srgbClr val="EAF6FD"/>
                    </a:solidFill>
                  </a:tcPr>
                </a:tc>
              </a:tr>
              <a:tr h="595313"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ตัดแรงขับหลังลำแสงถูกบัง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Sukhumvit Set"/>
                          <a:ea typeface="Sukhumvit Set"/>
                          <a:cs typeface="Sukhumvit Set"/>
                        </a:rPr>
                        <a:t>ไม่เกิน 20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0D2648"/>
                          </a:solidFill>
                          <a:latin typeface="Menlo"/>
                          <a:ea typeface="Menlo"/>
                          <a:cs typeface="Menlo"/>
                        </a:rPr>
                        <a:t>0.037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ummary">
            <a:extLst xmlns:a="http://schemas.openxmlformats.org/drawingml/2006/main">
              <a:ext uri="{FF2B5EF4-FFF2-40B4-BE49-F238E27FC236}">
                <a16:creationId xmlns:a16="http://schemas.microsoft.com/office/drawing/2014/main" id="{84934475-E972-47A3-8310-3B91066F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05800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ตรวจคำสั่งที่ทำงานจริงรวม 22,006,035 คำสั่ง ทุกคำสั่งยืนยันว่า P2 latch คงค่า FFH, P1.0 กับ P1.1 ไม่เป็น 1 พร้อมกัน และการเปลี่ยนทิศทางเกิดขึ้นขณะตัดแรงขับเท่านั้น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ผลทั้งหมดมาจาก assembler และ CPU ของ EdSim51 เวอร์ชัน 2.1.39 ที่เรียกใช้แบบไม่เปิดหน้าต่างโปรแกรม เวลาที่รายงานคือเวลาจำลองจากจำนวน machine cycle ที่ 12 MHz ไม่ใช่การวัดทางไฟฟ้าหรือทางกล</a:t>
            </a:r>
          </a:p>
        </p:txBody>
      </p:sp>
      <p:sp>
        <p:nvSpPr>
          <p:cNvPr id="45" name="result-head">
            <a:extLst xmlns:a="http://schemas.openxmlformats.org/drawingml/2006/main">
              <a:ext uri="{FF2B5EF4-FFF2-40B4-BE49-F238E27FC236}">
                <a16:creationId xmlns:a16="http://schemas.microsoft.com/office/drawing/2014/main" id="{E5BC856A-F5E9-457F-A2F6-5B5860EE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625" b="1">
                <a:solidFill>
                  <a:srgbClr val="175DBD"/>
                </a:solidFill>
                <a:latin typeface="Sukhumvit Set"/>
                <a:ea typeface="Sukhumvit Set"/>
                <a:cs typeface="Sukhumvit Set"/>
              </a:defRPr>
            </a:pPr>
            <a:r>
              <a:rPr sz="2625" b="1">
                <a:solidFill>
                  <a:srgbClr val="175DBD"/>
                </a:solidFill>
                <a:latin typeface="Sukhumvit Set"/>
                <a:ea typeface="Sukhumvit Set"/>
                <a:cs typeface="Sukhumvit Set"/>
              </a:rPr>
              <a:t>ผ่านทั้ง 20 รายการ ไม่มีรายการที่ไม่ผ่าน</a:t>
            </a:r>
          </a:p>
        </p:txBody>
      </p:sp>
      <p:sp>
        <p:nvSpPr>
          <p:cNvPr id="46" name="coverage">
            <a:extLst xmlns:a="http://schemas.openxmlformats.org/drawingml/2006/main">
              <a:ext uri="{FF2B5EF4-FFF2-40B4-BE49-F238E27FC236}">
                <a16:creationId xmlns:a16="http://schemas.microsoft.com/office/drawing/2014/main" id="{60357C1E-6A22-4AB3-AA8F-C11EB5E7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67100"/>
            <a:ext cx="628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33350" tIns="9525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ครอบคลุมรอบทำงานปกติ สิ่งกีดขวางทั้งสองลำแสง การกดปุ่มขณะปิด หยุดฉุกเฉิน ลิมิตขัดแย้ง ตำแหน่งเริ่มต้นที่ไม่ทราบ เดินทางเกินเวลา และเงื่อนไขการรีเซ็ต</a:t>
            </a:r>
          </a:p>
        </p:txBody>
      </p:sp>
      <p:sp>
        <p:nvSpPr>
          <p:cNvPr id="47" name="pending">
            <a:extLst xmlns:a="http://schemas.openxmlformats.org/drawingml/2006/main">
              <a:ext uri="{FF2B5EF4-FFF2-40B4-BE49-F238E27FC236}">
                <a16:creationId xmlns:a16="http://schemas.microsoft.com/office/drawing/2014/main" id="{EE630CB4-8C4F-439A-800A-FCCFAE19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86400"/>
            <a:ext cx="62865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19050">
            <a:solidFill>
              <a:srgbClr val="9FCDEA"/>
            </a:solidFill>
            <a:prstDash val="solid"/>
          </a:ln>
        </p:spPr>
        <p:txBody>
          <a:bodyPr xmlns:a="http://schemas.openxmlformats.org/drawingml/2006/main" wrap="square" lIns="190500" tIns="171450" rIns="19050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รายการที่ต้องวัดบนชุดฮาร์ดแวร์จริง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กระแสมอเตอร์ขณะเริ่มหมุนและขณะติดขัด ต้องไม่เกิน 0.50 A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ระยะเวลาที่แกนหยุดจริงหลังตัดแรงขับ เทียบกับค่า 200 ms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ระยะหยุดของบานประตูหลังลำแสงถูกบัง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ระดับแรงดันของลำแสงและลิมิตที่ฝั่ง 5 V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1800" b="0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อุณหภูมิของ L293D และตัวต้านทานจำกัดกระแส</a:t>
            </a:r>
          </a:p>
        </p:txBody>
      </p:sp>
    </p:spTree>
    <p:extLst>
      <p:ext uri="{BB962C8B-B14F-4D97-AF65-F5344CB8AC3E}">
        <p14:creationId xmlns:p14="http://schemas.microsoft.com/office/powerpoint/2010/main" val="10448655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C1BEC53-BD0C-4051-83BA-3A308416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199551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6C98AAA-3DCB-4518-81D3-0A9B921A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744412" y="-2180679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86ABE0F-2F9A-4DFE-8476-0F1C7436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886554" y="-7141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F53DFB52-ED62-4570-92EF-3D1612B1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85577" y="-296565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1F4F6FC-0134-462B-913C-6452EB20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331096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BA35BF5-435A-48A2-B827-69B873D7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43590" y="-351626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92A66C1-6BE0-4538-88E1-385FA647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61397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896E628-D950-4722-8DB7-BD8FC672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435258" y="-2799136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95790465-2E79-4A36-AB05-86DEF122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3859422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AEFD7D3-CFCE-47AD-AC4A-04BFD3A7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215409" y="-4044588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9957F6C-E9F2-4897-B5A6-AD05449A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4848538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D78569CD-88F1-4B99-A2F9-AFD326E2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956620" y="-5033704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2DF51CC-5134-4AC5-B33F-750A75CD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282451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17DED136-D3E6-4425-A3CA-7A1F46EA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0372" y="6097285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E7942DB-FEBD-45D1-B671-D4A4F6E6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92664" y="9443459"/>
            <a:ext cx="12181889" cy="914959"/>
          </a:xfrm>
          <a:custGeom xmlns:a="http://schemas.openxmlformats.org/drawingml/2006/main">
            <a:rect l="l" t="t" r="r" b="b"/>
            <a:pathLst>
              <a:path w="2061456" h="154832">
                <a:moveTo>
                  <a:pt x="230188" y="0"/>
                </a:moveTo>
                <a:lnTo>
                  <a:pt x="2061456" y="0"/>
                </a:lnTo>
                <a:lnTo>
                  <a:pt x="1831268" y="154832"/>
                </a:lnTo>
                <a:lnTo>
                  <a:pt x="0" y="154832"/>
                </a:lnTo>
                <a:lnTo>
                  <a:pt x="230188" y="0"/>
                </a:lnTo>
                <a:close/>
              </a:path>
            </a:pathLst>
          </a:custGeom>
          <a:solidFill xmlns:a="http://schemas.openxmlformats.org/drawingml/2006/main">
            <a:srgbClr val="3199CE">
              <a:alpha val="43922"/>
            </a:srgbClr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5C81E353-4037-458A-BDE9-A9BA572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3641" y="9218313"/>
            <a:ext cx="9179933" cy="1140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7ED31EE-6E59-4DCE-8796-47B49BB4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618033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32941"/>
            </a:srgbClr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F69EA6A-68A2-4DF4-AA89-79202750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9549" y="7432867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8C66A41-C19F-48A8-86D5-86EE30BF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900908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3199CE">
              <a:alpha val="32941"/>
            </a:srgbClr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5ECB7E07-D21A-4165-AFC5-5CC1717F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1219" y="6715742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77AE9A3D-6396-41D8-8DBC-7A874F1A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8146360"/>
            <a:ext cx="11802040" cy="6000061"/>
          </a:xfrm>
          <a:custGeom xmlns:a="http://schemas.openxmlformats.org/drawingml/2006/main">
            <a:rect l="l" t="t" r="r" b="b"/>
            <a:pathLst>
              <a:path w="2428403" h="1234580">
                <a:moveTo>
                  <a:pt x="12812" y="0"/>
                </a:moveTo>
                <a:lnTo>
                  <a:pt x="2415591" y="0"/>
                </a:lnTo>
                <a:cubicBezTo>
                  <a:pt x="2418989" y="0"/>
                  <a:pt x="2422248" y="1350"/>
                  <a:pt x="2424651" y="3753"/>
                </a:cubicBezTo>
                <a:cubicBezTo>
                  <a:pt x="2427053" y="6155"/>
                  <a:pt x="2428403" y="9414"/>
                  <a:pt x="2428403" y="12812"/>
                </a:cubicBezTo>
                <a:lnTo>
                  <a:pt x="2428403" y="1221768"/>
                </a:lnTo>
                <a:cubicBezTo>
                  <a:pt x="2428403" y="1228844"/>
                  <a:pt x="2422667" y="1234580"/>
                  <a:pt x="2415591" y="1234580"/>
                </a:cubicBezTo>
                <a:lnTo>
                  <a:pt x="12812" y="1234580"/>
                </a:lnTo>
                <a:cubicBezTo>
                  <a:pt x="9414" y="1234580"/>
                  <a:pt x="6155" y="1233231"/>
                  <a:pt x="3753" y="1230828"/>
                </a:cubicBezTo>
                <a:cubicBezTo>
                  <a:pt x="1350" y="1228425"/>
                  <a:pt x="0" y="1225166"/>
                  <a:pt x="0" y="1221768"/>
                </a:cubicBezTo>
                <a:lnTo>
                  <a:pt x="0" y="12812"/>
                </a:lnTo>
                <a:cubicBezTo>
                  <a:pt x="0" y="9414"/>
                  <a:pt x="1350" y="6155"/>
                  <a:pt x="3753" y="3753"/>
                </a:cubicBezTo>
                <a:cubicBezTo>
                  <a:pt x="6155" y="1350"/>
                  <a:pt x="9414" y="0"/>
                  <a:pt x="12812" y="0"/>
                </a:cubicBezTo>
                <a:close/>
              </a:path>
            </a:pathLst>
          </a:custGeom>
          <a:solidFill xmlns:a="http://schemas.openxmlformats.org/drawingml/2006/main">
            <a:srgbClr val="77E8FF">
              <a:alpha val="32941"/>
            </a:srgbClr>
          </a:soli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71FC25-1C25-4C2A-A618-5C4647A8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1368" y="7961194"/>
            <a:ext cx="11802040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0CBF7325-C8ED-491C-ADC1-C80C4788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9135475"/>
            <a:ext cx="13165799" cy="6000061"/>
          </a:xfrm>
          <a:custGeom xmlns:a="http://schemas.openxmlformats.org/drawingml/2006/main">
            <a:rect l="l" t="t" r="r" b="b"/>
            <a:pathLst>
              <a:path w="2709012" h="1234580">
                <a:moveTo>
                  <a:pt x="11485" y="0"/>
                </a:moveTo>
                <a:lnTo>
                  <a:pt x="2697527" y="0"/>
                </a:lnTo>
                <a:cubicBezTo>
                  <a:pt x="2703870" y="0"/>
                  <a:pt x="2709012" y="5142"/>
                  <a:pt x="2709012" y="11485"/>
                </a:cubicBezTo>
                <a:lnTo>
                  <a:pt x="2709012" y="1223095"/>
                </a:lnTo>
                <a:cubicBezTo>
                  <a:pt x="2709012" y="1229438"/>
                  <a:pt x="2703870" y="1234580"/>
                  <a:pt x="2697527" y="1234580"/>
                </a:cubicBezTo>
                <a:lnTo>
                  <a:pt x="11485" y="1234580"/>
                </a:lnTo>
                <a:cubicBezTo>
                  <a:pt x="5142" y="1234580"/>
                  <a:pt x="0" y="1229438"/>
                  <a:pt x="0" y="1223095"/>
                </a:cubicBezTo>
                <a:lnTo>
                  <a:pt x="0" y="11485"/>
                </a:lnTo>
                <a:cubicBezTo>
                  <a:pt x="0" y="5142"/>
                  <a:pt x="5142" y="0"/>
                  <a:pt x="11485" y="0"/>
                </a:cubicBezTo>
                <a:close/>
              </a:path>
            </a:pathLst>
          </a:custGeom>
          <a:solidFill xmlns:a="http://schemas.openxmlformats.org/drawingml/2006/main">
            <a:srgbClr val="175DBD">
              <a:alpha val="11765"/>
            </a:srgbClr>
          </a:solid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9A5F3094-A104-4D3D-A219-FCDCC8A4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8819" y="8950309"/>
            <a:ext cx="13165799" cy="6185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42EC718F-D40D-4BB9-A1CE-56396401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4573663" y="-2783793"/>
            <a:ext cx="6222760" cy="4114800"/>
          </a:xfrm>
          <a:custGeom xmlns:a="http://schemas.openxmlformats.org/drawingml/2006/main">
            <a:rect l="l" t="t" r="r" b="b"/>
            <a:pathLst>
              <a:path w="6222760" h="4114800">
                <a:moveTo>
                  <a:pt x="0" y="4114800"/>
                </a:moveTo>
                <a:lnTo>
                  <a:pt x="6222760" y="4114800"/>
                </a:lnTo>
                <a:lnTo>
                  <a:pt x="622276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196a7aaea74c85">
              <a:extLst>
                <a:ext uri="{96DAC541-7B7A-43D3-8B79-37D633B846F1}">
                  <asvg:svgBlip xmlns:asvg="http://schemas.microsoft.com/office/drawing/2016/SVG/main" r:embed="Rbf8afdc1bf8a47c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C3A87B65-F279-4712-B51C-D469A06D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508423" y="8955993"/>
            <a:ext cx="6222760" cy="4114800"/>
          </a:xfrm>
          <a:custGeom xmlns:a="http://schemas.openxmlformats.org/drawingml/2006/main">
            <a:rect l="l" t="t" r="r" b="b"/>
            <a:pathLst>
              <a:path w="6222760" h="4114800">
                <a:moveTo>
                  <a:pt x="6222760" y="0"/>
                </a:moveTo>
                <a:lnTo>
                  <a:pt x="0" y="0"/>
                </a:lnTo>
                <a:lnTo>
                  <a:pt x="0" y="4114800"/>
                </a:lnTo>
                <a:lnTo>
                  <a:pt x="6222760" y="4114800"/>
                </a:lnTo>
                <a:lnTo>
                  <a:pt x="622276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196a7aaea74c85">
              <a:extLst>
                <a:ext uri="{96DAC541-7B7A-43D3-8B79-37D633B846F1}">
                  <asvg:svgBlip xmlns:asvg="http://schemas.microsoft.com/office/drawing/2016/SVG/main" r:embed="Rbf8afdc1bf8a47c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43A83697-6A41-41DD-8623-2D9136D2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1771650"/>
            <a:ext cx="14316075" cy="143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11899"/>
              </a:lnSpc>
              <a:spcBef>
                <a:spcPct val="0"/>
              </a:spcBef>
              <a:buNone/>
              <a:def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defRPr>
            </a:pPr>
            <a:r>
              <a:rPr sz="5400" b="1">
                <a:solidFill>
                  <a:srgbClr val="113E7A"/>
                </a:solidFill>
                <a:latin typeface="Muli Ultra-Bold"/>
                <a:ea typeface="Muli Ultra-Bold"/>
                <a:cs typeface="Muli Ultra-Bold"/>
              </a:rPr>
              <a:t>Conclusion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64AD5BDB-9266-4337-9B2A-187EF807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4000500"/>
            <a:ext cx="10668000" cy="4479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025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025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ระบบที่เสนอเปลี่ยนการตัดสินใจปิดจากการนับเวลาอย่างเดียว มาเป็นการตรวจสิ่งกีดขวางร่วมกับลำดับหยุดก่อนกลับทิศ และเพิ่มสถานะขัดข้องที่ต้องรีเซ็ตด้วยมือ</a:t>
            </a:r>
          </a:p>
          <a:p xmlns:a="http://schemas.openxmlformats.org/drawingml/2006/main">
            <a:pPr algn="ctr">
              <a:lnSpc>
                <a:spcPts val="3919"/>
              </a:lnSpc>
              <a:buNone/>
            </a:pPr>
            <a:r>
              <a:rPr sz="2799">
                <a:solidFill>
                  <a:srgbClr val="0D2648"/>
                </a:solidFill>
                <a:latin typeface="Muli"/>
                <a:ea typeface="Muli"/>
                <a:cs typeface="Muli"/>
              </a:rPr>
              <a:t/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2025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025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ข้อจำกัด ลำแสงสองระดับไม่ครอบคลุมทุกตำแหน่งในช่องประตู และผลที่ได้มาจากการจำลอง ยังไม่ได้วัดแรงหนีบหรือระยะหยุดบนชุดจริง</a:t>
            </a:r>
          </a:p>
          <a:p xmlns:a="http://schemas.openxmlformats.org/drawingml/2006/main">
            <a:pPr algn="ctr">
              <a:lnSpc>
                <a:spcPts val="3919"/>
              </a:lnSpc>
              <a:buNone/>
            </a:pPr>
            <a:r>
              <a:rPr sz="2799">
                <a:solidFill>
                  <a:srgbClr val="0D2648"/>
                </a:solidFill>
                <a:latin typeface="Muli"/>
                <a:ea typeface="Muli"/>
                <a:cs typeface="Muli"/>
              </a:rPr>
              <a:t/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2025">
                <a:solidFill>
                  <a:srgbClr val="0D2648"/>
                </a:solidFill>
                <a:latin typeface="Sukhumvit Set"/>
                <a:ea typeface="Sukhumvit Set"/>
                <a:cs typeface="Sukhumvit Set"/>
              </a:defRPr>
            </a:pPr>
            <a:r>
              <a:rPr sz="2025">
                <a:solidFill>
                  <a:srgbClr val="0D2648"/>
                </a:solidFill>
                <a:latin typeface="Sukhumvit Set"/>
                <a:ea typeface="Sukhumvit Set"/>
                <a:cs typeface="Sukhumvit Set"/>
              </a:rPr>
              <a:t>ขั้นถัดไป ประกอบชุดสาธิต วัดกระแสและระยะหยุด แล้วปรับเวลาหยุดก่อนกลับทิศตามผลวัดจริง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471DA850-AA44-48F2-AB93-141B0BDB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11363" y="3638326"/>
            <a:ext cx="11465272" cy="4600130"/>
          </a:xfrm>
          <a:custGeom xmlns:a="http://schemas.openxmlformats.org/drawingml/2006/main">
            <a:rect l="l" t="t" r="r" b="b"/>
            <a:pathLst>
              <a:path w="1897522" h="761329">
                <a:moveTo>
                  <a:pt x="0" y="0"/>
                </a:moveTo>
                <a:lnTo>
                  <a:pt x="1897522" y="0"/>
                </a:lnTo>
                <a:lnTo>
                  <a:pt x="1897522" y="761329"/>
                </a:lnTo>
                <a:lnTo>
                  <a:pt x="0" y="761329"/>
                </a:lnTo>
                <a:close/>
              </a:path>
            </a:pathLst>
          </a:custGeom>
          <a:solidFill xmlns:a="http://schemas.openxmlformats.org/drawingml/2006/main">
            <a:srgbClr val="77E8FF">
              <a:alpha val="10980"/>
            </a:srgbClr>
          </a:solid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4F3FD875-E035-4DF2-9D1A-EC40B7D2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11363" y="3408117"/>
            <a:ext cx="11465272" cy="4830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63158" tIns="63158" rIns="63158" bIns="63158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2362E048-9AAB-4D6B-ADC3-8BC9B57E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8241" y="3419669"/>
            <a:ext cx="1120135" cy="877778"/>
          </a:xfrm>
          <a:custGeom xmlns:a="http://schemas.openxmlformats.org/drawingml/2006/main">
            <a:rect l="l" t="t" r="r" b="b"/>
            <a:pathLst>
              <a:path w="1493514" h="1170372">
                <a:moveTo>
                  <a:pt x="0" y="0"/>
                </a:moveTo>
                <a:lnTo>
                  <a:pt x="1493514" y="0"/>
                </a:lnTo>
                <a:lnTo>
                  <a:pt x="1493514" y="1170372"/>
                </a:lnTo>
                <a:lnTo>
                  <a:pt x="0" y="117037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c6ac6ba5444d3c">
              <a:extLst>
                <a:ext uri="{96DAC541-7B7A-43D3-8B79-37D633B846F1}">
                  <asvg:svgBlip xmlns:asvg="http://schemas.microsoft.com/office/drawing/2016/SVG/main" r:embed="Re1e494c2f198411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B4A008FB-6D90-4EF5-B031-E7957946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013595" y="7601733"/>
            <a:ext cx="1120135" cy="877778"/>
          </a:xfrm>
          <a:custGeom xmlns:a="http://schemas.openxmlformats.org/drawingml/2006/main">
            <a:rect l="l" t="t" r="r" b="b"/>
            <a:pathLst>
              <a:path w="1493514" h="1170372">
                <a:moveTo>
                  <a:pt x="1493514" y="1170372"/>
                </a:moveTo>
                <a:lnTo>
                  <a:pt x="0" y="1170372"/>
                </a:lnTo>
                <a:lnTo>
                  <a:pt x="0" y="0"/>
                </a:lnTo>
                <a:lnTo>
                  <a:pt x="1493514" y="0"/>
                </a:lnTo>
                <a:lnTo>
                  <a:pt x="1493514" y="117037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c6ac6ba5444d3c">
              <a:extLst>
                <a:ext uri="{96DAC541-7B7A-43D3-8B79-37D633B846F1}">
                  <asvg:svgBlip xmlns:asvg="http://schemas.microsoft.com/office/drawing/2016/SVG/main" r:embed="Re1e494c2f198411b"/>
                </a:ext>
              </a:extLst>
            </a:blip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9900298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2026-09-17T07:38:38.3640000Z</dcterms:created>
  <dcterms:modified xsi:type="dcterms:W3CDTF">2026-09-17T07:38:38.3640000Z</dcterms:modified>
</coreProperties>
</file>