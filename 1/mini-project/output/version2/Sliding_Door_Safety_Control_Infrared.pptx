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07b911618d4cdf" /><Relationship Type="http://schemas.openxmlformats.org/officeDocument/2006/relationships/extended-properties" Target="/docProps/app.xml" Id="R38bfb7d8ca844410" /><Relationship Type="http://schemas.openxmlformats.org/officeDocument/2006/relationships/officeDocument" Target="/ppt/presentation.xml" Id="R988d3dc514a841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4a09f2885d4763"/>
  </p:sldMasterIdLst>
  <p:notesMasterIdLst>
    <p:notesMasterId xmlns:r="http://schemas.openxmlformats.org/officeDocument/2006/relationships" r:id="R3561ce7c4eaf4f41"/>
  </p:notesMasterIdLst>
  <p:sldIdLst>
    <p:sldId xmlns:r="http://schemas.openxmlformats.org/officeDocument/2006/relationships" id="256" r:id="R05f471491be84fd1"/>
    <p:sldId xmlns:r="http://schemas.openxmlformats.org/officeDocument/2006/relationships" id="257" r:id="R097a76d3a80c4196"/>
    <p:sldId xmlns:r="http://schemas.openxmlformats.org/officeDocument/2006/relationships" id="258" r:id="R84e40b53cc524306"/>
    <p:sldId xmlns:r="http://schemas.openxmlformats.org/officeDocument/2006/relationships" id="259" r:id="R9bfcac6815624655"/>
    <p:sldId xmlns:r="http://schemas.openxmlformats.org/officeDocument/2006/relationships" id="260" r:id="Rd05d4bd8fd7643a1"/>
    <p:sldId xmlns:r="http://schemas.openxmlformats.org/officeDocument/2006/relationships" id="261" r:id="Ref8bd84383ec4bd7"/>
    <p:sldId xmlns:r="http://schemas.openxmlformats.org/officeDocument/2006/relationships" id="262" r:id="R1eb7efd854964396"/>
    <p:sldId xmlns:r="http://schemas.openxmlformats.org/officeDocument/2006/relationships" id="263" r:id="R2ee226a3590f41b0"/>
    <p:sldId xmlns:r="http://schemas.openxmlformats.org/officeDocument/2006/relationships" id="264" r:id="Ra73475fc3ce74a64"/>
    <p:sldId xmlns:r="http://schemas.openxmlformats.org/officeDocument/2006/relationships" id="265" r:id="R62be63fd735d4606"/>
    <p:sldId xmlns:r="http://schemas.openxmlformats.org/officeDocument/2006/relationships" id="266" r:id="R74e4270622a54bef"/>
    <p:sldId xmlns:r="http://schemas.openxmlformats.org/officeDocument/2006/relationships" id="267" r:id="R92145e971fbc458c"/>
    <p:sldId xmlns:r="http://schemas.openxmlformats.org/officeDocument/2006/relationships" id="268" r:id="R1e80f8b7a3b54bed"/>
    <p:sldId xmlns:r="http://schemas.openxmlformats.org/officeDocument/2006/relationships" id="269" r:id="R3af1460540ed4603"/>
    <p:sldId xmlns:r="http://schemas.openxmlformats.org/officeDocument/2006/relationships" id="270" r:id="R81bf745037ef42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109cfcd90a4dd8" /><Relationship Type="http://schemas.openxmlformats.org/officeDocument/2006/relationships/slideMaster" Target="/ppt/slideMasters/slideMaster1.xml" Id="Rb34a09f2885d4763" /><Relationship Type="http://schemas.openxmlformats.org/officeDocument/2006/relationships/notesMaster" Target="/ppt/notesMasters/notesMaster1.xml" Id="R3561ce7c4eaf4f41" /><Relationship Type="http://schemas.openxmlformats.org/officeDocument/2006/relationships/presProps" Target="/ppt/presProps.xml" Id="R70f19442f63d4427" /><Relationship Type="http://schemas.openxmlformats.org/officeDocument/2006/relationships/tableStyles" Target="/ppt/tableStyles.xml" Id="Rb6f6cc82850945ea" /><Relationship Type="http://schemas.openxmlformats.org/officeDocument/2006/relationships/slide" Target="/ppt/slides/slide1.xml" Id="R05f471491be84fd1" /><Relationship Type="http://schemas.openxmlformats.org/officeDocument/2006/relationships/slide" Target="/ppt/slides/slide2.xml" Id="R097a76d3a80c4196" /><Relationship Type="http://schemas.openxmlformats.org/officeDocument/2006/relationships/slide" Target="/ppt/slides/slide3.xml" Id="R84e40b53cc524306" /><Relationship Type="http://schemas.openxmlformats.org/officeDocument/2006/relationships/slide" Target="/ppt/slides/slide4.xml" Id="R9bfcac6815624655" /><Relationship Type="http://schemas.openxmlformats.org/officeDocument/2006/relationships/slide" Target="/ppt/slides/slide5.xml" Id="Rd05d4bd8fd7643a1" /><Relationship Type="http://schemas.openxmlformats.org/officeDocument/2006/relationships/slide" Target="/ppt/slides/slide6.xml" Id="Ref8bd84383ec4bd7" /><Relationship Type="http://schemas.openxmlformats.org/officeDocument/2006/relationships/slide" Target="/ppt/slides/slide7.xml" Id="R1eb7efd854964396" /><Relationship Type="http://schemas.openxmlformats.org/officeDocument/2006/relationships/slide" Target="/ppt/slides/slide8.xml" Id="R2ee226a3590f41b0" /><Relationship Type="http://schemas.openxmlformats.org/officeDocument/2006/relationships/slide" Target="/ppt/slides/slide9.xml" Id="Ra73475fc3ce74a64" /><Relationship Type="http://schemas.openxmlformats.org/officeDocument/2006/relationships/slide" Target="/ppt/slides/slide10.xml" Id="R62be63fd735d4606" /><Relationship Type="http://schemas.openxmlformats.org/officeDocument/2006/relationships/slide" Target="/ppt/slides/slide11.xml" Id="R74e4270622a54bef" /><Relationship Type="http://schemas.openxmlformats.org/officeDocument/2006/relationships/slide" Target="/ppt/slides/slide12.xml" Id="R92145e971fbc458c" /><Relationship Type="http://schemas.openxmlformats.org/officeDocument/2006/relationships/slide" Target="/ppt/slides/slide13.xml" Id="R1e80f8b7a3b54bed" /><Relationship Type="http://schemas.openxmlformats.org/officeDocument/2006/relationships/slide" Target="/ppt/slides/slide14.xml" Id="R3af1460540ed4603" /><Relationship Type="http://schemas.openxmlformats.org/officeDocument/2006/relationships/slide" Target="/ppt/slides/slide15.xml" Id="R81bf745037ef42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8fa0a0cdaf43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562a28ef094fea" /><Relationship Type="http://schemas.openxmlformats.org/officeDocument/2006/relationships/notesMaster" Target="/ppt/notesMasters/notesMaster1.xml" Id="R97e6eb717d4244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45d4c04e994d12" /><Relationship Type="http://schemas.openxmlformats.org/officeDocument/2006/relationships/notesMaster" Target="/ppt/notesMasters/notesMaster1.xml" Id="R98eefb9a14b24e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cc4af7b9ff4f7d" /><Relationship Type="http://schemas.openxmlformats.org/officeDocument/2006/relationships/notesMaster" Target="/ppt/notesMasters/notesMaster1.xml" Id="R40f9ac29dc164d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b4c5b5de7f49ea" /><Relationship Type="http://schemas.openxmlformats.org/officeDocument/2006/relationships/notesMaster" Target="/ppt/notesMasters/notesMaster1.xml" Id="R0bbbfe40f8a740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49fca0c7e045df" /><Relationship Type="http://schemas.openxmlformats.org/officeDocument/2006/relationships/notesMaster" Target="/ppt/notesMasters/notesMaster1.xml" Id="R7e390617a39746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82127968804f60" /><Relationship Type="http://schemas.openxmlformats.org/officeDocument/2006/relationships/notesMaster" Target="/ppt/notesMasters/notesMaster1.xml" Id="Rc7911d29fed248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ed5f2c7ba5495d" /><Relationship Type="http://schemas.openxmlformats.org/officeDocument/2006/relationships/notesMaster" Target="/ppt/notesMasters/notesMaster1.xml" Id="R4903ddc405bf40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8ec1a0d3a64026" /><Relationship Type="http://schemas.openxmlformats.org/officeDocument/2006/relationships/notesMaster" Target="/ppt/notesMasters/notesMaster1.xml" Id="Rd05e4284587a41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66365716c742f0" /><Relationship Type="http://schemas.openxmlformats.org/officeDocument/2006/relationships/notesMaster" Target="/ppt/notesMasters/notesMaster1.xml" Id="R75f35412ae784d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80180a9794446f" /><Relationship Type="http://schemas.openxmlformats.org/officeDocument/2006/relationships/notesMaster" Target="/ppt/notesMasters/notesMaster1.xml" Id="Rcf720e04fe274a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dbb41160ea4f2b" /><Relationship Type="http://schemas.openxmlformats.org/officeDocument/2006/relationships/notesMaster" Target="/ppt/notesMasters/notesMaster1.xml" Id="R15f287cd07ca42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9dc1b10ab64812" /><Relationship Type="http://schemas.openxmlformats.org/officeDocument/2006/relationships/notesMaster" Target="/ppt/notesMasters/notesMaster1.xml" Id="R79fd2c2c991a46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6a89504d5048ec" /><Relationship Type="http://schemas.openxmlformats.org/officeDocument/2006/relationships/notesMaster" Target="/ppt/notesMasters/notesMaster1.xml" Id="R61e1c0362bcd48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47f073a7704439" /><Relationship Type="http://schemas.openxmlformats.org/officeDocument/2006/relationships/notesMaster" Target="/ppt/notesMasters/notesMaster1.xml" Id="R26681889e9c94e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c755e46f3b4ddf" /><Relationship Type="http://schemas.openxmlformats.org/officeDocument/2006/relationships/notesMaster" Target="/ppt/notesMasters/notesMaster1.xml" Id="Rb14f2969240a46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โครงงานประตูเลื่อนบานเดี่ยวนี้ใช้ AT89S52 ควบคุมมอเตอร์ผ่าน L293D ผู้ใช้เป็นผู้กดเปิดและกดปิดเอง ลำแสงอินฟราเรดใช้ตรวจวัตถุที่ตัดแนวแสงขณะกำลังปิด เมื่อพบสิ่งกีดขวางให้ตัดแรงขับ พักก่อนกลับทิศ เปิดกลับจนสุด แล้วค้างรอคนตรวจและกดปิดใหม่ ใช้กลไกชุดสาธิตระยะวิ่ง 200 มิลลิเมตร ไม่กล่าวอ้างว่าเป็นประตูนิรภัยที่ผ่านการรับรอง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ช่องแรกแสดงบริบทประตูบ้านที่คนกด PB_IN หรือ PB_OUT เพื่อเปิด และกด PB_CLOSE เพื่อปิด ช่องกลางแสดงสัตว์เลี้ยงเข้าช่องทางผ่านขณะบานกำลังเลื่อนซ้าย สวิตช์ LC ตรวจเพียงตำแหน่งปิดสุด ไม่ใช่เซนเซอร์การชน จึงไม่ตรวจพบสิ่งกีดขวางที่อยู่ระหว่างทาง ช่องขวาแสดงสภาพเปิดกลับจนสุดและไฟส้มติดค้างหลังตรวจพบการตัดลำแสง เซนเซอร์ทั้งสองยึดกับกรอบคงที่ และแนวแสงอยู่ด้านหน้าระนาบที่บานวิ่งเพื่อไม่ให้บานตัดลำแสงเอง เส้นประเป็นการแสดงแนวตรวจจับ เนื่องจากแสงอินฟราเรดมองไม่เห็นด้วยตา ภาพเป็นภาพอธิบาย ไม่ใช่ผลทดสอบชุดจริง</a:t>
            </a:r>
          </a:p>
          <a:p xmlns:a="http://schemas.openxmlformats.org/drawingml/2006/main">
            <a:r>
              <a:t>อ้างอิง: https://www.ia.omron.com/support/guide/43/introduction.html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กลไกชุดสาธิตกำหนดระยะเคลื่อนที่ 200 mm และเส้นผ่านศูนย์กลางพิตช์มู่เล่ย์ขับ 8 mm ซึ่งต้องตรวจความเข้ากันได้กับพิทช์สายพานจริง ใช้มอเตอร์ Pololu #3041 12V อัตราทด100.37:1 สำหรับโมเดลขนาดเล็ก ไม่ใช่ข้อยืนยันแรงบิดสำหรับประตูบ้านจริง มองจากปลายเพลาเข้าหามอเตอร์แล้ว CW ทำให้สายพานช่วงบนเคลื่อนไปขวา โดยต้องยึดบานกับสายพานช่วงบน LC อยู่ปลายซ้าย LO อยู่ปลายขวา ทิศต่อสายมอเตอร์ต้องตรวจจริงก่อนประกอบ STOP/Coast หมายถึงตัดแรงขับไม่ใช่เบรกไฟฟ้า ภาพไม่แสดงสเกลการผลิต</a:t>
            </a:r>
          </a:p>
          <a:p xmlns:a="http://schemas.openxmlformats.org/drawingml/2006/main">
            <a:r>
              <a:t>อ้างอิง: https://www.pololu.com/product/3041; Lab 2 หน้า11–13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เอาต์พุตมอเตอร์และไฟขึ้นกับสถานะตาม Moore machine ตัวแปร safety_seen บันทึกเหตุการเปิดกลับ ถ้าพบลำแสงขาดขณะปิดให้เป็น1 ถ้าเปิดกลับเพราะคนกดปุ่มเปิดให้เป็น0 เมื่อเปิดถึงLOจึงเลือกSAFETY_HOLDหรือOPEN_HOLD ไฟส้มติดเฉพาะSAFETY_HOLD เหตุการณ์OPEN_EVTและCLOSE_EVTเป็นการกดใหม่หลังกรองปุ่ม20ms ไม่ใช่ระดับขาค้าง เงื่อนไขปิดทุกเส้นต้องลำแสงปกติและปล่อยปุ่มเปิดทั้งสอง กรณีไม่มีเหตุการณ์ให้คงสถานะเดิม เริ่มระบบเมื่อLC=0และLO=1ที่CLOSED หรือLO=0และLC=1ที่OPEN_HOLD มิฉะนั้นตัดขับรอตรวจ ตัดENและ latch fault แยกเหนือสถานะปกติเมื่อE-stop ลิมิตขัดแย้ง หรือเคลื่อนที่เกิน5s</a:t>
            </a:r>
          </a:p>
          <a:p xmlns:a="http://schemas.openxmlformats.org/drawingml/2006/main">
            <a:r>
              <a:t>ค่า P1 คำนวณจากขาจริง P1.3และP1.7คง1; แหล่งข้อมูลขาพอร์ต: https://ww1.microchip.com/downloads/en/DeviceDoc/doc1919.pdf</a:t>
            </a:r>
          </a:p>
          <a:p xmlns:a="http://schemas.openxmlformats.org/drawingml/2006/main">
            <a:r>
              <a:t>หลักMoore machine: Lee &amp; Seshia, Introduction to Embedded Systems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ใช้ปุ่มเปิดภายในและภายนอกเป็นNOลงGND โดยกดแล้วอ่าน0 เมื่อเปิดจนLOทำงานจะจอดที่OPEN_HOLD ไม่เริ่มนับเวลาปิด คนต้องตรวจทางผ่านแล้วกดPB_CLOSEบนP2.5ใหม่ ระบบยอมปิดเมื่อBEAM_DET=1และปุ่มเปิดปล่อย เมื่อถึงLCให้หยุดแดง หากกำลังปิดแล้วลำแสงขาดให้เปิดกลับตามFSM การผ่านลำแสงหรือการพ้นแนวแสงไม่ใช่คำสั่งเปิดหรือปิดโดยลำพัง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วงจรเลือกตัวอย่างอ้างอิงOmron E3Z-T61 NPN Light-ON ผ่านVO617AและเกตSchmitt inverter SN74HCT14 ขา3เข้า4ออก เมื่อแสงผ่านทรานซิสเตอร์NPNรับกระแสจาก12V_Sผ่านR1.5kและLEDออปโต ออปโตดึงRAWต่ำและอินเวอร์เตอร์ให้BEAM_DETสูง เมื่อแสงขาด ออปโตดับ R10kดึงRAWสูง อินเวอร์เตอร์ให้BEAM_DETต่ำ วิธีนี้สายสัญญาณฝั่งเซนเซอร์เปิดหรือไฟเซนเซอร์หายจะถูกตีความว่าลำแสงขาด แต่ไม่ได้ตรวจความขัดข้องทุกชนิด เช่นสัญญาณค้าง ค่าR1.5k0.25Wเป็นค่าที่ออกแบบสำหรับ12Vและต้องตรวจIF,CTRที่อุณหภูมิจริง หากใช้PC817แทนต้องตรวจdatasheetรุ่นและCTRแยก แหล่ง12V_Sต้องแยกทางไฟฟ้าจาก0V_Lจึงคงgalvanic isolation ถ้าใช้แหล่งร่วมจะเป็นเพียงการแยกทางสัญญาณ C100nFใช้บายพาสไฟ5VของHCT14 ไม่ใช่ต่อคร่อมขาBEAM_DETเพราะจะเพิ่มเวลาตอบสนอง</a:t>
            </a:r>
          </a:p>
          <a:p xmlns:a="http://schemas.openxmlformats.org/drawingml/2006/main">
            <a:r>
              <a:t>อ้างอิง: https://www.ia.omron.com/data_pdf/cat/e3z_ds_e_18_8_csm438.pdf?id=407</a:t>
            </a:r>
          </a:p>
          <a:p xmlns:a="http://schemas.openxmlformats.org/drawingml/2006/main">
            <a:r>
              <a:t>https://www.vishay.com/docs/83430/vo617a.pdf</a:t>
            </a:r>
          </a:p>
          <a:p xmlns:a="http://schemas.openxmlformats.org/drawingml/2006/main">
            <a:r>
              <a:t>https://www.ti.com/lit/ds/symlink/sn74hct14.pdf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P1.0ต่อIN1ขา2,P1.1ต่อIN2ขา7และP1.2เป็นRUN_Nผ่านHCT14ขา1เข้า2ออกแล้วผ่านNC1ของE-stopไปENขา1 มีR10kดึงENลงเพื่อหยุดเมื่อNC1เปิด ขา3และ6ต่อมอเตอร์และR27ohm10Wอนุกรม ขา16ไฟ5Vขา8ไฟ12Vและกราวด์4,5,12,13ต่อกราวด์ลอจิกและมอเตอร์ร่วมกัน ขา9,10,15ที่ไม่ใช้ลงกราวด์ ขา11,14เว้น มี100nFใกล้ขาไฟไอซี และ470µF25Vใกล้ภาคมอเตอร์ SN74HCT14ใช้ไฟ5Vขา14กราวด์ขา7และอินพุตเกตที่ไม่ใช้ผูกระดับคงที่ LEDต่อ5Vผ่านR2.2kเข้าขาanodeแล้วcathodeต่อพอร์ตจึงactive-low EN=0ทำให้เอาต์พุตhigh impedance ไม่ได้ตัดแหล่งจ่าย12Vออกจากไอซี R27ให้ขอบเขตกระแสติดขัดแบบDCที่12Vประมาณ0.44Aโดยละเลยความต้านทานมอเตอร์และแรงดันตกคร่อมไดรเวอร์ ไม่ใช่ขอบเขตกระแสกระชากขณะกลับทิศ ต้องวัดกระแสและความร้อนรวมถึงderatingของตัวต้านทาน</a:t>
            </a:r>
          </a:p>
          <a:p xmlns:a="http://schemas.openxmlformats.org/drawingml/2006/main">
            <a:r>
              <a:t>อ้างอิง: https://www.ti.com/lit/ds/symlink/l293d.pdf</a:t>
            </a:r>
          </a:p>
          <a:p xmlns:a="http://schemas.openxmlformats.org/drawingml/2006/main">
            <a:r>
              <a:t>https://www.ti.com/lit/ds/symlink/sn74hct14.pdf</a:t>
            </a:r>
          </a:p>
          <a:p xmlns:a="http://schemas.openxmlformats.org/drawingml/2006/main">
            <a:r>
              <a:t>https://www.pololu.com/product/3041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P2เป็นอินพุตquasi-bidirectionalต้องเขียนlatchFFH ปุ่มNOต่อลงกราวด์และpullup10kไป5V ลิมิตNOactive-low ส่วนESTOP NC2ลงกราวด์จึงอ่าน1เมื่อกดหรือสายเปิด PB_CLOSEย้ายมาP2.5ขา26ตามสเปกฉบับนี้และใช้รีเซ็ตด้วยมือเฉพาะfaultโดยไม่เริ่มการเคลื่อนที่ P2.6ไม่ใช้ P0เป็นopen-drainต้องมีpullup10kแยกแต่ละบิตไป5V P0.0,1,2อยู่ขา39,38,37ตามลำดับ รหัสสถานะ0ถึง6ตามลำดับตารางและ7ใช้แสดงfault P1.3และ7คง1 LEDสามสีต่อactive-low</a:t>
            </a:r>
          </a:p>
          <a:p xmlns:a="http://schemas.openxmlformats.org/drawingml/2006/main">
            <a:r>
              <a:t>อ้างอิง: https://ww1.microchip.com/downloads/en/DeviceDoc/doc1919.pdf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ตารางคำนวณค่าพอร์ตจากตำแหน่งบิตจริง IN1=0 IN2=1 RUN_N=2 RED=4 GREEN=5 ORANGE=6 และบิต3กับ7คง1 ค่า P1 คือ EC, D9, DC, EA, FC, D9, BC ตามลำดับ ตัวอย่าง CLOSED ให้ IN1=0, IN2=0, RUN_N=1 และไฟแดงติด จึงได้ 11101100 ฐานสอง หรือ ECH ส่วน SAFETY_HOLD ให้มอเตอร์ตัดขับและไฟส้มติด จึงได้ 10111100 ฐานสอง หรือ BCH เอาต์พุตทุกแถวเป็นค่าในภาวะปกติ faultบังคับFCและP0รหัส7</a:t>
            </a:r>
          </a:p>
          <a:p xmlns:a="http://schemas.openxmlformats.org/drawingml/2006/main">
            <a:r>
              <a:t>อ้างอิง: https://ww1.microchip.com/downloads/en/DeviceDoc/doc1919.pdf</a:t>
            </a:r>
          </a:p>
          <a:p xmlns:a="http://schemas.openxmlformats.org/drawingml/2006/main">
            <a:r>
              <a:t>https://www.ti.com/lit/ds/symlink/l293d.pdf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OPEN_EVTมาจากPB_INหรือPB_OUTกดใหม่ CLOSE_EVTมาจากPB_CLOSEP2.5กดใหม่ โดยต้องปล่อยหลังเข้ารอและกรอง20ms หากกดขณะลำแสงขาดให้ทิ้งเหตุการณ์ ไม่เก็บรอให้แสงกลับแล้วปิดเอง ในCLOSINGตรวจBEAMก่อนLC เมื่อหยุดเพราะลำแสงขาดให้safety_seen=1และคงจนเปิดสุด กดเปิดขณะปิดก็ให้เปิดกลับหลังcoastแต่safety_seen=0และจบOPEN_HOLD ตารางปกติไม่แทนการตรวจESTOPและfaultที่มีลำดับสูงกว่า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เวลา20msใช้กรองปุ่ม ไม่หน่วงBEAM_DETด้วยวิธีเดียวกัน 8051แบบ12Tที่12MHzมีmachinecycle1us Timer0mode1เสนอโหลดFC18Hเพื่อนับ1000cycle แต่ISRและการโหลดใหม่มีoverheadที่ต้องวัด ช่วง200msเป็นcoastก่อนกลับทิศ ลดแรงกระชากทางกลและกระแสกลับทิศ ไม่ใช่dynamic brakingและไม่รับประกันว่าเพลาหยุดสนิท Waveformเป็นลำดับเชิงตรรกะไม่ใช่ข้อมูลoscilloscope t0ตรวจพบbeam, t1ซอฟต์แวร์SETB RUN_N,แล้วMOV P1FCทำให้INคู่00 ขณะENต่ำ t2หลังอย่างน้อย200msเตรียมทิศ10โดยRUN_Nยัง1, t3จึงเปิดEN ไม่อ้างlatencyต่ำกว่า1usเพราะรวมsensoroptoinverterpolling8051และL293D เวลาจริงของทุกส่วนต้องวัด</a:t>
            </a:r>
          </a:p>
          <a:p xmlns:a="http://schemas.openxmlformats.org/drawingml/2006/main">
            <a:r>
              <a:t>อ้างอิง: https://ww1.microchip.com/downloads/en/DeviceDoc/doc1919.pdf</a:t>
            </a:r>
          </a:p>
          <a:p xmlns:a="http://schemas.openxmlformats.org/drawingml/2006/main">
            <a:r>
              <a:t>https://www.ti.com/lit/ds/symlink/l293d.pdf</a:t>
            </a:r>
          </a:p>
          <a:p xmlns:a="http://schemas.openxmlformats.org/drawingml/2006/main">
            <a:r>
              <a:t>https://www.vishay.com/docs/83430/vo617a.pdf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เข้าถึงLOหลังเปิดกลับด้วยเหตุbeamแล้วให้ไฟส้มติดค้างและล้างclose_armed เริ่มรับคำสั่งได้หลังเห็นPB_CLOSEเป็น1คงที่อย่างน้อย20ms นับหลังเข้าถึงสถานะนี้ ถ้าคนกดค้างมาก่อนต้องไม่ยอมรับ คนตรวจช่องทางผ่านให้ว่างแล้วกดใหม่จน0คงที่20ms พร้อมBEAM_DET=1และปุ่มเปิดปล่อยจึงปิด หากกดตอนbeamขาดให้ทิ้งคำสั่ง ต้องปล่อยใหม่ ไม่ปิดเมื่อสิ่งกีดขวางออกจากลำแสงเอง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ตัวอย่างนี้เป็นส่วนของstatehandler ไม่ใช่เฟิร์มแวร์ที่ประกอบและจำลองครบแล้ว เมื่อตรวจพบP2.2เป็น0ให้SETB P1.2ก่อนMOV P1FC ตั้งSAFETY_SEENและเรียกENTER_REV_WAITให้เริ่มตัวจับเวลา200msแล้วกลับMAIN โดยไม่บล็อกลูปกลางให้รอ200ms เพื่อให้ยังตรวจESTOPและfaultได้ขณะcoast เมื่อครบเวลาให้เขียนทิศCWโดยRUN_Nยัง1 เช่นDDHก่อนCLR P1.2ให้D9H การใส่MOV R7,#200แล้วLCALL Delay_msอย่างเดียวจะปลอดภัยได้ก็ต่อเมื่อซับรูทีนบริการเหตุฉุกเฉินต่อเนื่อง จึงเลือกstateและtimerแยกให้ชัดเจน</a:t>
            </a:r>
          </a:p>
          <a:p xmlns:a="http://schemas.openxmlformats.org/drawingml/2006/main">
            <a:r>
              <a:t>อ้างอิงชุดคำสั่งและพอร์ต: https://ww1.microchip.com/downloads/en/DeviceDoc/doc1919.pdf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ผลที่ทำจริงคือรันแบบจำลองPythonสำหรับระบบBEAMฉบับนี้21กรณีผ่านทั้งหมด ก้าวเวลาอุดมคติ1ms ตรวจค่าพอร์ต ช่วงcoast เหตุเปิดปิด interlock การกดค้าง beamก่อนLC และfault ผลนี้ไม่ใช่EdSim51หรือฮาร์ดแวร์ ขั้นถัดไปคือทำเฟิร์มแวร์ฉบับนี้ให้ครบแล้วทดสอบในEdSim51และวัดชุดจริง รายการbenchใช้วัตถุจำลองก่อน ห้ามใช้เด็กหรือสัตว์ทดสอบความปลอดภัย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Through-beamตรวจวัตถุทึบที่บังแนวแสง ไม่ได้ตรวจพื้นที่ทั้งหมดของช่องประตู ตำแหน่งติดตั้งต้องเหมาะกับขาสัตว์เลี้ยงหรือเด็กและมีบริเวณที่ตรวจไม่ถึง เช่นเหนือหรือต่ำกว่าแนวแสง การใช้diffuse-reflectiveทั่วไปไม่ใช่วิธีแก้ที่รับประกันการตรวจวัตถุใสหรือเงา ต้องเลือกเซนเซอร์สำหรับวัตถุใสหรือretro-reflectiveที่เหมาะและทดสอบกับชิ้นงานจริง วงจรLight-ONในสไลด์ช่วยตีความสายเปิดและไฟเซนเซอร์ดับเป็นการขาดลำแสง แต่ยังไม่มีการตรวจความเสียหายแบบซ้ำซ้อนหรือsafety-ratedoutput จึงเป็นชุดสาธิตเพื่อการศึกษา ไม่ใช่ตัวควบคุมประตูที่ผ่านการรับรองSIL ภาพระบบบ้านแสดงบริบทส่วนมอเตอร์และระยะ200mmเป็นต้นแบบบนโต๊ะ</a:t>
            </a:r>
          </a:p>
          <a:p xmlns:a="http://schemas.openxmlformats.org/drawingml/2006/main">
            <a:r>
              <a:t>อ้างอิง: https://www.ia.omron.com/support/guide/43/introduction.html</a:t>
            </a:r>
          </a:p>
          <a:p xmlns:a="http://schemas.openxmlformats.org/drawingml/2006/main">
            <a:r>
              <a:t>https://www.ia.omron.com/data_pdf/cat/e3z_ds_e_18_8_csm438.pdf?id=407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7092897ee49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4c29568f9749e7" /><Relationship Type="http://schemas.openxmlformats.org/officeDocument/2006/relationships/slideLayout" Target="/ppt/slideLayouts/slideLayout1.xml" Id="R69f94437810b42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f94437810b42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33b37119e4092" /><Relationship Type="http://schemas.openxmlformats.org/officeDocument/2006/relationships/notesSlide" Target="/ppt/notesSlides/notesSlide1.xml" Id="R26aa4349cb7a4c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ec7112894437e" /><Relationship Type="http://schemas.openxmlformats.org/officeDocument/2006/relationships/image" Target="/ppt/media/image.png" Id="Rc9c8098a098e46ce" /><Relationship Type="http://schemas.openxmlformats.org/officeDocument/2006/relationships/notesSlide" Target="/ppt/notesSlides/notesSlide2.xml" Id="R5ce8c60d5d124c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e6a17304e4225" /><Relationship Type="http://schemas.openxmlformats.org/officeDocument/2006/relationships/image" Target="/ppt/media/image2.png" Id="R641a430537bb4996" /><Relationship Type="http://schemas.openxmlformats.org/officeDocument/2006/relationships/notesSlide" Target="/ppt/notesSlides/notesSlide3.xml" Id="R23d25a8a576841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91ed497ac4adb" /><Relationship Type="http://schemas.openxmlformats.org/officeDocument/2006/relationships/notesSlide" Target="/ppt/notesSlides/notesSlide4.xml" Id="R7e88301c28c747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0f86e37ed4eba" /><Relationship Type="http://schemas.openxmlformats.org/officeDocument/2006/relationships/notesSlide" Target="/ppt/notesSlides/notesSlide5.xml" Id="R55b2ed17a0a84a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49e889ff34fde" /><Relationship Type="http://schemas.openxmlformats.org/officeDocument/2006/relationships/notesSlide" Target="/ppt/notesSlides/notesSlide6.xml" Id="Rbea833e3f10241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a6e82b25e4cb0" /><Relationship Type="http://schemas.openxmlformats.org/officeDocument/2006/relationships/notesSlide" Target="/ppt/notesSlides/notesSlide7.xml" Id="R569e672fb6f945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b75d6a8d74ab8" /><Relationship Type="http://schemas.openxmlformats.org/officeDocument/2006/relationships/notesSlide" Target="/ppt/notesSlides/notesSlide8.xml" Id="R35afbed4e2844b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bb0a1d8c844f1" /><Relationship Type="http://schemas.openxmlformats.org/officeDocument/2006/relationships/notesSlide" Target="/ppt/notesSlides/notesSlide9.xml" Id="R7a75103b289146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f8b5e1b7244a7" /><Relationship Type="http://schemas.openxmlformats.org/officeDocument/2006/relationships/notesSlide" Target="/ppt/notesSlides/notesSlide10.xml" Id="Rbf5f5ea136044e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62b3b313f4aab" /><Relationship Type="http://schemas.openxmlformats.org/officeDocument/2006/relationships/notesSlide" Target="/ppt/notesSlides/notesSlide11.xml" Id="Rff653bf92e7046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70328ca1041e8" /><Relationship Type="http://schemas.openxmlformats.org/officeDocument/2006/relationships/notesSlide" Target="/ppt/notesSlides/notesSlide12.xml" Id="Rc8377afe31a048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2e54655ac4dcf" /><Relationship Type="http://schemas.openxmlformats.org/officeDocument/2006/relationships/notesSlide" Target="/ppt/notesSlides/notesSlide13.xml" Id="R0be6ee1fa73d40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32e6be9ed4ffe" /><Relationship Type="http://schemas.openxmlformats.org/officeDocument/2006/relationships/notesSlide" Target="/ppt/notesSlides/notesSlide14.xml" Id="R278213483d4a41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ad94b5a8744f9" /><Relationship Type="http://schemas.openxmlformats.org/officeDocument/2006/relationships/notesSlide" Target="/ppt/notesSlides/notesSlide15.xml" Id="R8e05c0e5c61241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ir-1">
            <a:extLst xmlns:a="http://schemas.openxmlformats.org/drawingml/2006/main">
              <a:ext uri="{FF2B5EF4-FFF2-40B4-BE49-F238E27FC236}">
                <a16:creationId xmlns:a16="http://schemas.microsoft.com/office/drawing/2014/main" id="{1B1B7182-1E6D-4F6A-829A-BDFB4121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25" b="1">
                <a:solidFill>
                  <a:srgbClr val="0284C7"/>
                </a:solidFill>
                <a:latin typeface="Prompt"/>
                <a:ea typeface="Prompt"/>
                <a:cs typeface="Prompt"/>
              </a:defRPr>
            </a:pPr>
            <a:r>
              <a:rPr sz="1425" b="1">
                <a:solidFill>
                  <a:srgbClr val="0284C7"/>
                </a:solidFill>
                <a:latin typeface="Prompt"/>
                <a:ea typeface="Prompt"/>
                <a:cs typeface="Prompt"/>
              </a:rPr>
              <a:t>305341  EMBEDDED SYSTEMS 1</a:t>
            </a:r>
          </a:p>
        </p:txBody>
      </p:sp>
      <p:sp>
        <p:nvSpPr>
          <p:cNvPr id="2" name="ir-2">
            <a:extLst xmlns:a="http://schemas.openxmlformats.org/drawingml/2006/main">
              <a:ext uri="{FF2B5EF4-FFF2-40B4-BE49-F238E27FC236}">
                <a16:creationId xmlns:a16="http://schemas.microsoft.com/office/drawing/2014/main" id="{D566B752-0E4D-4242-8E11-DE86B454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5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5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ระบบควบคุมความปลอดภัยประตูเลื่อนบานเดี่ยว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5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5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ด้วยโฟโต้เซนเซอร์กันหนีบ</a:t>
            </a:r>
          </a:p>
        </p:txBody>
      </p:sp>
      <p:sp>
        <p:nvSpPr>
          <p:cNvPr id="3" name="ir-3">
            <a:extLst xmlns:a="http://schemas.openxmlformats.org/drawingml/2006/main">
              <a:ext uri="{FF2B5EF4-FFF2-40B4-BE49-F238E27FC236}">
                <a16:creationId xmlns:a16="http://schemas.microsoft.com/office/drawing/2014/main" id="{16216484-395C-4C8C-8B71-E7F245D3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725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725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Single-Panel Sliding Door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725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725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with Infrared Safety Beam Anti-Pinch Control</a:t>
            </a:r>
          </a:p>
        </p:txBody>
      </p:sp>
      <p:sp>
        <p:nvSpPr>
          <p:cNvPr id="4" name="ir-4">
            <a:extLst xmlns:a="http://schemas.openxmlformats.org/drawingml/2006/main">
              <a:ext uri="{FF2B5EF4-FFF2-40B4-BE49-F238E27FC236}">
                <a16:creationId xmlns:a16="http://schemas.microsoft.com/office/drawing/2014/main" id="{06656431-BCF1-448C-976C-CB8EDD07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>
                <a:solidFill>
                  <a:srgbClr val="0284C7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0284C7"/>
                </a:solidFill>
                <a:latin typeface="Sarabun"/>
                <a:ea typeface="Sarabun"/>
                <a:cs typeface="Sarabun"/>
              </a:rPr>
              <a:t>Mini-Project · AT89S52 8051 Architecture</a:t>
            </a:r>
          </a:p>
        </p:txBody>
      </p:sp>
      <p:sp>
        <p:nvSpPr>
          <p:cNvPr id="5" name="ir-5">
            <a:extLst xmlns:a="http://schemas.openxmlformats.org/drawingml/2006/main">
              <a:ext uri="{FF2B5EF4-FFF2-40B4-BE49-F238E27FC236}">
                <a16:creationId xmlns:a16="http://schemas.microsoft.com/office/drawing/2014/main" id="{B4503452-1804-4E7B-BEA4-78D79A36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7010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6" name="ir-6">
            <a:extLst xmlns:a="http://schemas.openxmlformats.org/drawingml/2006/main">
              <a:ext uri="{FF2B5EF4-FFF2-40B4-BE49-F238E27FC236}">
                <a16:creationId xmlns:a16="http://schemas.microsoft.com/office/drawing/2014/main" id="{CBB192A6-1084-4FBC-B360-35387BA9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4095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>
                <a:solidFill>
                  <a:srgbClr val="0F172A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  <a:cs typeface="Sarabun"/>
              </a:rPr>
              <a:t>66362416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>
                <a:solidFill>
                  <a:srgbClr val="0F172A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  <a:cs typeface="Sarabun"/>
              </a:rPr>
              <a:t>Theeraphat Phuraya</a:t>
            </a:r>
          </a:p>
        </p:txBody>
      </p:sp>
      <p:sp>
        <p:nvSpPr>
          <p:cNvPr id="7" name="ir-7">
            <a:extLst xmlns:a="http://schemas.openxmlformats.org/drawingml/2006/main">
              <a:ext uri="{FF2B5EF4-FFF2-40B4-BE49-F238E27FC236}">
                <a16:creationId xmlns:a16="http://schemas.microsoft.com/office/drawing/2014/main" id="{469524DB-A6B3-4FC7-8F5C-A9B202C3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4095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>
                <a:solidFill>
                  <a:srgbClr val="0F172A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  <a:cs typeface="Sarabun"/>
              </a:rPr>
              <a:t>66363116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>
                <a:solidFill>
                  <a:srgbClr val="0F172A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  <a:cs typeface="Sarabun"/>
              </a:rPr>
              <a:t>Pranpreeya Sriyong</a:t>
            </a:r>
          </a:p>
        </p:txBody>
      </p:sp>
      <p:sp>
        <p:nvSpPr>
          <p:cNvPr id="8" name="ir-8">
            <a:extLst xmlns:a="http://schemas.openxmlformats.org/drawingml/2006/main">
              <a:ext uri="{FF2B5EF4-FFF2-40B4-BE49-F238E27FC236}">
                <a16:creationId xmlns:a16="http://schemas.microsoft.com/office/drawing/2014/main" id="{21F988FC-09A1-4BB2-A010-287C82EC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Advisor: Dr. Saengchai Mangkornthong</a:t>
            </a:r>
          </a:p>
        </p:txBody>
      </p:sp>
    </p:spTree>
    <p:extLst>
      <p:ext uri="{BB962C8B-B14F-4D97-AF65-F5344CB8AC3E}">
        <p14:creationId xmlns:p14="http://schemas.microsoft.com/office/powerpoint/2010/main" val="1687902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ir-9">
            <a:extLst xmlns:a="http://schemas.openxmlformats.org/drawingml/2006/main">
              <a:ext uri="{FF2B5EF4-FFF2-40B4-BE49-F238E27FC236}">
                <a16:creationId xmlns:a16="http://schemas.microsoft.com/office/drawing/2014/main" id="{04A1ECA1-4761-4FD8-9490-9F8CB2E0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สถานการณ์ปัญหาและการตรวจจับด้วยลำแสง</a:t>
            </a:r>
          </a:p>
        </p:txBody>
      </p:sp>
      <p:sp>
        <p:nvSpPr>
          <p:cNvPr id="2" name="ir-10">
            <a:extLst xmlns:a="http://schemas.openxmlformats.org/drawingml/2006/main">
              <a:ext uri="{FF2B5EF4-FFF2-40B4-BE49-F238E27FC236}">
                <a16:creationId xmlns:a16="http://schemas.microsoft.com/office/drawing/2014/main" id="{B5CB26B7-E8DF-4B83-84C4-1F72002B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Problem Scenario &amp; Optical Safety Mechanism</a:t>
            </a:r>
          </a:p>
        </p:txBody>
      </p:sp>
      <p:sp>
        <p:nvSpPr>
          <p:cNvPr id="3" name="ir-11">
            <a:extLst xmlns:a="http://schemas.openxmlformats.org/drawingml/2006/main">
              <a:ext uri="{FF2B5EF4-FFF2-40B4-BE49-F238E27FC236}">
                <a16:creationId xmlns:a16="http://schemas.microsoft.com/office/drawing/2014/main" id="{A833246C-7993-41D5-A13B-DBFC2B42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12">
            <a:extLst xmlns:a="http://schemas.openxmlformats.org/drawingml/2006/main">
              <a:ext uri="{FF2B5EF4-FFF2-40B4-BE49-F238E27FC236}">
                <a16:creationId xmlns:a16="http://schemas.microsoft.com/office/drawing/2014/main" id="{CC572D9B-1AB2-4DB5-B979-A383AF9D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8098a098e46ce"/>
          <a:stretch xmlns:a="http://schemas.openxmlformats.org/drawingml/2006/main"/>
        </p:blipFill>
        <p:spPr>
          <a:xfrm xmlns:a="http://schemas.openxmlformats.org/drawingml/2006/main">
            <a:off x="766763" y="1752600"/>
            <a:ext cx="10658475" cy="3552825"/>
          </a:xfrm>
          <a:prstGeom xmlns:a="http://schemas.openxmlformats.org/drawingml/2006/main" prst="rect">
            <a:avLst/>
          </a:prstGeom>
        </p:spPr>
      </p:pic>
      <p:sp>
        <p:nvSpPr>
          <p:cNvPr id="6" name="ir-13">
            <a:extLst xmlns:a="http://schemas.openxmlformats.org/drawingml/2006/main">
              <a:ext uri="{FF2B5EF4-FFF2-40B4-BE49-F238E27FC236}">
                <a16:creationId xmlns:a16="http://schemas.microsoft.com/office/drawing/2014/main" id="{1B1637CB-53E8-4E43-9FA8-06C3D4B8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284C7"/>
                </a:solidFill>
                <a:latin typeface="Prompt"/>
                <a:ea typeface="Prompt"/>
                <a:cs typeface="Prompt"/>
              </a:defRPr>
            </a:pPr>
            <a:r>
              <a:rPr sz="1500" b="1">
                <a:solidFill>
                  <a:srgbClr val="0284C7"/>
                </a:solidFill>
                <a:latin typeface="Prompt"/>
                <a:ea typeface="Prompt"/>
                <a:cs typeface="Prompt"/>
              </a:rPr>
              <a:t>01  คนกดเปิดและปิด</a:t>
            </a:r>
          </a:p>
        </p:txBody>
      </p:sp>
      <p:sp>
        <p:nvSpPr>
          <p:cNvPr id="7" name="ir-14">
            <a:extLst xmlns:a="http://schemas.openxmlformats.org/drawingml/2006/main">
              <a:ext uri="{FF2B5EF4-FFF2-40B4-BE49-F238E27FC236}">
                <a16:creationId xmlns:a16="http://schemas.microsoft.com/office/drawing/2014/main" id="{47B1E8BC-B604-42B4-A9B4-EBB76B48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3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23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PB_IN · PB_OUT · PB_CLOSE</a:t>
            </a:r>
          </a:p>
        </p:txBody>
      </p:sp>
      <p:sp>
        <p:nvSpPr>
          <p:cNvPr id="8" name="ir-15">
            <a:extLst xmlns:a="http://schemas.openxmlformats.org/drawingml/2006/main">
              <a:ext uri="{FF2B5EF4-FFF2-40B4-BE49-F238E27FC236}">
                <a16:creationId xmlns:a16="http://schemas.microsoft.com/office/drawing/2014/main" id="{C02E1FF0-7219-4D70-B4E4-5BE032C6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0067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DC2626"/>
                </a:solidFill>
                <a:latin typeface="Prompt"/>
                <a:ea typeface="Prompt"/>
                <a:cs typeface="Prompt"/>
              </a:defRPr>
            </a:pPr>
            <a:r>
              <a:rPr sz="1500" b="1">
                <a:solidFill>
                  <a:srgbClr val="DC2626"/>
                </a:solidFill>
                <a:latin typeface="Prompt"/>
                <a:ea typeface="Prompt"/>
                <a:cs typeface="Prompt"/>
              </a:rPr>
              <a:t>02  เสี่ยงหนีบระหว่างปิด</a:t>
            </a:r>
          </a:p>
        </p:txBody>
      </p:sp>
      <p:sp>
        <p:nvSpPr>
          <p:cNvPr id="9" name="ir-16">
            <a:extLst xmlns:a="http://schemas.openxmlformats.org/drawingml/2006/main">
              <a:ext uri="{FF2B5EF4-FFF2-40B4-BE49-F238E27FC236}">
                <a16:creationId xmlns:a16="http://schemas.microsoft.com/office/drawing/2014/main" id="{122300EB-A81F-4C82-8C63-D3EF2536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724525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3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23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LC ตรวจปลายทาง ไม่ตรวจสิ่งกีดขวาง</a:t>
            </a:r>
          </a:p>
        </p:txBody>
      </p:sp>
      <p:sp>
        <p:nvSpPr>
          <p:cNvPr id="10" name="ir-17">
            <a:extLst xmlns:a="http://schemas.openxmlformats.org/drawingml/2006/main">
              <a:ext uri="{FF2B5EF4-FFF2-40B4-BE49-F238E27FC236}">
                <a16:creationId xmlns:a16="http://schemas.microsoft.com/office/drawing/2014/main" id="{14B9460B-B117-4A7B-8CF3-EF266D69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0067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EA580C"/>
                </a:solidFill>
                <a:latin typeface="Prompt"/>
                <a:ea typeface="Prompt"/>
                <a:cs typeface="Prompt"/>
              </a:defRPr>
            </a:pPr>
            <a:r>
              <a:rPr sz="1500" b="1">
                <a:solidFill>
                  <a:srgbClr val="EA580C"/>
                </a:solidFill>
                <a:latin typeface="Prompt"/>
                <a:ea typeface="Prompt"/>
                <a:cs typeface="Prompt"/>
              </a:rPr>
              <a:t>03  พบสิ่งกีดขวางแล้วเปิดกลับ</a:t>
            </a:r>
          </a:p>
        </p:txBody>
      </p:sp>
      <p:sp>
        <p:nvSpPr>
          <p:cNvPr id="11" name="ir-18">
            <a:extLst xmlns:a="http://schemas.openxmlformats.org/drawingml/2006/main">
              <a:ext uri="{FF2B5EF4-FFF2-40B4-BE49-F238E27FC236}">
                <a16:creationId xmlns:a16="http://schemas.microsoft.com/office/drawing/2014/main" id="{8CBAF6E9-3E10-4A15-874E-72E9DBD5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24525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3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23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Coast 200 ms → เปิดสุด → SAFETY_HOLD</a:t>
            </a:r>
          </a:p>
        </p:txBody>
      </p:sp>
      <p:sp>
        <p:nvSpPr>
          <p:cNvPr id="12" name="ir-19">
            <a:extLst xmlns:a="http://schemas.openxmlformats.org/drawingml/2006/main">
              <a:ext uri="{FF2B5EF4-FFF2-40B4-BE49-F238E27FC236}">
                <a16:creationId xmlns:a16="http://schemas.microsoft.com/office/drawing/2014/main" id="{74C51AA7-6F2B-40CD-8035-8DCBB8A4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แนวแสงแสดงด้วยเส้นประ   ประตูเปิดค้างจนคนตรวจทางผ่านและกดปิดใหม่</a:t>
            </a:r>
          </a:p>
        </p:txBody>
      </p:sp>
    </p:spTree>
    <p:extLst>
      <p:ext uri="{BB962C8B-B14F-4D97-AF65-F5344CB8AC3E}">
        <p14:creationId xmlns:p14="http://schemas.microsoft.com/office/powerpoint/2010/main" val="1377547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ir-20">
            <a:extLst xmlns:a="http://schemas.openxmlformats.org/drawingml/2006/main">
              <a:ext uri="{FF2B5EF4-FFF2-40B4-BE49-F238E27FC236}">
                <a16:creationId xmlns:a16="http://schemas.microsoft.com/office/drawing/2014/main" id="{F9E96E82-534D-4462-B06D-4EA30206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โครงสร้างเชิงกลและทิศทางเพลามอเตอร์</a:t>
            </a:r>
          </a:p>
        </p:txBody>
      </p:sp>
      <p:sp>
        <p:nvSpPr>
          <p:cNvPr id="2" name="ir-21">
            <a:extLst xmlns:a="http://schemas.openxmlformats.org/drawingml/2006/main">
              <a:ext uri="{FF2B5EF4-FFF2-40B4-BE49-F238E27FC236}">
                <a16:creationId xmlns:a16="http://schemas.microsoft.com/office/drawing/2014/main" id="{DF169853-0AE2-4C61-85CE-7F045062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Mechanical Configuration &amp; Drive Direction</a:t>
            </a:r>
          </a:p>
        </p:txBody>
      </p:sp>
      <p:sp>
        <p:nvSpPr>
          <p:cNvPr id="3" name="ir-22">
            <a:extLst xmlns:a="http://schemas.openxmlformats.org/drawingml/2006/main">
              <a:ext uri="{FF2B5EF4-FFF2-40B4-BE49-F238E27FC236}">
                <a16:creationId xmlns:a16="http://schemas.microsoft.com/office/drawing/2014/main" id="{0D17C4C1-046E-4C5B-8F45-567CC858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23">
            <a:extLst xmlns:a="http://schemas.openxmlformats.org/drawingml/2006/main">
              <a:ext uri="{FF2B5EF4-FFF2-40B4-BE49-F238E27FC236}">
                <a16:creationId xmlns:a16="http://schemas.microsoft.com/office/drawing/2014/main" id="{3B64143E-D637-4BA1-B9AE-D9BE8EB6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" name="ir-24">
            <a:extLst xmlns:a="http://schemas.openxmlformats.org/drawingml/2006/main">
              <a:ext uri="{FF2B5EF4-FFF2-40B4-BE49-F238E27FC236}">
                <a16:creationId xmlns:a16="http://schemas.microsoft.com/office/drawing/2014/main" id="{52D4F3D5-17B9-413E-B2D8-E442B4C1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51816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a430537bb4996"/>
          <a:stretch xmlns:a="http://schemas.openxmlformats.org/drawingml/2006/main"/>
        </p:blipFill>
        <p:spPr>
          <a:xfrm xmlns:a="http://schemas.openxmlformats.org/drawingml/2006/main">
            <a:off x="857250" y="2210244"/>
            <a:ext cx="4991100" cy="2808986"/>
          </a:xfrm>
          <a:prstGeom xmlns:a="http://schemas.openxmlformats.org/drawingml/2006/main" prst="rect">
            <a:avLst/>
          </a:prstGeom>
        </p:spPr>
      </p:pic>
      <p:sp>
        <p:nvSpPr>
          <p:cNvPr id="7" name="ir-25">
            <a:extLst xmlns:a="http://schemas.openxmlformats.org/drawingml/2006/main">
              <a:ext uri="{FF2B5EF4-FFF2-40B4-BE49-F238E27FC236}">
                <a16:creationId xmlns:a16="http://schemas.microsoft.com/office/drawing/2014/main" id="{2FD2081A-46BF-49E6-9E93-DFA806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284C7"/>
                </a:solidFill>
                <a:latin typeface="Prompt"/>
                <a:ea typeface="Prompt"/>
                <a:cs typeface="Prompt"/>
              </a:defRPr>
            </a:pPr>
            <a:r>
              <a:rPr sz="1575" b="1">
                <a:solidFill>
                  <a:srgbClr val="0284C7"/>
                </a:solidFill>
                <a:latin typeface="Prompt"/>
                <a:ea typeface="Prompt"/>
                <a:cs typeface="Prompt"/>
              </a:rPr>
              <a:t>ชุดสาธิตระยะวิ่ง 200 mm</a:t>
            </a:r>
          </a:p>
        </p:txBody>
      </p:sp>
      <p:sp>
        <p:nvSpPr>
          <p:cNvPr id="8" name="ir-26">
            <a:extLst xmlns:a="http://schemas.openxmlformats.org/drawingml/2006/main">
              <a:ext uri="{FF2B5EF4-FFF2-40B4-BE49-F238E27FC236}">
                <a16:creationId xmlns:a16="http://schemas.microsoft.com/office/drawing/2014/main" id="{0028CE16-9D24-4D08-BF7A-98F61D57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4724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ยึดบานกับสายพานช่วงบน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ติดหัวส่งและหัวรับบนกรอบคงที่</a:t>
            </a:r>
          </a:p>
        </p:txBody>
      </p:sp>
      <p:sp>
        <p:nvSpPr>
          <p:cNvPr id="9" name="ir-27">
            <a:extLst xmlns:a="http://schemas.openxmlformats.org/drawingml/2006/main">
              <a:ext uri="{FF2B5EF4-FFF2-40B4-BE49-F238E27FC236}">
                <a16:creationId xmlns:a16="http://schemas.microsoft.com/office/drawing/2014/main" id="{75ADBF53-0683-465B-8CCB-E8952D24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1816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ir-28">
            <a:extLst xmlns:a="http://schemas.openxmlformats.org/drawingml/2006/main">
              <a:ext uri="{FF2B5EF4-FFF2-40B4-BE49-F238E27FC236}">
                <a16:creationId xmlns:a16="http://schemas.microsoft.com/office/drawing/2014/main" id="{81BC753C-705D-4582-812B-2AA57337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284C7"/>
            </a:solidFill>
          </a:ln>
        </p:spPr>
      </p:sp>
      <p:sp>
        <p:nvSpPr>
          <p:cNvPr id="11" name="ir-29">
            <a:extLst xmlns:a="http://schemas.openxmlformats.org/drawingml/2006/main">
              <a:ext uri="{FF2B5EF4-FFF2-40B4-BE49-F238E27FC236}">
                <a16:creationId xmlns:a16="http://schemas.microsoft.com/office/drawing/2014/main" id="{AB52095B-57F3-48E0-8920-5B84D555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การกำหนดทิศทาง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477000" y="2476500"/>
          <a:ext xmlns:a="http://schemas.openxmlformats.org/drawingml/2006/main" cx="47244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628900"/>
              </a:tblGrid>
              <a:tr h="44767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350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เพลา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บานประตู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</a:tr>
              <a:tr h="44767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เปิดไปทางขวา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CCW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ปิดไปทางซ้าย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4767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350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STOP · Coast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ตัดแรงขับ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ir-30">
            <a:extLst xmlns:a="http://schemas.openxmlformats.org/drawingml/2006/main">
              <a:ext uri="{FF2B5EF4-FFF2-40B4-BE49-F238E27FC236}">
                <a16:creationId xmlns:a16="http://schemas.microsoft.com/office/drawing/2014/main" id="{CAFA8FD8-7D1D-44B0-A957-E5AFE1AA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724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LC ซ้าย: P2.4    LO ขวา: P2.3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Pololu #3041 · 12 V · 100.37:1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มู่เล่ย์พิตช์ Ø 8 mm ตามแบบกลไก</a:t>
            </a:r>
          </a:p>
        </p:txBody>
      </p:sp>
      <p:sp>
        <p:nvSpPr>
          <p:cNvPr id="14" name="ir-31">
            <a:extLst xmlns:a="http://schemas.openxmlformats.org/drawingml/2006/main">
              <a:ext uri="{FF2B5EF4-FFF2-40B4-BE49-F238E27FC236}">
                <a16:creationId xmlns:a16="http://schemas.microsoft.com/office/drawing/2014/main" id="{FDDA76B9-0C3E-4D4F-9592-61468EFC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ตรวจทิศเพลาและแรงบิดกับชุดประกอบจริงก่อนใช้งาน</a:t>
            </a:r>
          </a:p>
        </p:txBody>
      </p:sp>
    </p:spTree>
    <p:extLst>
      <p:ext uri="{BB962C8B-B14F-4D97-AF65-F5344CB8AC3E}">
        <p14:creationId xmlns:p14="http://schemas.microsoft.com/office/powerpoint/2010/main" val="5047924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ir-32">
            <a:extLst xmlns:a="http://schemas.openxmlformats.org/drawingml/2006/main">
              <a:ext uri="{FF2B5EF4-FFF2-40B4-BE49-F238E27FC236}">
                <a16:creationId xmlns:a16="http://schemas.microsoft.com/office/drawing/2014/main" id="{44EC8186-AF4F-4AC1-8E90-73ED0608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สถาปัตยกรรมแบบจำลองสถานะ FSM</a:t>
            </a:r>
          </a:p>
        </p:txBody>
      </p:sp>
      <p:sp>
        <p:nvSpPr>
          <p:cNvPr id="2" name="ir-33">
            <a:extLst xmlns:a="http://schemas.openxmlformats.org/drawingml/2006/main">
              <a:ext uri="{FF2B5EF4-FFF2-40B4-BE49-F238E27FC236}">
                <a16:creationId xmlns:a16="http://schemas.microsoft.com/office/drawing/2014/main" id="{4968134E-B267-4AAA-9A9C-89774386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Moore Machine · 7 normal operating states</a:t>
            </a:r>
          </a:p>
        </p:txBody>
      </p:sp>
      <p:sp>
        <p:nvSpPr>
          <p:cNvPr id="3" name="ir-34">
            <a:extLst xmlns:a="http://schemas.openxmlformats.org/drawingml/2006/main">
              <a:ext uri="{FF2B5EF4-FFF2-40B4-BE49-F238E27FC236}">
                <a16:creationId xmlns:a16="http://schemas.microsoft.com/office/drawing/2014/main" id="{B9534713-8191-42AF-A948-A06A5ADA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35">
            <a:extLst xmlns:a="http://schemas.openxmlformats.org/drawingml/2006/main">
              <a:ext uri="{FF2B5EF4-FFF2-40B4-BE49-F238E27FC236}">
                <a16:creationId xmlns:a16="http://schemas.microsoft.com/office/drawing/2014/main" id="{7634912B-DB52-4CD6-840F-6EEBEEA7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5" name="ir-36">
            <a:extLst xmlns:a="http://schemas.openxmlformats.org/drawingml/2006/main">
              <a:ext uri="{FF2B5EF4-FFF2-40B4-BE49-F238E27FC236}">
                <a16:creationId xmlns:a16="http://schemas.microsoft.com/office/drawing/2014/main" id="{AC333FFD-0B4B-4B79-AA97-3B1790CA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</a:ln>
        </p:spPr>
      </p:sp>
      <p:sp>
        <p:nvSpPr>
          <p:cNvPr id="6" name="ir-37">
            <a:extLst xmlns:a="http://schemas.openxmlformats.org/drawingml/2006/main">
              <a:ext uri="{FF2B5EF4-FFF2-40B4-BE49-F238E27FC236}">
                <a16:creationId xmlns:a16="http://schemas.microsoft.com/office/drawing/2014/main" id="{9844BFB2-E7AC-4439-BAC8-0BA97EAF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CLOSED</a:t>
            </a:r>
          </a:p>
        </p:txBody>
      </p:sp>
      <p:sp>
        <p:nvSpPr>
          <p:cNvPr id="7" name="ir-38">
            <a:extLst xmlns:a="http://schemas.openxmlformats.org/drawingml/2006/main">
              <a:ext uri="{FF2B5EF4-FFF2-40B4-BE49-F238E27FC236}">
                <a16:creationId xmlns:a16="http://schemas.microsoft.com/office/drawing/2014/main" id="{E6ACF1D4-7057-4B1A-B279-85AEBA53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DC2626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DC2626"/>
                </a:solidFill>
                <a:latin typeface="Sarabun"/>
                <a:ea typeface="Sarabun"/>
                <a:cs typeface="Sarabun"/>
              </a:rPr>
              <a:t>○ STOP   P1=ECH</a:t>
            </a:r>
          </a:p>
        </p:txBody>
      </p:sp>
      <p:sp>
        <p:nvSpPr>
          <p:cNvPr id="8" name="ir-39">
            <a:extLst xmlns:a="http://schemas.openxmlformats.org/drawingml/2006/main">
              <a:ext uri="{FF2B5EF4-FFF2-40B4-BE49-F238E27FC236}">
                <a16:creationId xmlns:a16="http://schemas.microsoft.com/office/drawing/2014/main" id="{876D1C6E-CD02-430B-A0AC-8E479C35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14575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59669"/>
            </a:solidFill>
          </a:ln>
        </p:spPr>
      </p:sp>
      <p:sp>
        <p:nvSpPr>
          <p:cNvPr id="9" name="ir-40">
            <a:extLst xmlns:a="http://schemas.openxmlformats.org/drawingml/2006/main">
              <a:ext uri="{FF2B5EF4-FFF2-40B4-BE49-F238E27FC236}">
                <a16:creationId xmlns:a16="http://schemas.microsoft.com/office/drawing/2014/main" id="{B4C334D5-1087-45FF-AB97-AE2C0506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81250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OPENING</a:t>
            </a:r>
          </a:p>
        </p:txBody>
      </p:sp>
      <p:sp>
        <p:nvSpPr>
          <p:cNvPr id="10" name="ir-41">
            <a:extLst xmlns:a="http://schemas.openxmlformats.org/drawingml/2006/main">
              <a:ext uri="{FF2B5EF4-FFF2-40B4-BE49-F238E27FC236}">
                <a16:creationId xmlns:a16="http://schemas.microsoft.com/office/drawing/2014/main" id="{EF7547AC-A261-4EF2-8043-3FC812FC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146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59669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059669"/>
                </a:solidFill>
                <a:latin typeface="Sarabun"/>
                <a:ea typeface="Sarabun"/>
                <a:cs typeface="Sarabun"/>
              </a:rPr>
              <a:t>↻ CW   P1=D9H</a:t>
            </a:r>
          </a:p>
        </p:txBody>
      </p:sp>
      <p:sp>
        <p:nvSpPr>
          <p:cNvPr id="11" name="ir-42">
            <a:extLst xmlns:a="http://schemas.openxmlformats.org/drawingml/2006/main">
              <a:ext uri="{FF2B5EF4-FFF2-40B4-BE49-F238E27FC236}">
                <a16:creationId xmlns:a16="http://schemas.microsoft.com/office/drawing/2014/main" id="{C80E7241-A70B-4FAF-AC6A-A0A17F5E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14575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59669"/>
            </a:solidFill>
          </a:ln>
        </p:spPr>
      </p:sp>
      <p:sp>
        <p:nvSpPr>
          <p:cNvPr id="12" name="ir-43">
            <a:extLst xmlns:a="http://schemas.openxmlformats.org/drawingml/2006/main">
              <a:ext uri="{FF2B5EF4-FFF2-40B4-BE49-F238E27FC236}">
                <a16:creationId xmlns:a16="http://schemas.microsoft.com/office/drawing/2014/main" id="{EF965EC8-C785-4D90-BF22-2EB8AC25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OPEN_HOLD</a:t>
            </a:r>
          </a:p>
        </p:txBody>
      </p:sp>
      <p:sp>
        <p:nvSpPr>
          <p:cNvPr id="13" name="ir-44">
            <a:extLst xmlns:a="http://schemas.openxmlformats.org/drawingml/2006/main">
              <a:ext uri="{FF2B5EF4-FFF2-40B4-BE49-F238E27FC236}">
                <a16:creationId xmlns:a16="http://schemas.microsoft.com/office/drawing/2014/main" id="{37BE43E1-3FD5-4707-854C-5C7B569F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7146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59669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059669"/>
                </a:solidFill>
                <a:latin typeface="Sarabun"/>
                <a:ea typeface="Sarabun"/>
                <a:cs typeface="Sarabun"/>
              </a:rPr>
              <a:t>○ STOP   P1=DCH</a:t>
            </a:r>
          </a:p>
        </p:txBody>
      </p:sp>
      <p:sp>
        <p:nvSpPr>
          <p:cNvPr id="14" name="ir-45">
            <a:extLst xmlns:a="http://schemas.openxmlformats.org/drawingml/2006/main">
              <a:ext uri="{FF2B5EF4-FFF2-40B4-BE49-F238E27FC236}">
                <a16:creationId xmlns:a16="http://schemas.microsoft.com/office/drawing/2014/main" id="{DF70DB1F-4075-4049-A259-23DDD49C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14575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</a:ln>
        </p:spPr>
      </p:sp>
      <p:sp>
        <p:nvSpPr>
          <p:cNvPr id="15" name="ir-46">
            <a:extLst xmlns:a="http://schemas.openxmlformats.org/drawingml/2006/main">
              <a:ext uri="{FF2B5EF4-FFF2-40B4-BE49-F238E27FC236}">
                <a16:creationId xmlns:a16="http://schemas.microsoft.com/office/drawing/2014/main" id="{6ABE0940-6657-4F7E-98F1-94CF42FF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CLOSING</a:t>
            </a:r>
          </a:p>
        </p:txBody>
      </p:sp>
      <p:sp>
        <p:nvSpPr>
          <p:cNvPr id="16" name="ir-47">
            <a:extLst xmlns:a="http://schemas.openxmlformats.org/drawingml/2006/main">
              <a:ext uri="{FF2B5EF4-FFF2-40B4-BE49-F238E27FC236}">
                <a16:creationId xmlns:a16="http://schemas.microsoft.com/office/drawing/2014/main" id="{98A42D57-901C-47C1-B712-B7A2A159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146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DC2626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DC2626"/>
                </a:solidFill>
                <a:latin typeface="Sarabun"/>
                <a:ea typeface="Sarabun"/>
                <a:cs typeface="Sarabun"/>
              </a:rPr>
              <a:t>↺ CCW   P1=EAH</a:t>
            </a:r>
          </a:p>
        </p:txBody>
      </p:sp>
      <p:sp>
        <p:nvSpPr>
          <p:cNvPr id="17" name="ir-48">
            <a:extLst xmlns:a="http://schemas.openxmlformats.org/drawingml/2006/main">
              <a:ext uri="{FF2B5EF4-FFF2-40B4-BE49-F238E27FC236}">
                <a16:creationId xmlns:a16="http://schemas.microsoft.com/office/drawing/2014/main" id="{E9081040-9BF3-4390-99D5-36AE5CFF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38675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4748B"/>
            </a:solidFill>
          </a:ln>
        </p:spPr>
      </p:sp>
      <p:sp>
        <p:nvSpPr>
          <p:cNvPr id="18" name="ir-49">
            <a:extLst xmlns:a="http://schemas.openxmlformats.org/drawingml/2006/main">
              <a:ext uri="{FF2B5EF4-FFF2-40B4-BE49-F238E27FC236}">
                <a16:creationId xmlns:a16="http://schemas.microsoft.com/office/drawing/2014/main" id="{CF2991A1-3F7B-49A0-AA6D-AAFC1457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05350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REV_WAIT</a:t>
            </a:r>
          </a:p>
        </p:txBody>
      </p:sp>
      <p:sp>
        <p:nvSpPr>
          <p:cNvPr id="19" name="ir-50">
            <a:extLst xmlns:a="http://schemas.openxmlformats.org/drawingml/2006/main">
              <a:ext uri="{FF2B5EF4-FFF2-40B4-BE49-F238E27FC236}">
                <a16:creationId xmlns:a16="http://schemas.microsoft.com/office/drawing/2014/main" id="{957FA432-2B72-40C8-BB30-809BC196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0387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○ Coast   P1=FCH</a:t>
            </a:r>
          </a:p>
        </p:txBody>
      </p:sp>
      <p:sp>
        <p:nvSpPr>
          <p:cNvPr id="20" name="ir-51">
            <a:extLst xmlns:a="http://schemas.openxmlformats.org/drawingml/2006/main">
              <a:ext uri="{FF2B5EF4-FFF2-40B4-BE49-F238E27FC236}">
                <a16:creationId xmlns:a16="http://schemas.microsoft.com/office/drawing/2014/main" id="{6542505D-A40C-4AAA-9113-942B94BC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38675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59669"/>
            </a:solidFill>
          </a:ln>
        </p:spPr>
      </p:sp>
      <p:sp>
        <p:nvSpPr>
          <p:cNvPr id="21" name="ir-52">
            <a:extLst xmlns:a="http://schemas.openxmlformats.org/drawingml/2006/main">
              <a:ext uri="{FF2B5EF4-FFF2-40B4-BE49-F238E27FC236}">
                <a16:creationId xmlns:a16="http://schemas.microsoft.com/office/drawing/2014/main" id="{722DD52B-C6A4-496A-BD39-0788FCFE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REOPENING</a:t>
            </a:r>
          </a:p>
        </p:txBody>
      </p:sp>
      <p:sp>
        <p:nvSpPr>
          <p:cNvPr id="22" name="ir-53">
            <a:extLst xmlns:a="http://schemas.openxmlformats.org/drawingml/2006/main">
              <a:ext uri="{FF2B5EF4-FFF2-40B4-BE49-F238E27FC236}">
                <a16:creationId xmlns:a16="http://schemas.microsoft.com/office/drawing/2014/main" id="{B2806766-8845-428A-9A33-FEEEA1BB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387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59669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059669"/>
                </a:solidFill>
                <a:latin typeface="Sarabun"/>
                <a:ea typeface="Sarabun"/>
                <a:cs typeface="Sarabun"/>
              </a:rPr>
              <a:t>↻ CW   P1=D9H</a:t>
            </a:r>
          </a:p>
        </p:txBody>
      </p:sp>
      <p:sp>
        <p:nvSpPr>
          <p:cNvPr id="23" name="ir-54">
            <a:extLst xmlns:a="http://schemas.openxmlformats.org/drawingml/2006/main">
              <a:ext uri="{FF2B5EF4-FFF2-40B4-BE49-F238E27FC236}">
                <a16:creationId xmlns:a16="http://schemas.microsoft.com/office/drawing/2014/main" id="{F4A636AC-2547-4A1D-8246-1D090D82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38675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A580C"/>
            </a:solidFill>
          </a:ln>
        </p:spPr>
      </p:sp>
      <p:sp>
        <p:nvSpPr>
          <p:cNvPr id="24" name="ir-55">
            <a:extLst xmlns:a="http://schemas.openxmlformats.org/drawingml/2006/main">
              <a:ext uri="{FF2B5EF4-FFF2-40B4-BE49-F238E27FC236}">
                <a16:creationId xmlns:a16="http://schemas.microsoft.com/office/drawing/2014/main" id="{BD92AD10-57DD-479F-B496-A843DF3A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05350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SAFETY_HOLD</a:t>
            </a:r>
          </a:p>
        </p:txBody>
      </p:sp>
      <p:sp>
        <p:nvSpPr>
          <p:cNvPr id="25" name="ir-56">
            <a:extLst xmlns:a="http://schemas.openxmlformats.org/drawingml/2006/main">
              <a:ext uri="{FF2B5EF4-FFF2-40B4-BE49-F238E27FC236}">
                <a16:creationId xmlns:a16="http://schemas.microsoft.com/office/drawing/2014/main" id="{9F4E93CE-7F58-4C6C-A366-77C15B90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0387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EA580C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EA580C"/>
                </a:solidFill>
                <a:latin typeface="Sarabun"/>
                <a:ea typeface="Sarabun"/>
                <a:cs typeface="Sarabun"/>
              </a:rPr>
              <a:t>○ STOP   P1=BCH</a:t>
            </a:r>
          </a:p>
        </p:txBody>
      </p:sp>
      <p:sp>
        <p:nvSpPr>
          <p:cNvPr id="26" name="route-57">
            <a:extLst xmlns:a="http://schemas.openxmlformats.org/drawingml/2006/main">
              <a:ext uri="{FF2B5EF4-FFF2-40B4-BE49-F238E27FC236}">
                <a16:creationId xmlns:a16="http://schemas.microsoft.com/office/drawing/2014/main" id="{68E61A3F-516D-428F-8304-47B3AB22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95575"/>
            <a:ext cx="838200" cy="76200"/>
          </a:xfrm>
          <a:custGeom xmlns:a="http://schemas.openxmlformats.org/drawingml/2006/main">
            <a:pathLst>
              <a:path w="838200" h="76200">
                <a:moveTo>
                  <a:pt x="0" y="38100"/>
                </a:moveTo>
                <a:lnTo>
                  <a:pt x="838200" y="38100"/>
                </a:lnTo>
                <a:lnTo>
                  <a:pt x="771525" y="0"/>
                </a:lnTo>
                <a:lnTo>
                  <a:pt x="838200" y="38100"/>
                </a:lnTo>
                <a:lnTo>
                  <a:pt x="771525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284C7"/>
            </a:solidFill>
          </a:ln>
        </p:spPr>
      </p:sp>
      <p:sp>
        <p:nvSpPr>
          <p:cNvPr id="27" name="route-58">
            <a:extLst xmlns:a="http://schemas.openxmlformats.org/drawingml/2006/main">
              <a:ext uri="{FF2B5EF4-FFF2-40B4-BE49-F238E27FC236}">
                <a16:creationId xmlns:a16="http://schemas.microsoft.com/office/drawing/2014/main" id="{DDB33A90-9E61-4B2C-8BD5-5B7ED09B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95575"/>
            <a:ext cx="838200" cy="76200"/>
          </a:xfrm>
          <a:custGeom xmlns:a="http://schemas.openxmlformats.org/drawingml/2006/main">
            <a:pathLst>
              <a:path w="838200" h="76200">
                <a:moveTo>
                  <a:pt x="0" y="38100"/>
                </a:moveTo>
                <a:lnTo>
                  <a:pt x="838200" y="38100"/>
                </a:lnTo>
                <a:lnTo>
                  <a:pt x="771525" y="0"/>
                </a:lnTo>
                <a:lnTo>
                  <a:pt x="838200" y="38100"/>
                </a:lnTo>
                <a:lnTo>
                  <a:pt x="771525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284C7"/>
            </a:solidFill>
          </a:ln>
        </p:spPr>
      </p:sp>
      <p:sp>
        <p:nvSpPr>
          <p:cNvPr id="28" name="route-59">
            <a:extLst xmlns:a="http://schemas.openxmlformats.org/drawingml/2006/main">
              <a:ext uri="{FF2B5EF4-FFF2-40B4-BE49-F238E27FC236}">
                <a16:creationId xmlns:a16="http://schemas.microsoft.com/office/drawing/2014/main" id="{FE9FC16F-9324-42B8-A945-11968593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95575"/>
            <a:ext cx="838200" cy="76200"/>
          </a:xfrm>
          <a:custGeom xmlns:a="http://schemas.openxmlformats.org/drawingml/2006/main">
            <a:pathLst>
              <a:path w="838200" h="76200">
                <a:moveTo>
                  <a:pt x="0" y="38100"/>
                </a:moveTo>
                <a:lnTo>
                  <a:pt x="838200" y="38100"/>
                </a:lnTo>
                <a:lnTo>
                  <a:pt x="771525" y="0"/>
                </a:lnTo>
                <a:lnTo>
                  <a:pt x="838200" y="38100"/>
                </a:lnTo>
                <a:lnTo>
                  <a:pt x="771525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284C7"/>
            </a:solidFill>
          </a:ln>
        </p:spPr>
      </p:sp>
      <p:sp>
        <p:nvSpPr>
          <p:cNvPr id="29" name="ir-60">
            <a:extLst xmlns:a="http://schemas.openxmlformats.org/drawingml/2006/main">
              <a:ext uri="{FF2B5EF4-FFF2-40B4-BE49-F238E27FC236}">
                <a16:creationId xmlns:a16="http://schemas.microsoft.com/office/drawing/2014/main" id="{2885739F-473A-4F1F-9DC4-FACF0AFE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400300"/>
            <a:ext cx="88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0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rPr>
              <a:t>OPEN_EVT</a:t>
            </a:r>
          </a:p>
        </p:txBody>
      </p:sp>
      <p:sp>
        <p:nvSpPr>
          <p:cNvPr id="30" name="ir-61">
            <a:extLst xmlns:a="http://schemas.openxmlformats.org/drawingml/2006/main">
              <a:ext uri="{FF2B5EF4-FFF2-40B4-BE49-F238E27FC236}">
                <a16:creationId xmlns:a16="http://schemas.microsoft.com/office/drawing/2014/main" id="{004FA8FD-56BC-4154-9A4C-8C69A524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003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rPr>
              <a:t>LO=0</a:t>
            </a:r>
          </a:p>
        </p:txBody>
      </p:sp>
      <p:sp>
        <p:nvSpPr>
          <p:cNvPr id="31" name="ir-62">
            <a:extLst xmlns:a="http://schemas.openxmlformats.org/drawingml/2006/main">
              <a:ext uri="{FF2B5EF4-FFF2-40B4-BE49-F238E27FC236}">
                <a16:creationId xmlns:a16="http://schemas.microsoft.com/office/drawing/2014/main" id="{6B072C08-6D40-41EC-9863-CF924176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52650"/>
            <a:ext cx="86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0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rPr>
              <a:t>CLOSE_EVT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90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rPr>
              <a:t>BEAM=1</a:t>
            </a:r>
          </a:p>
        </p:txBody>
      </p:sp>
      <p:sp>
        <p:nvSpPr>
          <p:cNvPr id="32" name="route-63">
            <a:extLst xmlns:a="http://schemas.openxmlformats.org/drawingml/2006/main">
              <a:ext uri="{FF2B5EF4-FFF2-40B4-BE49-F238E27FC236}">
                <a16:creationId xmlns:a16="http://schemas.microsoft.com/office/drawing/2014/main" id="{C517A620-CB39-47BF-BD3F-DB1B3E19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52625"/>
            <a:ext cx="8667750" cy="361950"/>
          </a:xfrm>
          <a:custGeom xmlns:a="http://schemas.openxmlformats.org/drawingml/2006/main">
            <a:pathLst>
              <a:path w="8667750" h="361950">
                <a:moveTo>
                  <a:pt x="8667750" y="361950"/>
                </a:moveTo>
                <a:lnTo>
                  <a:pt x="8667750" y="0"/>
                </a:lnTo>
                <a:lnTo>
                  <a:pt x="38100" y="0"/>
                </a:lnTo>
                <a:lnTo>
                  <a:pt x="38100" y="361950"/>
                </a:lnTo>
                <a:lnTo>
                  <a:pt x="0" y="295275"/>
                </a:lnTo>
                <a:lnTo>
                  <a:pt x="38100" y="361950"/>
                </a:lnTo>
                <a:lnTo>
                  <a:pt x="7620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4748B"/>
            </a:solidFill>
          </a:ln>
        </p:spPr>
      </p:sp>
      <p:sp>
        <p:nvSpPr>
          <p:cNvPr id="33" name="ir-64">
            <a:extLst xmlns:a="http://schemas.openxmlformats.org/drawingml/2006/main">
              <a:ext uri="{FF2B5EF4-FFF2-40B4-BE49-F238E27FC236}">
                <a16:creationId xmlns:a16="http://schemas.microsoft.com/office/drawing/2014/main" id="{69C89DC4-CFBE-418F-BCBA-509536CC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09775"/>
            <a:ext cx="415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LC = 0 และไม่มีเหตุเปิดกลับ</a:t>
            </a:r>
          </a:p>
        </p:txBody>
      </p:sp>
      <p:sp>
        <p:nvSpPr>
          <p:cNvPr id="34" name="route-65">
            <a:extLst xmlns:a="http://schemas.openxmlformats.org/drawingml/2006/main">
              <a:ext uri="{FF2B5EF4-FFF2-40B4-BE49-F238E27FC236}">
                <a16:creationId xmlns:a16="http://schemas.microsoft.com/office/drawing/2014/main" id="{74A52758-DB17-41DE-976A-500CF131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152775"/>
            <a:ext cx="76200" cy="1485900"/>
          </a:xfrm>
          <a:custGeom xmlns:a="http://schemas.openxmlformats.org/drawingml/2006/main">
            <a:pathLst>
              <a:path w="76200" h="1485900">
                <a:moveTo>
                  <a:pt x="38100" y="0"/>
                </a:moveTo>
                <a:lnTo>
                  <a:pt x="38100" y="1485900"/>
                </a:lnTo>
                <a:lnTo>
                  <a:pt x="0" y="1419225"/>
                </a:lnTo>
                <a:lnTo>
                  <a:pt x="38100" y="1485900"/>
                </a:lnTo>
                <a:lnTo>
                  <a:pt x="76200" y="1419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A580C"/>
            </a:solidFill>
          </a:ln>
        </p:spPr>
      </p:sp>
      <p:sp>
        <p:nvSpPr>
          <p:cNvPr id="35" name="ir-66">
            <a:extLst xmlns:a="http://schemas.openxmlformats.org/drawingml/2006/main">
              <a:ext uri="{FF2B5EF4-FFF2-40B4-BE49-F238E27FC236}">
                <a16:creationId xmlns:a16="http://schemas.microsoft.com/office/drawing/2014/main" id="{9A23B521-76A5-4772-83DD-5C979232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EA580C"/>
                </a:solidFill>
                <a:latin typeface="Sarabun"/>
                <a:ea typeface="Sarabun"/>
                <a:cs typeface="Sarabun"/>
              </a:defRPr>
            </a:pPr>
            <a:r>
              <a:rPr sz="1125" b="0">
                <a:solidFill>
                  <a:srgbClr val="EA580C"/>
                </a:solidFill>
                <a:latin typeface="Sarabun"/>
                <a:ea typeface="Sarabun"/>
                <a:cs typeface="Sarabun"/>
              </a:rPr>
              <a:t>BEAM = 0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EA580C"/>
                </a:solidFill>
                <a:latin typeface="Sarabun"/>
                <a:ea typeface="Sarabun"/>
                <a:cs typeface="Sarabun"/>
              </a:defRPr>
            </a:pPr>
            <a:r>
              <a:rPr sz="1125" b="0">
                <a:solidFill>
                  <a:srgbClr val="EA580C"/>
                </a:solidFill>
                <a:latin typeface="Sarabun"/>
                <a:ea typeface="Sarabun"/>
                <a:cs typeface="Sarabun"/>
              </a:rPr>
              <a:t>หรือ OPEN_EVT</a:t>
            </a:r>
          </a:p>
        </p:txBody>
      </p:sp>
      <p:sp>
        <p:nvSpPr>
          <p:cNvPr id="36" name="route-67">
            <a:extLst xmlns:a="http://schemas.openxmlformats.org/drawingml/2006/main">
              <a:ext uri="{FF2B5EF4-FFF2-40B4-BE49-F238E27FC236}">
                <a16:creationId xmlns:a16="http://schemas.microsoft.com/office/drawing/2014/main" id="{AC27645E-571C-4F0C-A904-8AE1EF0A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19675"/>
            <a:ext cx="838200" cy="76200"/>
          </a:xfrm>
          <a:custGeom xmlns:a="http://schemas.openxmlformats.org/drawingml/2006/main">
            <a:pathLst>
              <a:path w="838200" h="76200">
                <a:moveTo>
                  <a:pt x="838200" y="38100"/>
                </a:moveTo>
                <a:lnTo>
                  <a:pt x="0" y="38100"/>
                </a:lnTo>
                <a:lnTo>
                  <a:pt x="66675" y="0"/>
                </a:lnTo>
                <a:lnTo>
                  <a:pt x="0" y="38100"/>
                </a:lnTo>
                <a:lnTo>
                  <a:pt x="66675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A580C"/>
            </a:solidFill>
          </a:ln>
        </p:spPr>
      </p:sp>
      <p:sp>
        <p:nvSpPr>
          <p:cNvPr id="37" name="ir-68">
            <a:extLst xmlns:a="http://schemas.openxmlformats.org/drawingml/2006/main">
              <a:ext uri="{FF2B5EF4-FFF2-40B4-BE49-F238E27FC236}">
                <a16:creationId xmlns:a16="http://schemas.microsoft.com/office/drawing/2014/main" id="{3EA27710-88B8-4861-882A-A1225B68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673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0">
                <a:solidFill>
                  <a:srgbClr val="EA580C"/>
                </a:solidFill>
                <a:latin typeface="Sarabun"/>
                <a:ea typeface="Sarabun"/>
                <a:cs typeface="Sarabun"/>
              </a:defRPr>
            </a:pPr>
            <a:r>
              <a:rPr sz="1125" b="0">
                <a:solidFill>
                  <a:srgbClr val="EA580C"/>
                </a:solidFill>
                <a:latin typeface="Sarabun"/>
                <a:ea typeface="Sarabun"/>
                <a:cs typeface="Sarabun"/>
              </a:rPr>
              <a:t>ครบ 200 ms</a:t>
            </a:r>
          </a:p>
        </p:txBody>
      </p:sp>
      <p:sp>
        <p:nvSpPr>
          <p:cNvPr id="38" name="route-69">
            <a:extLst xmlns:a="http://schemas.openxmlformats.org/drawingml/2006/main">
              <a:ext uri="{FF2B5EF4-FFF2-40B4-BE49-F238E27FC236}">
                <a16:creationId xmlns:a16="http://schemas.microsoft.com/office/drawing/2014/main" id="{709C85DE-9DBF-47E9-B4A5-99F3513A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19675"/>
            <a:ext cx="838200" cy="76200"/>
          </a:xfrm>
          <a:custGeom xmlns:a="http://schemas.openxmlformats.org/drawingml/2006/main">
            <a:pathLst>
              <a:path w="838200" h="76200">
                <a:moveTo>
                  <a:pt x="838200" y="38100"/>
                </a:moveTo>
                <a:lnTo>
                  <a:pt x="0" y="38100"/>
                </a:lnTo>
                <a:lnTo>
                  <a:pt x="66675" y="0"/>
                </a:lnTo>
                <a:lnTo>
                  <a:pt x="0" y="38100"/>
                </a:lnTo>
                <a:lnTo>
                  <a:pt x="66675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A580C"/>
            </a:solidFill>
          </a:ln>
        </p:spPr>
      </p:sp>
      <p:sp>
        <p:nvSpPr>
          <p:cNvPr id="39" name="ir-70">
            <a:extLst xmlns:a="http://schemas.openxmlformats.org/drawingml/2006/main">
              <a:ext uri="{FF2B5EF4-FFF2-40B4-BE49-F238E27FC236}">
                <a16:creationId xmlns:a16="http://schemas.microsoft.com/office/drawing/2014/main" id="{FB9C27E1-BE54-468E-8790-E91888E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76850"/>
            <a:ext cx="136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EA580C"/>
                </a:solidFill>
                <a:latin typeface="Sarabun"/>
                <a:ea typeface="Sarabun"/>
                <a:cs typeface="Sarabun"/>
              </a:defRPr>
            </a:pPr>
            <a:r>
              <a:rPr sz="1050" b="0">
                <a:solidFill>
                  <a:srgbClr val="EA580C"/>
                </a:solidFill>
                <a:latin typeface="Sarabun"/>
                <a:ea typeface="Sarabun"/>
                <a:cs typeface="Sarabun"/>
              </a:rPr>
              <a:t>LO = 0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EA580C"/>
                </a:solidFill>
                <a:latin typeface="Sarabun"/>
                <a:ea typeface="Sarabun"/>
                <a:cs typeface="Sarabun"/>
              </a:defRPr>
            </a:pPr>
            <a:r>
              <a:rPr sz="1050" b="0">
                <a:solidFill>
                  <a:srgbClr val="EA580C"/>
                </a:solidFill>
                <a:latin typeface="Sarabun"/>
                <a:ea typeface="Sarabun"/>
                <a:cs typeface="Sarabun"/>
              </a:rPr>
              <a:t>safety_seen = 1</a:t>
            </a:r>
          </a:p>
        </p:txBody>
      </p:sp>
      <p:sp>
        <p:nvSpPr>
          <p:cNvPr id="40" name="route-71">
            <a:extLst xmlns:a="http://schemas.openxmlformats.org/drawingml/2006/main">
              <a:ext uri="{FF2B5EF4-FFF2-40B4-BE49-F238E27FC236}">
                <a16:creationId xmlns:a16="http://schemas.microsoft.com/office/drawing/2014/main" id="{26C9FF20-5E13-4845-AA21-380B284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52775"/>
            <a:ext cx="5295900" cy="1485900"/>
          </a:xfrm>
          <a:custGeom xmlns:a="http://schemas.openxmlformats.org/drawingml/2006/main">
            <a:pathLst>
              <a:path w="5295900" h="1485900">
                <a:moveTo>
                  <a:pt x="0" y="1485900"/>
                </a:moveTo>
                <a:lnTo>
                  <a:pt x="0" y="657225"/>
                </a:lnTo>
                <a:lnTo>
                  <a:pt x="5257800" y="657225"/>
                </a:lnTo>
                <a:lnTo>
                  <a:pt x="5257800" y="0"/>
                </a:lnTo>
                <a:lnTo>
                  <a:pt x="5219700" y="66675"/>
                </a:lnTo>
                <a:lnTo>
                  <a:pt x="5257800" y="0"/>
                </a:lnTo>
                <a:lnTo>
                  <a:pt x="529590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284C7"/>
            </a:solidFill>
          </a:ln>
        </p:spPr>
      </p:sp>
      <p:sp>
        <p:nvSpPr>
          <p:cNvPr id="41" name="ir-72">
            <a:extLst xmlns:a="http://schemas.openxmlformats.org/drawingml/2006/main">
              <a:ext uri="{FF2B5EF4-FFF2-40B4-BE49-F238E27FC236}">
                <a16:creationId xmlns:a16="http://schemas.microsoft.com/office/drawing/2014/main" id="{41AED43E-27AF-4E86-AE3B-2FFD60F6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861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0">
                <a:solidFill>
                  <a:srgbClr val="0284C7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0284C7"/>
                </a:solidFill>
                <a:latin typeface="Sarabun"/>
                <a:ea typeface="Sarabun"/>
                <a:cs typeface="Sarabun"/>
              </a:rPr>
              <a:t>CLOSE_EVT ใหม่ และ BEAM = 1</a:t>
            </a:r>
          </a:p>
        </p:txBody>
      </p:sp>
      <p:sp>
        <p:nvSpPr>
          <p:cNvPr id="42" name="route-73">
            <a:extLst xmlns:a="http://schemas.openxmlformats.org/drawingml/2006/main">
              <a:ext uri="{FF2B5EF4-FFF2-40B4-BE49-F238E27FC236}">
                <a16:creationId xmlns:a16="http://schemas.microsoft.com/office/drawing/2014/main" id="{A9C91ED9-3ADC-49DF-9922-4DE264AF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52775"/>
            <a:ext cx="9525" cy="1485900"/>
          </a:xfrm>
          <a:custGeom xmlns:a="http://schemas.openxmlformats.org/drawingml/2006/main">
            <a:pathLst>
              <a:path w="9525" h="1485900">
                <a:moveTo>
                  <a:pt x="0" y="14859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8FAFC"/>
            </a:solidFill>
          </a:ln>
        </p:spPr>
      </p:sp>
      <p:sp>
        <p:nvSpPr>
          <p:cNvPr id="43" name="route-74">
            <a:extLst xmlns:a="http://schemas.openxmlformats.org/drawingml/2006/main">
              <a:ext uri="{FF2B5EF4-FFF2-40B4-BE49-F238E27FC236}">
                <a16:creationId xmlns:a16="http://schemas.microsoft.com/office/drawing/2014/main" id="{E94B5624-46BC-4B18-BE44-9A3C51EE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52775"/>
            <a:ext cx="76200" cy="1485900"/>
          </a:xfrm>
          <a:custGeom xmlns:a="http://schemas.openxmlformats.org/drawingml/2006/main">
            <a:pathLst>
              <a:path w="76200" h="1485900">
                <a:moveTo>
                  <a:pt x="38100" y="1485900"/>
                </a:moveTo>
                <a:lnTo>
                  <a:pt x="38100" y="0"/>
                </a:lnTo>
                <a:lnTo>
                  <a:pt x="0" y="66675"/>
                </a:lnTo>
                <a:lnTo>
                  <a:pt x="38100" y="0"/>
                </a:lnTo>
                <a:lnTo>
                  <a:pt x="7620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59669"/>
            </a:solidFill>
          </a:ln>
        </p:spPr>
      </p:sp>
      <p:sp>
        <p:nvSpPr>
          <p:cNvPr id="44" name="ir-75">
            <a:extLst xmlns:a="http://schemas.openxmlformats.org/drawingml/2006/main">
              <a:ext uri="{FF2B5EF4-FFF2-40B4-BE49-F238E27FC236}">
                <a16:creationId xmlns:a16="http://schemas.microsoft.com/office/drawing/2014/main" id="{96A4CA55-E07A-4C54-94AD-D0601134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4812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059669"/>
                </a:solidFill>
                <a:latin typeface="Sarabun"/>
                <a:ea typeface="Sarabun"/>
                <a:cs typeface="Sarabun"/>
              </a:defRPr>
            </a:pPr>
            <a:r>
              <a:rPr sz="1125" b="0">
                <a:solidFill>
                  <a:srgbClr val="059669"/>
                </a:solidFill>
                <a:latin typeface="Sarabun"/>
                <a:ea typeface="Sarabun"/>
                <a:cs typeface="Sarabun"/>
              </a:rPr>
              <a:t>LO = 0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059669"/>
                </a:solidFill>
                <a:latin typeface="Sarabun"/>
                <a:ea typeface="Sarabun"/>
                <a:cs typeface="Sarabun"/>
              </a:defRPr>
            </a:pPr>
            <a:r>
              <a:rPr sz="1125" b="0">
                <a:solidFill>
                  <a:srgbClr val="059669"/>
                </a:solidFill>
                <a:latin typeface="Sarabun"/>
                <a:ea typeface="Sarabun"/>
                <a:cs typeface="Sarabun"/>
              </a:rPr>
              <a:t>safety_seen = 0</a:t>
            </a:r>
          </a:p>
        </p:txBody>
      </p:sp>
      <p:sp>
        <p:nvSpPr>
          <p:cNvPr id="45" name="ir-76">
            <a:extLst xmlns:a="http://schemas.openxmlformats.org/drawingml/2006/main">
              <a:ext uri="{FF2B5EF4-FFF2-40B4-BE49-F238E27FC236}">
                <a16:creationId xmlns:a16="http://schemas.microsoft.com/office/drawing/2014/main" id="{78CBAB91-2006-4A41-9B20-7C866F68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145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○ STOP: ตัดขับ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↻ CW: ไฟเขียว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↺ CCW: ไฟแดง</a:t>
            </a:r>
          </a:p>
        </p:txBody>
      </p:sp>
      <p:sp>
        <p:nvSpPr>
          <p:cNvPr id="46" name="ir-77">
            <a:extLst xmlns:a="http://schemas.openxmlformats.org/drawingml/2006/main">
              <a:ext uri="{FF2B5EF4-FFF2-40B4-BE49-F238E27FC236}">
                <a16:creationId xmlns:a16="http://schemas.microsoft.com/office/drawing/2014/main" id="{5F4822CF-295B-4407-AF78-3DD20947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ไฟส้มติดเฉพาะ SAFETY_HOLD · E-stop และ fault ตัดแรงขับเหนือ FSM ปกติ</a:t>
            </a:r>
          </a:p>
        </p:txBody>
      </p:sp>
    </p:spTree>
    <p:extLst>
      <p:ext uri="{BB962C8B-B14F-4D97-AF65-F5344CB8AC3E}">
        <p14:creationId xmlns:p14="http://schemas.microsoft.com/office/powerpoint/2010/main" val="1603002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ir-78">
            <a:extLst xmlns:a="http://schemas.openxmlformats.org/drawingml/2006/main">
              <a:ext uri="{FF2B5EF4-FFF2-40B4-BE49-F238E27FC236}">
                <a16:creationId xmlns:a16="http://schemas.microsoft.com/office/drawing/2014/main" id="{28334A0A-6DF7-411A-84E4-35BE74FF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ขั้นตอนการควบคุมและคำสั่งผู้ใช้</a:t>
            </a:r>
          </a:p>
        </p:txBody>
      </p:sp>
      <p:sp>
        <p:nvSpPr>
          <p:cNvPr id="2" name="ir-79">
            <a:extLst xmlns:a="http://schemas.openxmlformats.org/drawingml/2006/main">
              <a:ext uri="{FF2B5EF4-FFF2-40B4-BE49-F238E27FC236}">
                <a16:creationId xmlns:a16="http://schemas.microsoft.com/office/drawing/2014/main" id="{0C711125-2AD6-4C79-8D7A-CF4C1248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User Operation &amp; Manual Control Sequence</a:t>
            </a:r>
          </a:p>
        </p:txBody>
      </p:sp>
      <p:sp>
        <p:nvSpPr>
          <p:cNvPr id="3" name="ir-80">
            <a:extLst xmlns:a="http://schemas.openxmlformats.org/drawingml/2006/main">
              <a:ext uri="{FF2B5EF4-FFF2-40B4-BE49-F238E27FC236}">
                <a16:creationId xmlns:a16="http://schemas.microsoft.com/office/drawing/2014/main" id="{A876305D-75C8-48C7-BAAF-17298E62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81">
            <a:extLst xmlns:a="http://schemas.openxmlformats.org/drawingml/2006/main">
              <a:ext uri="{FF2B5EF4-FFF2-40B4-BE49-F238E27FC236}">
                <a16:creationId xmlns:a16="http://schemas.microsoft.com/office/drawing/2014/main" id="{0A756139-241E-4533-B085-961443D8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5" name="ir-82">
            <a:extLst xmlns:a="http://schemas.openxmlformats.org/drawingml/2006/main">
              <a:ext uri="{FF2B5EF4-FFF2-40B4-BE49-F238E27FC236}">
                <a16:creationId xmlns:a16="http://schemas.microsoft.com/office/drawing/2014/main" id="{9F778AC6-02DB-4228-8D53-D68E9EA1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5181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ir-83">
            <a:extLst xmlns:a="http://schemas.openxmlformats.org/drawingml/2006/main">
              <a:ext uri="{FF2B5EF4-FFF2-40B4-BE49-F238E27FC236}">
                <a16:creationId xmlns:a16="http://schemas.microsoft.com/office/drawing/2014/main" id="{6D7C65F2-5813-40A9-A321-455702CA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284C7"/>
            </a:solidFill>
          </a:ln>
        </p:spPr>
      </p:sp>
      <p:sp>
        <p:nvSpPr>
          <p:cNvPr id="7" name="ir-84">
            <a:extLst xmlns:a="http://schemas.openxmlformats.org/drawingml/2006/main">
              <a:ext uri="{FF2B5EF4-FFF2-40B4-BE49-F238E27FC236}">
                <a16:creationId xmlns:a16="http://schemas.microsoft.com/office/drawing/2014/main" id="{CAB1C70C-C2D7-4893-9DA5-13BEADB2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01  กดเปิดจากด้านใดก็ได้</a:t>
            </a:r>
          </a:p>
        </p:txBody>
      </p:sp>
      <p:sp>
        <p:nvSpPr>
          <p:cNvPr id="8" name="ir-85">
            <a:extLst xmlns:a="http://schemas.openxmlformats.org/drawingml/2006/main">
              <a:ext uri="{FF2B5EF4-FFF2-40B4-BE49-F238E27FC236}">
                <a16:creationId xmlns:a16="http://schemas.microsoft.com/office/drawing/2014/main" id="{9E522012-8277-474F-9E30-35B329A9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72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PB_IN หรือ PB_OUT = 0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รับหนึ่งเหตุการณ์ต่อการกด</a:t>
            </a:r>
          </a:p>
        </p:txBody>
      </p:sp>
      <p:sp>
        <p:nvSpPr>
          <p:cNvPr id="9" name="ir-86">
            <a:extLst xmlns:a="http://schemas.openxmlformats.org/drawingml/2006/main">
              <a:ext uri="{FF2B5EF4-FFF2-40B4-BE49-F238E27FC236}">
                <a16:creationId xmlns:a16="http://schemas.microsoft.com/office/drawing/2014/main" id="{E6C9D10F-0ACC-413A-92F4-3728EC60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181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ir-87">
            <a:extLst xmlns:a="http://schemas.openxmlformats.org/drawingml/2006/main">
              <a:ext uri="{FF2B5EF4-FFF2-40B4-BE49-F238E27FC236}">
                <a16:creationId xmlns:a16="http://schemas.microsoft.com/office/drawing/2014/main" id="{E289CFB0-2D66-4B45-A8BA-3A1A5E70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9669"/>
            </a:solidFill>
          </a:ln>
        </p:spPr>
      </p:sp>
      <p:sp>
        <p:nvSpPr>
          <p:cNvPr id="11" name="ir-88">
            <a:extLst xmlns:a="http://schemas.openxmlformats.org/drawingml/2006/main">
              <a:ext uri="{FF2B5EF4-FFF2-40B4-BE49-F238E27FC236}">
                <a16:creationId xmlns:a16="http://schemas.microsoft.com/office/drawing/2014/main" id="{980A334E-88B6-49D4-820D-7077FBF9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02  เปิดจนสุดแล้วหยุดรอ</a:t>
            </a:r>
          </a:p>
        </p:txBody>
      </p:sp>
      <p:sp>
        <p:nvSpPr>
          <p:cNvPr id="12" name="ir-89">
            <a:extLst xmlns:a="http://schemas.openxmlformats.org/drawingml/2006/main">
              <a:ext uri="{FF2B5EF4-FFF2-40B4-BE49-F238E27FC236}">
                <a16:creationId xmlns:a16="http://schemas.microsoft.com/office/drawing/2014/main" id="{8A235271-4E8E-4A54-A715-2AB0ED08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2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CW จน LO = 0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อยู่ใน OPEN_HOLD และไฟเขียวติด</a:t>
            </a:r>
          </a:p>
        </p:txBody>
      </p:sp>
      <p:sp>
        <p:nvSpPr>
          <p:cNvPr id="13" name="ir-90">
            <a:extLst xmlns:a="http://schemas.openxmlformats.org/drawingml/2006/main">
              <a:ext uri="{FF2B5EF4-FFF2-40B4-BE49-F238E27FC236}">
                <a16:creationId xmlns:a16="http://schemas.microsoft.com/office/drawing/2014/main" id="{83317E02-BC3D-4693-9206-1DEBF2FD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5181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ir-91">
            <a:extLst xmlns:a="http://schemas.openxmlformats.org/drawingml/2006/main">
              <a:ext uri="{FF2B5EF4-FFF2-40B4-BE49-F238E27FC236}">
                <a16:creationId xmlns:a16="http://schemas.microsoft.com/office/drawing/2014/main" id="{7573B2A4-50E2-46DA-94C9-D360F64D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284C7"/>
            </a:solidFill>
          </a:ln>
        </p:spPr>
      </p:sp>
      <p:sp>
        <p:nvSpPr>
          <p:cNvPr id="15" name="ir-92">
            <a:extLst xmlns:a="http://schemas.openxmlformats.org/drawingml/2006/main">
              <a:ext uri="{FF2B5EF4-FFF2-40B4-BE49-F238E27FC236}">
                <a16:creationId xmlns:a16="http://schemas.microsoft.com/office/drawing/2014/main" id="{125A8EF1-61BB-42C0-8348-614ADD29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03  ตรวจทางผ่านแล้วกดปิด</a:t>
            </a:r>
          </a:p>
        </p:txBody>
      </p:sp>
      <p:sp>
        <p:nvSpPr>
          <p:cNvPr id="16" name="ir-93">
            <a:extLst xmlns:a="http://schemas.openxmlformats.org/drawingml/2006/main">
              <a:ext uri="{FF2B5EF4-FFF2-40B4-BE49-F238E27FC236}">
                <a16:creationId xmlns:a16="http://schemas.microsoft.com/office/drawing/2014/main" id="{1DA8C975-D40F-4BD1-9258-D122063E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472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PB_CLOSE = 0 จากการกดใหม่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BEAM_DET = 1 และปล่อยปุ่มเปิด</a:t>
            </a:r>
          </a:p>
        </p:txBody>
      </p:sp>
      <p:sp>
        <p:nvSpPr>
          <p:cNvPr id="17" name="ir-94">
            <a:extLst xmlns:a="http://schemas.openxmlformats.org/drawingml/2006/main">
              <a:ext uri="{FF2B5EF4-FFF2-40B4-BE49-F238E27FC236}">
                <a16:creationId xmlns:a16="http://schemas.microsoft.com/office/drawing/2014/main" id="{C21F3625-108F-4C46-9D4A-621E3DF9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5181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ir-95">
            <a:extLst xmlns:a="http://schemas.openxmlformats.org/drawingml/2006/main">
              <a:ext uri="{FF2B5EF4-FFF2-40B4-BE49-F238E27FC236}">
                <a16:creationId xmlns:a16="http://schemas.microsoft.com/office/drawing/2014/main" id="{91803561-D8AE-4A68-AE66-4E032967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9" name="ir-96">
            <a:extLst xmlns:a="http://schemas.openxmlformats.org/drawingml/2006/main">
              <a:ext uri="{FF2B5EF4-FFF2-40B4-BE49-F238E27FC236}">
                <a16:creationId xmlns:a16="http://schemas.microsoft.com/office/drawing/2014/main" id="{B506677A-24F8-4A07-A34D-1A0B6951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04  ปิดจนสุดแล้วหยุด</a:t>
            </a:r>
          </a:p>
        </p:txBody>
      </p:sp>
      <p:sp>
        <p:nvSpPr>
          <p:cNvPr id="20" name="ir-97">
            <a:extLst xmlns:a="http://schemas.openxmlformats.org/drawingml/2006/main">
              <a:ext uri="{FF2B5EF4-FFF2-40B4-BE49-F238E27FC236}">
                <a16:creationId xmlns:a16="http://schemas.microsoft.com/office/drawing/2014/main" id="{7B94E95D-BE1F-43D0-ADC9-4549CCE1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72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CCW จน LC = 0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อยู่ใน CLOSED และไฟแดงติด</a:t>
            </a:r>
          </a:p>
        </p:txBody>
      </p:sp>
      <p:sp>
        <p:nvSpPr>
          <p:cNvPr id="21" name="ir-98">
            <a:extLst xmlns:a="http://schemas.openxmlformats.org/drawingml/2006/main">
              <a:ext uri="{FF2B5EF4-FFF2-40B4-BE49-F238E27FC236}">
                <a16:creationId xmlns:a16="http://schemas.microsoft.com/office/drawing/2014/main" id="{EEE2695B-777C-47F5-BDC1-55C5F21C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ไม่มีคำสั่งปิดจากเวลา หรือจากการที่สิ่งกีดขวางพ้นแนวแสง</a:t>
            </a:r>
          </a:p>
        </p:txBody>
      </p:sp>
    </p:spTree>
    <p:extLst>
      <p:ext uri="{BB962C8B-B14F-4D97-AF65-F5344CB8AC3E}">
        <p14:creationId xmlns:p14="http://schemas.microsoft.com/office/powerpoint/2010/main" val="699946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ir-99">
            <a:extLst xmlns:a="http://schemas.openxmlformats.org/drawingml/2006/main">
              <a:ext uri="{FF2B5EF4-FFF2-40B4-BE49-F238E27FC236}">
                <a16:creationId xmlns:a16="http://schemas.microsoft.com/office/drawing/2014/main" id="{93607A84-E027-44AE-9E01-BADC1957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อินเทอร์เฟซโฟโต้สวิตช์และการแยกสัญญาณ</a:t>
            </a:r>
          </a:p>
        </p:txBody>
      </p:sp>
      <p:sp>
        <p:nvSpPr>
          <p:cNvPr id="2" name="ir-100">
            <a:extLst xmlns:a="http://schemas.openxmlformats.org/drawingml/2006/main">
              <a:ext uri="{FF2B5EF4-FFF2-40B4-BE49-F238E27FC236}">
                <a16:creationId xmlns:a16="http://schemas.microsoft.com/office/drawing/2014/main" id="{40D9472E-8C14-4E32-AD41-72562E41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Photo Switch Interface &amp; Optical Isolation</a:t>
            </a:r>
          </a:p>
        </p:txBody>
      </p:sp>
      <p:sp>
        <p:nvSpPr>
          <p:cNvPr id="3" name="ir-101">
            <a:extLst xmlns:a="http://schemas.openxmlformats.org/drawingml/2006/main">
              <a:ext uri="{FF2B5EF4-FFF2-40B4-BE49-F238E27FC236}">
                <a16:creationId xmlns:a16="http://schemas.microsoft.com/office/drawing/2014/main" id="{E68BBC84-72C5-4E9C-9D89-CF0753A1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102">
            <a:extLst xmlns:a="http://schemas.openxmlformats.org/drawingml/2006/main">
              <a:ext uri="{FF2B5EF4-FFF2-40B4-BE49-F238E27FC236}">
                <a16:creationId xmlns:a16="http://schemas.microsoft.com/office/drawing/2014/main" id="{8169DD5F-F807-44F9-A093-720AD85B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5" name="ir-103">
            <a:extLst xmlns:a="http://schemas.openxmlformats.org/drawingml/2006/main">
              <a:ext uri="{FF2B5EF4-FFF2-40B4-BE49-F238E27FC236}">
                <a16:creationId xmlns:a16="http://schemas.microsoft.com/office/drawing/2014/main" id="{900B0C5B-088A-469A-8995-94D5AD7F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3352800" cy="381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ir-104">
            <a:extLst xmlns:a="http://schemas.openxmlformats.org/drawingml/2006/main">
              <a:ext uri="{FF2B5EF4-FFF2-40B4-BE49-F238E27FC236}">
                <a16:creationId xmlns:a16="http://schemas.microsoft.com/office/drawing/2014/main" id="{D374FBB2-FE43-4B59-AA81-953F0B00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352800" cy="381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ir-105">
            <a:extLst xmlns:a="http://schemas.openxmlformats.org/drawingml/2006/main">
              <a:ext uri="{FF2B5EF4-FFF2-40B4-BE49-F238E27FC236}">
                <a16:creationId xmlns:a16="http://schemas.microsoft.com/office/drawing/2014/main" id="{AD28BA7A-AD65-4D2C-8D23-9FA6704D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352800" cy="381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ir-106">
            <a:extLst xmlns:a="http://schemas.openxmlformats.org/drawingml/2006/main">
              <a:ext uri="{FF2B5EF4-FFF2-40B4-BE49-F238E27FC236}">
                <a16:creationId xmlns:a16="http://schemas.microsoft.com/office/drawing/2014/main" id="{87FB5E32-18D0-4EC7-B2B6-D3D351E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14525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01  ภาคเซนเซอร์</a:t>
            </a:r>
          </a:p>
        </p:txBody>
      </p:sp>
      <p:sp>
        <p:nvSpPr>
          <p:cNvPr id="9" name="ir-107">
            <a:extLst xmlns:a="http://schemas.openxmlformats.org/drawingml/2006/main">
              <a:ext uri="{FF2B5EF4-FFF2-40B4-BE49-F238E27FC236}">
                <a16:creationId xmlns:a16="http://schemas.microsoft.com/office/drawing/2014/main" id="{8A3D2C61-1601-4ACA-9205-66F7A105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14525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02  VO617A</a:t>
            </a:r>
          </a:p>
        </p:txBody>
      </p:sp>
      <p:sp>
        <p:nvSpPr>
          <p:cNvPr id="10" name="ir-108">
            <a:extLst xmlns:a="http://schemas.openxmlformats.org/drawingml/2006/main">
              <a:ext uri="{FF2B5EF4-FFF2-40B4-BE49-F238E27FC236}">
                <a16:creationId xmlns:a16="http://schemas.microsoft.com/office/drawing/2014/main" id="{68E08427-F69C-4808-9EB4-D6B4669D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14525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03  ลอจิก 5 V</a:t>
            </a:r>
          </a:p>
        </p:txBody>
      </p:sp>
      <p:sp>
        <p:nvSpPr>
          <p:cNvPr id="11" name="ir-109">
            <a:extLst xmlns:a="http://schemas.openxmlformats.org/drawingml/2006/main">
              <a:ext uri="{FF2B5EF4-FFF2-40B4-BE49-F238E27FC236}">
                <a16:creationId xmlns:a16="http://schemas.microsoft.com/office/drawing/2014/main" id="{EA179B37-87CA-416E-9A09-6CFBFA49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Through-Beam · NPN Light-ON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อ้างอิง E3Z-T61 ที่ 12 V</a:t>
            </a:r>
          </a:p>
        </p:txBody>
      </p:sp>
      <p:sp>
        <p:nvSpPr>
          <p:cNvPr id="12" name="ir-110">
            <a:extLst xmlns:a="http://schemas.openxmlformats.org/drawingml/2006/main">
              <a:ext uri="{FF2B5EF4-FFF2-40B4-BE49-F238E27FC236}">
                <a16:creationId xmlns:a16="http://schemas.microsoft.com/office/drawing/2014/main" id="{8002BC05-345F-427F-8281-0066669A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95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ir-111">
            <a:extLst xmlns:a="http://schemas.openxmlformats.org/drawingml/2006/main">
              <a:ext uri="{FF2B5EF4-FFF2-40B4-BE49-F238E27FC236}">
                <a16:creationId xmlns:a16="http://schemas.microsoft.com/office/drawing/2014/main" id="{57E2A6DC-5646-4B9A-9C55-B8D9FFEF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14700"/>
            <a:ext cx="95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ir-112">
            <a:extLst xmlns:a="http://schemas.openxmlformats.org/drawingml/2006/main">
              <a:ext uri="{FF2B5EF4-FFF2-40B4-BE49-F238E27FC236}">
                <a16:creationId xmlns:a16="http://schemas.microsoft.com/office/drawing/2014/main" id="{5756B3BE-0226-4FEE-A01D-E11443FD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2900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Emitter</a:t>
            </a:r>
          </a:p>
        </p:txBody>
      </p:sp>
      <p:sp>
        <p:nvSpPr>
          <p:cNvPr id="15" name="ir-113">
            <a:extLst xmlns:a="http://schemas.openxmlformats.org/drawingml/2006/main">
              <a:ext uri="{FF2B5EF4-FFF2-40B4-BE49-F238E27FC236}">
                <a16:creationId xmlns:a16="http://schemas.microsoft.com/office/drawing/2014/main" id="{418F3456-CAAA-4C4E-BC81-E60066C3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29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Receiver</a:t>
            </a:r>
          </a:p>
        </p:txBody>
      </p:sp>
      <p:sp>
        <p:nvSpPr>
          <p:cNvPr id="16" name="route-114">
            <a:extLst xmlns:a="http://schemas.openxmlformats.org/drawingml/2006/main">
              <a:ext uri="{FF2B5EF4-FFF2-40B4-BE49-F238E27FC236}">
                <a16:creationId xmlns:a16="http://schemas.microsoft.com/office/drawing/2014/main" id="{207B7E51-E22C-44D2-A2A9-BB0CACBA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33775"/>
            <a:ext cx="781050" cy="76200"/>
          </a:xfrm>
          <a:custGeom xmlns:a="http://schemas.openxmlformats.org/drawingml/2006/main">
            <a:pathLst>
              <a:path w="781050" h="76200">
                <a:moveTo>
                  <a:pt x="0" y="38100"/>
                </a:moveTo>
                <a:lnTo>
                  <a:pt x="781050" y="38100"/>
                </a:lnTo>
                <a:lnTo>
                  <a:pt x="714375" y="0"/>
                </a:lnTo>
                <a:lnTo>
                  <a:pt x="781050" y="38100"/>
                </a:lnTo>
                <a:lnTo>
                  <a:pt x="714375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284C7"/>
            </a:solidFill>
          </a:ln>
        </p:spPr>
      </p:sp>
      <p:sp>
        <p:nvSpPr>
          <p:cNvPr id="17" name="ir-115">
            <a:extLst xmlns:a="http://schemas.openxmlformats.org/drawingml/2006/main">
              <a:ext uri="{FF2B5EF4-FFF2-40B4-BE49-F238E27FC236}">
                <a16:creationId xmlns:a16="http://schemas.microsoft.com/office/drawing/2014/main" id="{DE0E2B58-C89A-4FAD-A646-705CF1DE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2895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0 V_S แยกจาก 0 V_L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เมื่อแสงผ่าน: NPN นำกระแส</a:t>
            </a:r>
          </a:p>
        </p:txBody>
      </p:sp>
      <p:sp>
        <p:nvSpPr>
          <p:cNvPr id="18" name="ir-116">
            <a:extLst xmlns:a="http://schemas.openxmlformats.org/drawingml/2006/main">
              <a:ext uri="{FF2B5EF4-FFF2-40B4-BE49-F238E27FC236}">
                <a16:creationId xmlns:a16="http://schemas.microsoft.com/office/drawing/2014/main" id="{6BEAC543-824A-4471-9EEC-D5C3C1A7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D9770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97706"/>
                </a:solidFill>
                <a:latin typeface="JetBrains Mono"/>
                <a:ea typeface="JetBrains Mono"/>
                <a:cs typeface="JetBrains Mono"/>
              </a:rPr>
              <a:t>+12 V_S</a:t>
            </a:r>
          </a:p>
        </p:txBody>
      </p:sp>
      <p:sp>
        <p:nvSpPr>
          <p:cNvPr id="19" name="ir-117">
            <a:extLst xmlns:a="http://schemas.openxmlformats.org/drawingml/2006/main">
              <a:ext uri="{FF2B5EF4-FFF2-40B4-BE49-F238E27FC236}">
                <a16:creationId xmlns:a16="http://schemas.microsoft.com/office/drawing/2014/main" id="{E2F35AF0-DC6D-4501-A0FD-86DE5001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67025"/>
            <a:ext cx="9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7706"/>
            </a:solidFill>
          </a:ln>
        </p:spPr>
      </p:sp>
      <p:sp>
        <p:nvSpPr>
          <p:cNvPr id="20" name="ir-118">
            <a:extLst xmlns:a="http://schemas.openxmlformats.org/drawingml/2006/main">
              <a:ext uri="{FF2B5EF4-FFF2-40B4-BE49-F238E27FC236}">
                <a16:creationId xmlns:a16="http://schemas.microsoft.com/office/drawing/2014/main" id="{0C777192-F6A6-4A95-99D9-E28D98CE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38475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21" name="ir-119">
            <a:extLst xmlns:a="http://schemas.openxmlformats.org/drawingml/2006/main">
              <a:ext uri="{FF2B5EF4-FFF2-40B4-BE49-F238E27FC236}">
                <a16:creationId xmlns:a16="http://schemas.microsoft.com/office/drawing/2014/main" id="{762B8FD4-28BE-477D-BD8B-7099B865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14675"/>
            <a:ext cx="9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22" name="ir-120">
            <a:extLst xmlns:a="http://schemas.openxmlformats.org/drawingml/2006/main">
              <a:ext uri="{FF2B5EF4-FFF2-40B4-BE49-F238E27FC236}">
                <a16:creationId xmlns:a16="http://schemas.microsoft.com/office/drawing/2014/main" id="{357C0497-A314-4441-802A-2B0B0006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62325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23" name="ir-121">
            <a:extLst xmlns:a="http://schemas.openxmlformats.org/drawingml/2006/main">
              <a:ext uri="{FF2B5EF4-FFF2-40B4-BE49-F238E27FC236}">
                <a16:creationId xmlns:a16="http://schemas.microsoft.com/office/drawing/2014/main" id="{7D82E3A4-DF66-49E0-BC0D-06A81C15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3847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1.5 kΩ</a:t>
            </a:r>
          </a:p>
        </p:txBody>
      </p:sp>
      <p:sp>
        <p:nvSpPr>
          <p:cNvPr id="24" name="route-122">
            <a:extLst xmlns:a="http://schemas.openxmlformats.org/drawingml/2006/main">
              <a:ext uri="{FF2B5EF4-FFF2-40B4-BE49-F238E27FC236}">
                <a16:creationId xmlns:a16="http://schemas.microsoft.com/office/drawing/2014/main" id="{786192D7-6F6E-4B4D-BF5A-1FB845B6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38525"/>
            <a:ext cx="476250" cy="276225"/>
          </a:xfrm>
          <a:custGeom xmlns:a="http://schemas.openxmlformats.org/drawingml/2006/main">
            <a:pathLst>
              <a:path w="476250" h="276225">
                <a:moveTo>
                  <a:pt x="0" y="0"/>
                </a:moveTo>
                <a:lnTo>
                  <a:pt x="0" y="276225"/>
                </a:lnTo>
                <a:lnTo>
                  <a:pt x="47625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97706"/>
            </a:solidFill>
          </a:ln>
        </p:spPr>
      </p:sp>
      <p:sp>
        <p:nvSpPr>
          <p:cNvPr id="25" name="ir-123">
            <a:extLst xmlns:a="http://schemas.openxmlformats.org/drawingml/2006/main">
              <a:ext uri="{FF2B5EF4-FFF2-40B4-BE49-F238E27FC236}">
                <a16:creationId xmlns:a16="http://schemas.microsoft.com/office/drawing/2014/main" id="{7A65869A-8D4B-43A1-8E9E-02CF6BC7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48050"/>
            <a:ext cx="1371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6" name="ir-124">
            <a:extLst xmlns:a="http://schemas.openxmlformats.org/drawingml/2006/main">
              <a:ext uri="{FF2B5EF4-FFF2-40B4-BE49-F238E27FC236}">
                <a16:creationId xmlns:a16="http://schemas.microsoft.com/office/drawing/2014/main" id="{D1A602C1-8F9B-4DBE-83DC-2C2E0CDA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1472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1 A</a:t>
            </a:r>
          </a:p>
        </p:txBody>
      </p:sp>
      <p:sp>
        <p:nvSpPr>
          <p:cNvPr id="27" name="ir-125">
            <a:extLst xmlns:a="http://schemas.openxmlformats.org/drawingml/2006/main">
              <a:ext uri="{FF2B5EF4-FFF2-40B4-BE49-F238E27FC236}">
                <a16:creationId xmlns:a16="http://schemas.microsoft.com/office/drawing/2014/main" id="{65CECC92-8610-48EF-93D3-1D86E51E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8622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2 K</a:t>
            </a:r>
          </a:p>
        </p:txBody>
      </p:sp>
      <p:sp>
        <p:nvSpPr>
          <p:cNvPr id="28" name="ir-126">
            <a:extLst xmlns:a="http://schemas.openxmlformats.org/drawingml/2006/main">
              <a:ext uri="{FF2B5EF4-FFF2-40B4-BE49-F238E27FC236}">
                <a16:creationId xmlns:a16="http://schemas.microsoft.com/office/drawing/2014/main" id="{C4B8B4E9-ACB1-44FB-9932-5AF1E37F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1472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4 C</a:t>
            </a:r>
          </a:p>
        </p:txBody>
      </p:sp>
      <p:sp>
        <p:nvSpPr>
          <p:cNvPr id="29" name="ir-127">
            <a:extLst xmlns:a="http://schemas.openxmlformats.org/drawingml/2006/main">
              <a:ext uri="{FF2B5EF4-FFF2-40B4-BE49-F238E27FC236}">
                <a16:creationId xmlns:a16="http://schemas.microsoft.com/office/drawing/2014/main" id="{D703F98A-ECC7-424D-998A-A6C8A915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8622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3 E</a:t>
            </a:r>
          </a:p>
        </p:txBody>
      </p:sp>
      <p:sp>
        <p:nvSpPr>
          <p:cNvPr id="30" name="ir-128">
            <a:extLst xmlns:a="http://schemas.openxmlformats.org/drawingml/2006/main">
              <a:ext uri="{FF2B5EF4-FFF2-40B4-BE49-F238E27FC236}">
                <a16:creationId xmlns:a16="http://schemas.microsoft.com/office/drawing/2014/main" id="{5098FADB-6757-4F47-85E5-B9186946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24250"/>
            <a:ext cx="95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1" name="route-129">
            <a:extLst xmlns:a="http://schemas.openxmlformats.org/drawingml/2006/main">
              <a:ext uri="{FF2B5EF4-FFF2-40B4-BE49-F238E27FC236}">
                <a16:creationId xmlns:a16="http://schemas.microsoft.com/office/drawing/2014/main" id="{DC096407-C716-4BE8-AE8B-14874D1D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1647825" cy="561975"/>
          </a:xfrm>
          <a:custGeom xmlns:a="http://schemas.openxmlformats.org/drawingml/2006/main">
            <a:pathLst>
              <a:path w="1647825" h="561975">
                <a:moveTo>
                  <a:pt x="1647825" y="561975"/>
                </a:moveTo>
                <a:lnTo>
                  <a:pt x="219075" y="561975"/>
                </a:lnTo>
                <a:lnTo>
                  <a:pt x="21907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97706"/>
            </a:solidFill>
          </a:ln>
        </p:spPr>
      </p:sp>
      <p:sp>
        <p:nvSpPr>
          <p:cNvPr id="32" name="ir-130">
            <a:extLst xmlns:a="http://schemas.openxmlformats.org/drawingml/2006/main">
              <a:ext uri="{FF2B5EF4-FFF2-40B4-BE49-F238E27FC236}">
                <a16:creationId xmlns:a16="http://schemas.microsoft.com/office/drawing/2014/main" id="{74712AF4-73C0-420C-8262-F9C1B698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33825"/>
            <a:ext cx="1152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D9770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D97706"/>
                </a:solidFill>
                <a:latin typeface="JetBrains Mono"/>
                <a:ea typeface="JetBrains Mono"/>
                <a:cs typeface="JetBrains Mono"/>
              </a:rPr>
              <a:t>OUT (NPN)</a:t>
            </a:r>
          </a:p>
        </p:txBody>
      </p:sp>
      <p:sp>
        <p:nvSpPr>
          <p:cNvPr id="33" name="ir-131">
            <a:extLst xmlns:a="http://schemas.openxmlformats.org/drawingml/2006/main">
              <a:ext uri="{FF2B5EF4-FFF2-40B4-BE49-F238E27FC236}">
                <a16:creationId xmlns:a16="http://schemas.microsoft.com/office/drawing/2014/main" id="{216E9A27-8FC9-4C19-A57B-55AA852B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276725"/>
            <a:ext cx="476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284C7"/>
            </a:solidFill>
          </a:ln>
        </p:spPr>
      </p:sp>
      <p:sp>
        <p:nvSpPr>
          <p:cNvPr id="34" name="ir-132">
            <a:extLst xmlns:a="http://schemas.openxmlformats.org/drawingml/2006/main">
              <a:ext uri="{FF2B5EF4-FFF2-40B4-BE49-F238E27FC236}">
                <a16:creationId xmlns:a16="http://schemas.microsoft.com/office/drawing/2014/main" id="{89660627-1C46-499C-9217-DC4933D4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276725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35" name="ir-133">
            <a:extLst xmlns:a="http://schemas.openxmlformats.org/drawingml/2006/main">
              <a:ext uri="{FF2B5EF4-FFF2-40B4-BE49-F238E27FC236}">
                <a16:creationId xmlns:a16="http://schemas.microsoft.com/office/drawing/2014/main" id="{5B72E255-B0F6-41F5-95D7-ABBAA3AB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5292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36" name="ir-134">
            <a:extLst xmlns:a="http://schemas.openxmlformats.org/drawingml/2006/main">
              <a:ext uri="{FF2B5EF4-FFF2-40B4-BE49-F238E27FC236}">
                <a16:creationId xmlns:a16="http://schemas.microsoft.com/office/drawing/2014/main" id="{36834237-3323-46AF-BB63-F108ECA3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391025"/>
            <a:ext cx="1143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37" name="ir-135">
            <a:extLst xmlns:a="http://schemas.openxmlformats.org/drawingml/2006/main">
              <a:ext uri="{FF2B5EF4-FFF2-40B4-BE49-F238E27FC236}">
                <a16:creationId xmlns:a16="http://schemas.microsoft.com/office/drawing/2014/main" id="{CAD17D13-EBF2-49C6-B020-DD7FF98C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29125"/>
            <a:ext cx="57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38" name="ir-136">
            <a:extLst xmlns:a="http://schemas.openxmlformats.org/drawingml/2006/main">
              <a:ext uri="{FF2B5EF4-FFF2-40B4-BE49-F238E27FC236}">
                <a16:creationId xmlns:a16="http://schemas.microsoft.com/office/drawing/2014/main" id="{AAA3F517-BA64-4BD9-B1C9-389E49DC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05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 V_L</a:t>
            </a:r>
          </a:p>
        </p:txBody>
      </p:sp>
      <p:sp>
        <p:nvSpPr>
          <p:cNvPr id="39" name="route-137">
            <a:extLst xmlns:a="http://schemas.openxmlformats.org/drawingml/2006/main">
              <a:ext uri="{FF2B5EF4-FFF2-40B4-BE49-F238E27FC236}">
                <a16:creationId xmlns:a16="http://schemas.microsoft.com/office/drawing/2014/main" id="{CB08ED2F-17DE-43D0-9F8A-E2785E5A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714750"/>
            <a:ext cx="1323975" cy="9525"/>
          </a:xfrm>
          <a:custGeom xmlns:a="http://schemas.openxmlformats.org/drawingml/2006/main">
            <a:pathLst>
              <a:path w="1323975" h="9525">
                <a:moveTo>
                  <a:pt x="0" y="0"/>
                </a:moveTo>
                <a:lnTo>
                  <a:pt x="723900" y="0"/>
                </a:lnTo>
                <a:lnTo>
                  <a:pt x="132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284C7"/>
            </a:solidFill>
          </a:ln>
        </p:spPr>
      </p:sp>
      <p:sp>
        <p:nvSpPr>
          <p:cNvPr id="40" name="ir-138">
            <a:extLst xmlns:a="http://schemas.openxmlformats.org/drawingml/2006/main">
              <a:ext uri="{FF2B5EF4-FFF2-40B4-BE49-F238E27FC236}">
                <a16:creationId xmlns:a16="http://schemas.microsoft.com/office/drawing/2014/main" id="{6166346F-C623-4226-8EF4-7A5F823F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86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</a:ln>
        </p:spPr>
      </p:sp>
      <p:sp>
        <p:nvSpPr>
          <p:cNvPr id="41" name="ir-139">
            <a:extLst xmlns:a="http://schemas.openxmlformats.org/drawingml/2006/main">
              <a:ext uri="{FF2B5EF4-FFF2-40B4-BE49-F238E27FC236}">
                <a16:creationId xmlns:a16="http://schemas.microsoft.com/office/drawing/2014/main" id="{F29E03CC-9752-4298-8498-3131183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57575"/>
            <a:ext cx="9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284C7"/>
            </a:solidFill>
          </a:ln>
        </p:spPr>
      </p:sp>
      <p:sp>
        <p:nvSpPr>
          <p:cNvPr id="42" name="ir-140">
            <a:extLst xmlns:a="http://schemas.openxmlformats.org/drawingml/2006/main">
              <a:ext uri="{FF2B5EF4-FFF2-40B4-BE49-F238E27FC236}">
                <a16:creationId xmlns:a16="http://schemas.microsoft.com/office/drawing/2014/main" id="{7B35EA4E-13D2-4B28-BD3E-A3B76D9D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57525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3" name="ir-141">
            <a:extLst xmlns:a="http://schemas.openxmlformats.org/drawingml/2006/main">
              <a:ext uri="{FF2B5EF4-FFF2-40B4-BE49-F238E27FC236}">
                <a16:creationId xmlns:a16="http://schemas.microsoft.com/office/drawing/2014/main" id="{607D83CF-3DD8-4864-90D5-F658E359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33725"/>
            <a:ext cx="9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44" name="ir-142">
            <a:extLst xmlns:a="http://schemas.openxmlformats.org/drawingml/2006/main">
              <a:ext uri="{FF2B5EF4-FFF2-40B4-BE49-F238E27FC236}">
                <a16:creationId xmlns:a16="http://schemas.microsoft.com/office/drawing/2014/main" id="{7117E812-C753-4C77-B1AE-8361614A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81375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5" name="ir-143">
            <a:extLst xmlns:a="http://schemas.openxmlformats.org/drawingml/2006/main">
              <a:ext uri="{FF2B5EF4-FFF2-40B4-BE49-F238E27FC236}">
                <a16:creationId xmlns:a16="http://schemas.microsoft.com/office/drawing/2014/main" id="{4617A247-F7EB-4EF7-8A96-031E3096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480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10 kΩ</a:t>
            </a:r>
          </a:p>
        </p:txBody>
      </p:sp>
      <p:sp>
        <p:nvSpPr>
          <p:cNvPr id="46" name="ir-144">
            <a:extLst xmlns:a="http://schemas.openxmlformats.org/drawingml/2006/main">
              <a:ext uri="{FF2B5EF4-FFF2-40B4-BE49-F238E27FC236}">
                <a16:creationId xmlns:a16="http://schemas.microsoft.com/office/drawing/2014/main" id="{EC065F03-098A-490E-948F-9DF79EB6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28925"/>
            <a:ext cx="9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284C7"/>
            </a:solidFill>
          </a:ln>
        </p:spPr>
      </p:sp>
      <p:sp>
        <p:nvSpPr>
          <p:cNvPr id="47" name="ir-145">
            <a:extLst xmlns:a="http://schemas.openxmlformats.org/drawingml/2006/main">
              <a:ext uri="{FF2B5EF4-FFF2-40B4-BE49-F238E27FC236}">
                <a16:creationId xmlns:a16="http://schemas.microsoft.com/office/drawing/2014/main" id="{C6853A84-FC2D-495B-B715-EDF83C77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812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rPr>
              <a:t>+5 V</a:t>
            </a:r>
          </a:p>
        </p:txBody>
      </p:sp>
      <p:sp>
        <p:nvSpPr>
          <p:cNvPr id="48" name="ir-146">
            <a:extLst xmlns:a="http://schemas.openxmlformats.org/drawingml/2006/main">
              <a:ext uri="{FF2B5EF4-FFF2-40B4-BE49-F238E27FC236}">
                <a16:creationId xmlns:a16="http://schemas.microsoft.com/office/drawing/2014/main" id="{00D3D7EE-2E51-4C9B-B518-539E497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76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rPr>
              <a:t>RAW</a:t>
            </a:r>
          </a:p>
        </p:txBody>
      </p:sp>
      <p:sp>
        <p:nvSpPr>
          <p:cNvPr id="49" name="ir-147">
            <a:extLst xmlns:a="http://schemas.openxmlformats.org/drawingml/2006/main">
              <a:ext uri="{FF2B5EF4-FFF2-40B4-BE49-F238E27FC236}">
                <a16:creationId xmlns:a16="http://schemas.microsoft.com/office/drawing/2014/main" id="{431830EF-7F2D-4F0D-9DEF-9E92B8ED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57575"/>
            <a:ext cx="11811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0" name="ir-148">
            <a:extLst xmlns:a="http://schemas.openxmlformats.org/drawingml/2006/main">
              <a:ext uri="{FF2B5EF4-FFF2-40B4-BE49-F238E27FC236}">
                <a16:creationId xmlns:a16="http://schemas.microsoft.com/office/drawing/2014/main" id="{F577A5C4-9E52-43DA-A1DD-3C4B2DEC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147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HCT14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3 → 4</a:t>
            </a:r>
          </a:p>
        </p:txBody>
      </p:sp>
      <p:sp>
        <p:nvSpPr>
          <p:cNvPr id="51" name="ir-149">
            <a:extLst xmlns:a="http://schemas.openxmlformats.org/drawingml/2006/main">
              <a:ext uri="{FF2B5EF4-FFF2-40B4-BE49-F238E27FC236}">
                <a16:creationId xmlns:a16="http://schemas.microsoft.com/office/drawing/2014/main" id="{EEC64877-9AB0-4DA4-97ED-1454E4CA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14750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284C7"/>
            </a:solidFill>
          </a:ln>
        </p:spPr>
      </p:sp>
      <p:sp>
        <p:nvSpPr>
          <p:cNvPr id="52" name="route-150">
            <a:extLst xmlns:a="http://schemas.openxmlformats.org/drawingml/2006/main">
              <a:ext uri="{FF2B5EF4-FFF2-40B4-BE49-F238E27FC236}">
                <a16:creationId xmlns:a16="http://schemas.microsoft.com/office/drawing/2014/main" id="{A0F7CB34-BA0E-405C-A21C-9350ABB1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76650"/>
            <a:ext cx="1704975" cy="76200"/>
          </a:xfrm>
          <a:custGeom xmlns:a="http://schemas.openxmlformats.org/drawingml/2006/main">
            <a:pathLst>
              <a:path w="1704975" h="76200">
                <a:moveTo>
                  <a:pt x="0" y="38100"/>
                </a:moveTo>
                <a:lnTo>
                  <a:pt x="1704975" y="38100"/>
                </a:lnTo>
                <a:lnTo>
                  <a:pt x="1638300" y="0"/>
                </a:lnTo>
                <a:lnTo>
                  <a:pt x="1704975" y="38100"/>
                </a:lnTo>
                <a:lnTo>
                  <a:pt x="16383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284C7"/>
            </a:solidFill>
          </a:ln>
        </p:spPr>
      </p:sp>
      <p:sp>
        <p:nvSpPr>
          <p:cNvPr id="53" name="ir-151">
            <a:extLst xmlns:a="http://schemas.openxmlformats.org/drawingml/2006/main">
              <a:ext uri="{FF2B5EF4-FFF2-40B4-BE49-F238E27FC236}">
                <a16:creationId xmlns:a16="http://schemas.microsoft.com/office/drawing/2014/main" id="{3580B989-8054-4248-B8DD-0D90AAF6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042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rPr>
              <a:t>P2.2 (23)</a:t>
            </a:r>
          </a:p>
        </p:txBody>
      </p:sp>
      <p:sp>
        <p:nvSpPr>
          <p:cNvPr id="54" name="ir-152">
            <a:extLst xmlns:a="http://schemas.openxmlformats.org/drawingml/2006/main">
              <a:ext uri="{FF2B5EF4-FFF2-40B4-BE49-F238E27FC236}">
                <a16:creationId xmlns:a16="http://schemas.microsoft.com/office/drawing/2014/main" id="{A3247FB3-9026-4C8E-BAC2-C29A95EA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957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rPr>
              <a:t>BEAM_DET</a:t>
            </a:r>
          </a:p>
        </p:txBody>
      </p:sp>
      <p:sp>
        <p:nvSpPr>
          <p:cNvPr id="55" name="ir-153">
            <a:extLst xmlns:a="http://schemas.openxmlformats.org/drawingml/2006/main">
              <a:ext uri="{FF2B5EF4-FFF2-40B4-BE49-F238E27FC236}">
                <a16:creationId xmlns:a16="http://schemas.microsoft.com/office/drawing/2014/main" id="{1F4B5BD9-9A1A-456D-8EA5-099B7103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rPr>
              <a:t>+5 V</a:t>
            </a:r>
          </a:p>
        </p:txBody>
      </p:sp>
      <p:sp>
        <p:nvSpPr>
          <p:cNvPr id="56" name="ir-154">
            <a:extLst xmlns:a="http://schemas.openxmlformats.org/drawingml/2006/main">
              <a:ext uri="{FF2B5EF4-FFF2-40B4-BE49-F238E27FC236}">
                <a16:creationId xmlns:a16="http://schemas.microsoft.com/office/drawing/2014/main" id="{2A9BA34F-E261-4E53-8B8D-327C50BC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790825"/>
            <a:ext cx="9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284C7"/>
            </a:solidFill>
          </a:ln>
        </p:spPr>
      </p:sp>
      <p:sp>
        <p:nvSpPr>
          <p:cNvPr id="57" name="ir-155">
            <a:extLst xmlns:a="http://schemas.openxmlformats.org/drawingml/2006/main">
              <a:ext uri="{FF2B5EF4-FFF2-40B4-BE49-F238E27FC236}">
                <a16:creationId xmlns:a16="http://schemas.microsoft.com/office/drawing/2014/main" id="{8D833285-AC86-428B-85D4-9BECDE8D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9146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58" name="ir-156">
            <a:extLst xmlns:a="http://schemas.openxmlformats.org/drawingml/2006/main">
              <a:ext uri="{FF2B5EF4-FFF2-40B4-BE49-F238E27FC236}">
                <a16:creationId xmlns:a16="http://schemas.microsoft.com/office/drawing/2014/main" id="{97F370E7-012F-4D7F-B405-1F94AED6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59" name="ir-157">
            <a:extLst xmlns:a="http://schemas.openxmlformats.org/drawingml/2006/main">
              <a:ext uri="{FF2B5EF4-FFF2-40B4-BE49-F238E27FC236}">
                <a16:creationId xmlns:a16="http://schemas.microsoft.com/office/drawing/2014/main" id="{29A4F5FD-5452-429A-9ADB-6436C72E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60" name="ir-158">
            <a:extLst xmlns:a="http://schemas.openxmlformats.org/drawingml/2006/main">
              <a:ext uri="{FF2B5EF4-FFF2-40B4-BE49-F238E27FC236}">
                <a16:creationId xmlns:a16="http://schemas.microsoft.com/office/drawing/2014/main" id="{E04FD48B-2898-40AF-A7AE-17AB91A0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1051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61" name="ir-159">
            <a:extLst xmlns:a="http://schemas.openxmlformats.org/drawingml/2006/main">
              <a:ext uri="{FF2B5EF4-FFF2-40B4-BE49-F238E27FC236}">
                <a16:creationId xmlns:a16="http://schemas.microsoft.com/office/drawing/2014/main" id="{8B8E80E2-E5DD-4F50-BE14-304C37CF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241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100 nF</a:t>
            </a:r>
          </a:p>
        </p:txBody>
      </p:sp>
      <p:sp>
        <p:nvSpPr>
          <p:cNvPr id="62" name="ir-160">
            <a:extLst xmlns:a="http://schemas.openxmlformats.org/drawingml/2006/main">
              <a:ext uri="{FF2B5EF4-FFF2-40B4-BE49-F238E27FC236}">
                <a16:creationId xmlns:a16="http://schemas.microsoft.com/office/drawing/2014/main" id="{A8C0634F-FFCA-44E0-8FCB-77ACAC79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3850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63" name="ir-161">
            <a:extLst xmlns:a="http://schemas.openxmlformats.org/drawingml/2006/main">
              <a:ext uri="{FF2B5EF4-FFF2-40B4-BE49-F238E27FC236}">
                <a16:creationId xmlns:a16="http://schemas.microsoft.com/office/drawing/2014/main" id="{57B97E3F-F6B3-424D-AD70-803280A8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64" name="ir-162">
            <a:extLst xmlns:a="http://schemas.openxmlformats.org/drawingml/2006/main">
              <a:ext uri="{FF2B5EF4-FFF2-40B4-BE49-F238E27FC236}">
                <a16:creationId xmlns:a16="http://schemas.microsoft.com/office/drawing/2014/main" id="{76588788-56CC-402D-8316-0BEE85E9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1143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65" name="ir-163">
            <a:extLst xmlns:a="http://schemas.openxmlformats.org/drawingml/2006/main">
              <a:ext uri="{FF2B5EF4-FFF2-40B4-BE49-F238E27FC236}">
                <a16:creationId xmlns:a16="http://schemas.microsoft.com/office/drawing/2014/main" id="{A3C20BBC-79A4-4E9E-94DF-1C3A2DBB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90900"/>
            <a:ext cx="57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66" name="ir-164">
            <a:extLst xmlns:a="http://schemas.openxmlformats.org/drawingml/2006/main">
              <a:ext uri="{FF2B5EF4-FFF2-40B4-BE49-F238E27FC236}">
                <a16:creationId xmlns:a16="http://schemas.microsoft.com/office/drawing/2014/main" id="{1FEDF9EF-4813-4284-95C5-69B2EF11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43425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75" b="1">
                <a:solidFill>
                  <a:srgbClr val="0F172A"/>
                </a:solidFill>
                <a:latin typeface="Sarabun"/>
                <a:ea typeface="Sarabun"/>
                <a:cs typeface="Sarabun"/>
              </a:defRPr>
            </a:pPr>
            <a:r>
              <a:rPr sz="1575" b="1">
                <a:solidFill>
                  <a:srgbClr val="0F172A"/>
                </a:solidFill>
                <a:latin typeface="Sarabun"/>
                <a:ea typeface="Sarabun"/>
                <a:cs typeface="Sarabun"/>
              </a:rPr>
              <a:t>0 = ลำแสงขาด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575" b="1">
                <a:solidFill>
                  <a:srgbClr val="0F172A"/>
                </a:solidFill>
                <a:latin typeface="Sarabun"/>
                <a:ea typeface="Sarabun"/>
                <a:cs typeface="Sarabun"/>
              </a:defRPr>
            </a:pPr>
            <a:r>
              <a:rPr sz="1575" b="1">
                <a:solidFill>
                  <a:srgbClr val="0F172A"/>
                </a:solidFill>
                <a:latin typeface="Sarabun"/>
                <a:ea typeface="Sarabun"/>
                <a:cs typeface="Sarabun"/>
              </a:rPr>
              <a:t>1 = ลำแสงผ่าน</a:t>
            </a:r>
          </a:p>
        </p:txBody>
      </p:sp>
      <p:sp>
        <p:nvSpPr>
          <p:cNvPr id="67" name="ir-165">
            <a:extLst xmlns:a="http://schemas.openxmlformats.org/drawingml/2006/main">
              <a:ext uri="{FF2B5EF4-FFF2-40B4-BE49-F238E27FC236}">
                <a16:creationId xmlns:a16="http://schemas.microsoft.com/office/drawing/2014/main" id="{B5DEB249-41BE-40E0-987F-A1F4C6CA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C 100 nF บายพาสไฟเลี้ยง · ไม่ต่อ 12 V เข้าขา 8051 · วงจรนี้ยังไม่ตรวจความขัดข้องทุกแบบ</a:t>
            </a:r>
          </a:p>
        </p:txBody>
      </p:sp>
    </p:spTree>
    <p:extLst>
      <p:ext uri="{BB962C8B-B14F-4D97-AF65-F5344CB8AC3E}">
        <p14:creationId xmlns:p14="http://schemas.microsoft.com/office/powerpoint/2010/main" val="7683101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ir-166">
            <a:extLst xmlns:a="http://schemas.openxmlformats.org/drawingml/2006/main">
              <a:ext uri="{FF2B5EF4-FFF2-40B4-BE49-F238E27FC236}">
                <a16:creationId xmlns:a16="http://schemas.microsoft.com/office/drawing/2014/main" id="{7895EB83-91F7-476C-9775-55315136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วงจรขับมอเตอร์และระบบตัดแรงขับ</a:t>
            </a:r>
          </a:p>
        </p:txBody>
      </p:sp>
      <p:sp>
        <p:nvSpPr>
          <p:cNvPr id="2" name="ir-167">
            <a:extLst xmlns:a="http://schemas.openxmlformats.org/drawingml/2006/main">
              <a:ext uri="{FF2B5EF4-FFF2-40B4-BE49-F238E27FC236}">
                <a16:creationId xmlns:a16="http://schemas.microsoft.com/office/drawing/2014/main" id="{D3F76B0F-CE99-459D-BAD1-39EA4467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L293D Motor Driver &amp; Emergency Drive Disable</a:t>
            </a:r>
          </a:p>
        </p:txBody>
      </p:sp>
      <p:sp>
        <p:nvSpPr>
          <p:cNvPr id="3" name="ir-168">
            <a:extLst xmlns:a="http://schemas.openxmlformats.org/drawingml/2006/main">
              <a:ext uri="{FF2B5EF4-FFF2-40B4-BE49-F238E27FC236}">
                <a16:creationId xmlns:a16="http://schemas.microsoft.com/office/drawing/2014/main" id="{F63534FC-98EC-4164-A7D4-783C62F5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169">
            <a:extLst xmlns:a="http://schemas.openxmlformats.org/drawingml/2006/main">
              <a:ext uri="{FF2B5EF4-FFF2-40B4-BE49-F238E27FC236}">
                <a16:creationId xmlns:a16="http://schemas.microsoft.com/office/drawing/2014/main" id="{95DC3104-0CD9-481F-A628-F767FE29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5" name="ir-170">
            <a:extLst xmlns:a="http://schemas.openxmlformats.org/drawingml/2006/main">
              <a:ext uri="{FF2B5EF4-FFF2-40B4-BE49-F238E27FC236}">
                <a16:creationId xmlns:a16="http://schemas.microsoft.com/office/drawing/2014/main" id="{83281BA2-7A43-4D64-821B-D0E68573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ir-171">
            <a:extLst xmlns:a="http://schemas.openxmlformats.org/drawingml/2006/main">
              <a:ext uri="{FF2B5EF4-FFF2-40B4-BE49-F238E27FC236}">
                <a16:creationId xmlns:a16="http://schemas.microsoft.com/office/drawing/2014/main" id="{1035D1FE-DF6B-4909-9DF2-64C552E3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2057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ir-172">
            <a:extLst xmlns:a="http://schemas.openxmlformats.org/drawingml/2006/main">
              <a:ext uri="{FF2B5EF4-FFF2-40B4-BE49-F238E27FC236}">
                <a16:creationId xmlns:a16="http://schemas.microsoft.com/office/drawing/2014/main" id="{A9ADEECC-45E2-4D41-BFD6-CB853873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1752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575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AT89S52</a:t>
            </a:r>
          </a:p>
        </p:txBody>
      </p:sp>
      <p:sp>
        <p:nvSpPr>
          <p:cNvPr id="8" name="ir-173">
            <a:extLst xmlns:a="http://schemas.openxmlformats.org/drawingml/2006/main">
              <a:ext uri="{FF2B5EF4-FFF2-40B4-BE49-F238E27FC236}">
                <a16:creationId xmlns:a16="http://schemas.microsoft.com/office/drawing/2014/main" id="{DE3DD087-F31B-490E-A57B-DE285442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P1.0(1) IN1</a:t>
            </a:r>
          </a:p>
        </p:txBody>
      </p:sp>
      <p:sp>
        <p:nvSpPr>
          <p:cNvPr id="9" name="ir-174">
            <a:extLst xmlns:a="http://schemas.openxmlformats.org/drawingml/2006/main">
              <a:ext uri="{FF2B5EF4-FFF2-40B4-BE49-F238E27FC236}">
                <a16:creationId xmlns:a16="http://schemas.microsoft.com/office/drawing/2014/main" id="{00FA2AB2-40F6-4208-988E-2BDFAAA0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24225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P1.1(2) IN2</a:t>
            </a:r>
          </a:p>
        </p:txBody>
      </p:sp>
      <p:sp>
        <p:nvSpPr>
          <p:cNvPr id="10" name="ir-175">
            <a:extLst xmlns:a="http://schemas.openxmlformats.org/drawingml/2006/main">
              <a:ext uri="{FF2B5EF4-FFF2-40B4-BE49-F238E27FC236}">
                <a16:creationId xmlns:a16="http://schemas.microsoft.com/office/drawing/2014/main" id="{9C1C3FA9-4436-4A0C-95B9-AAB84A0A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P1.2(3) RUN_N</a:t>
            </a:r>
          </a:p>
        </p:txBody>
      </p:sp>
      <p:sp>
        <p:nvSpPr>
          <p:cNvPr id="11" name="ir-176">
            <a:extLst xmlns:a="http://schemas.openxmlformats.org/drawingml/2006/main">
              <a:ext uri="{FF2B5EF4-FFF2-40B4-BE49-F238E27FC236}">
                <a16:creationId xmlns:a16="http://schemas.microsoft.com/office/drawing/2014/main" id="{A0228565-2800-4A34-8A6F-57D82CFD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19050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ir-177">
            <a:extLst xmlns:a="http://schemas.openxmlformats.org/drawingml/2006/main">
              <a:ext uri="{FF2B5EF4-FFF2-40B4-BE49-F238E27FC236}">
                <a16:creationId xmlns:a16="http://schemas.microsoft.com/office/drawing/2014/main" id="{88139ABB-DC0D-48CA-B351-C5DBE5C9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L293D</a:t>
            </a:r>
          </a:p>
        </p:txBody>
      </p:sp>
      <p:sp>
        <p:nvSpPr>
          <p:cNvPr id="13" name="ir-178">
            <a:extLst xmlns:a="http://schemas.openxmlformats.org/drawingml/2006/main">
              <a:ext uri="{FF2B5EF4-FFF2-40B4-BE49-F238E27FC236}">
                <a16:creationId xmlns:a16="http://schemas.microsoft.com/office/drawing/2014/main" id="{FDE6AE8A-6DAD-4BC9-B752-063B1378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28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2  IN1</a:t>
            </a:r>
          </a:p>
        </p:txBody>
      </p:sp>
      <p:sp>
        <p:nvSpPr>
          <p:cNvPr id="14" name="ir-179">
            <a:extLst xmlns:a="http://schemas.openxmlformats.org/drawingml/2006/main">
              <a:ext uri="{FF2B5EF4-FFF2-40B4-BE49-F238E27FC236}">
                <a16:creationId xmlns:a16="http://schemas.microsoft.com/office/drawing/2014/main" id="{BA370C06-4172-4F9E-BB03-B4E0E019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62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7  IN2</a:t>
            </a:r>
          </a:p>
        </p:txBody>
      </p:sp>
      <p:sp>
        <p:nvSpPr>
          <p:cNvPr id="15" name="ir-180">
            <a:extLst xmlns:a="http://schemas.openxmlformats.org/drawingml/2006/main">
              <a:ext uri="{FF2B5EF4-FFF2-40B4-BE49-F238E27FC236}">
                <a16:creationId xmlns:a16="http://schemas.microsoft.com/office/drawing/2014/main" id="{7B766E0A-3FB0-47CE-A545-20CBC3F6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95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1  EN1</a:t>
            </a:r>
          </a:p>
        </p:txBody>
      </p:sp>
      <p:sp>
        <p:nvSpPr>
          <p:cNvPr id="16" name="ir-181">
            <a:extLst xmlns:a="http://schemas.openxmlformats.org/drawingml/2006/main">
              <a:ext uri="{FF2B5EF4-FFF2-40B4-BE49-F238E27FC236}">
                <a16:creationId xmlns:a16="http://schemas.microsoft.com/office/drawing/2014/main" id="{0DE7377C-6A46-4B81-BE61-8B42284E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3105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284C7"/>
            </a:solidFill>
          </a:ln>
        </p:spPr>
      </p:sp>
      <p:sp>
        <p:nvSpPr>
          <p:cNvPr id="17" name="ir-182">
            <a:extLst xmlns:a="http://schemas.openxmlformats.org/drawingml/2006/main">
              <a:ext uri="{FF2B5EF4-FFF2-40B4-BE49-F238E27FC236}">
                <a16:creationId xmlns:a16="http://schemas.microsoft.com/office/drawing/2014/main" id="{22071844-D27D-408C-BD93-BBA507D3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76625"/>
            <a:ext cx="3105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284C7"/>
            </a:solidFill>
          </a:ln>
        </p:spPr>
      </p:sp>
      <p:sp>
        <p:nvSpPr>
          <p:cNvPr id="18" name="ir-183">
            <a:extLst xmlns:a="http://schemas.openxmlformats.org/drawingml/2006/main">
              <a:ext uri="{FF2B5EF4-FFF2-40B4-BE49-F238E27FC236}">
                <a16:creationId xmlns:a16="http://schemas.microsoft.com/office/drawing/2014/main" id="{DC4E52E6-6240-4FD9-BA77-213F3ED1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10000"/>
            <a:ext cx="800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284C7"/>
            </a:solidFill>
          </a:ln>
        </p:spPr>
      </p:sp>
      <p:sp>
        <p:nvSpPr>
          <p:cNvPr id="19" name="ir-184">
            <a:extLst xmlns:a="http://schemas.openxmlformats.org/drawingml/2006/main">
              <a:ext uri="{FF2B5EF4-FFF2-40B4-BE49-F238E27FC236}">
                <a16:creationId xmlns:a16="http://schemas.microsoft.com/office/drawing/2014/main" id="{27134412-61CA-4BC5-87EC-D5AA7CB9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576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ir-185">
            <a:extLst xmlns:a="http://schemas.openxmlformats.org/drawingml/2006/main">
              <a:ext uri="{FF2B5EF4-FFF2-40B4-BE49-F238E27FC236}">
                <a16:creationId xmlns:a16="http://schemas.microsoft.com/office/drawing/2014/main" id="{950BB67A-2531-48A8-BFAA-6F59B0A7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576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rPr>
              <a:t>HCT14</a:t>
            </a:r>
          </a:p>
        </p:txBody>
      </p:sp>
      <p:sp>
        <p:nvSpPr>
          <p:cNvPr id="21" name="ir-186">
            <a:extLst xmlns:a="http://schemas.openxmlformats.org/drawingml/2006/main">
              <a:ext uri="{FF2B5EF4-FFF2-40B4-BE49-F238E27FC236}">
                <a16:creationId xmlns:a16="http://schemas.microsoft.com/office/drawing/2014/main" id="{281215D6-B16D-4FB2-AD3F-102C0C5A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10000"/>
            <a:ext cx="3238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284C7"/>
            </a:solidFill>
          </a:ln>
        </p:spPr>
      </p:sp>
      <p:sp>
        <p:nvSpPr>
          <p:cNvPr id="22" name="ir-187">
            <a:extLst xmlns:a="http://schemas.openxmlformats.org/drawingml/2006/main">
              <a:ext uri="{FF2B5EF4-FFF2-40B4-BE49-F238E27FC236}">
                <a16:creationId xmlns:a16="http://schemas.microsoft.com/office/drawing/2014/main" id="{09E424A6-A08A-4FCD-9896-334D68CA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781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</a:ln>
        </p:spPr>
      </p:sp>
      <p:sp>
        <p:nvSpPr>
          <p:cNvPr id="23" name="ir-188">
            <a:extLst xmlns:a="http://schemas.openxmlformats.org/drawingml/2006/main">
              <a:ext uri="{FF2B5EF4-FFF2-40B4-BE49-F238E27FC236}">
                <a16:creationId xmlns:a16="http://schemas.microsoft.com/office/drawing/2014/main" id="{9034BE5A-3B62-45A3-B0C0-038EA838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81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</a:ln>
        </p:spPr>
      </p:sp>
      <p:sp>
        <p:nvSpPr>
          <p:cNvPr id="24" name="ir-189">
            <a:extLst xmlns:a="http://schemas.openxmlformats.org/drawingml/2006/main">
              <a:ext uri="{FF2B5EF4-FFF2-40B4-BE49-F238E27FC236}">
                <a16:creationId xmlns:a16="http://schemas.microsoft.com/office/drawing/2014/main" id="{EF7989D9-1538-46E6-90D7-B66BAC51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10000"/>
            <a:ext cx="333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172A"/>
            </a:solidFill>
          </a:ln>
        </p:spPr>
      </p:sp>
      <p:sp>
        <p:nvSpPr>
          <p:cNvPr id="25" name="ir-190">
            <a:extLst xmlns:a="http://schemas.openxmlformats.org/drawingml/2006/main">
              <a:ext uri="{FF2B5EF4-FFF2-40B4-BE49-F238E27FC236}">
                <a16:creationId xmlns:a16="http://schemas.microsoft.com/office/drawing/2014/main" id="{3B7C9ADA-BAE4-432D-BC71-00C1EF0F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810000"/>
            <a:ext cx="6953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284C7"/>
            </a:solidFill>
          </a:ln>
        </p:spPr>
      </p:sp>
      <p:sp>
        <p:nvSpPr>
          <p:cNvPr id="26" name="ir-191">
            <a:extLst xmlns:a="http://schemas.openxmlformats.org/drawingml/2006/main">
              <a:ext uri="{FF2B5EF4-FFF2-40B4-BE49-F238E27FC236}">
                <a16:creationId xmlns:a16="http://schemas.microsoft.com/office/drawing/2014/main" id="{AE56D667-B8EE-49F9-B0B8-6E218E14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10025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NC1</a:t>
            </a:r>
          </a:p>
        </p:txBody>
      </p:sp>
      <p:sp>
        <p:nvSpPr>
          <p:cNvPr id="27" name="ir-192">
            <a:extLst xmlns:a="http://schemas.openxmlformats.org/drawingml/2006/main">
              <a:ext uri="{FF2B5EF4-FFF2-40B4-BE49-F238E27FC236}">
                <a16:creationId xmlns:a16="http://schemas.microsoft.com/office/drawing/2014/main" id="{83596A51-C12E-498F-BCAD-1E658389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19550"/>
            <a:ext cx="733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00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 → 2</a:t>
            </a:r>
          </a:p>
        </p:txBody>
      </p:sp>
      <p:sp>
        <p:nvSpPr>
          <p:cNvPr id="28" name="ir-193">
            <a:extLst xmlns:a="http://schemas.openxmlformats.org/drawingml/2006/main">
              <a:ext uri="{FF2B5EF4-FFF2-40B4-BE49-F238E27FC236}">
                <a16:creationId xmlns:a16="http://schemas.microsoft.com/office/drawing/2014/main" id="{E4091106-5E2C-4483-9AA4-3F93CA56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81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</a:ln>
        </p:spPr>
      </p:sp>
      <p:sp>
        <p:nvSpPr>
          <p:cNvPr id="29" name="ir-194">
            <a:extLst xmlns:a="http://schemas.openxmlformats.org/drawingml/2006/main">
              <a:ext uri="{FF2B5EF4-FFF2-40B4-BE49-F238E27FC236}">
                <a16:creationId xmlns:a16="http://schemas.microsoft.com/office/drawing/2014/main" id="{4AF29EE0-BEFB-4883-BC16-1FB8387D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810000"/>
            <a:ext cx="9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284C7"/>
            </a:solidFill>
          </a:ln>
        </p:spPr>
      </p:sp>
      <p:sp>
        <p:nvSpPr>
          <p:cNvPr id="30" name="ir-195">
            <a:extLst xmlns:a="http://schemas.openxmlformats.org/drawingml/2006/main">
              <a:ext uri="{FF2B5EF4-FFF2-40B4-BE49-F238E27FC236}">
                <a16:creationId xmlns:a16="http://schemas.microsoft.com/office/drawing/2014/main" id="{98B8800B-6607-4528-9F73-711B407B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4005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31" name="ir-196">
            <a:extLst xmlns:a="http://schemas.openxmlformats.org/drawingml/2006/main">
              <a:ext uri="{FF2B5EF4-FFF2-40B4-BE49-F238E27FC236}">
                <a16:creationId xmlns:a16="http://schemas.microsoft.com/office/drawing/2014/main" id="{AE7FBBA0-8FD9-4262-AB6D-BBE0607C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9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32" name="ir-197">
            <a:extLst xmlns:a="http://schemas.openxmlformats.org/drawingml/2006/main">
              <a:ext uri="{FF2B5EF4-FFF2-40B4-BE49-F238E27FC236}">
                <a16:creationId xmlns:a16="http://schemas.microsoft.com/office/drawing/2014/main" id="{8ED22CE6-895A-4729-8BBD-96E91C91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72440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33" name="ir-198">
            <a:extLst xmlns:a="http://schemas.openxmlformats.org/drawingml/2006/main">
              <a:ext uri="{FF2B5EF4-FFF2-40B4-BE49-F238E27FC236}">
                <a16:creationId xmlns:a16="http://schemas.microsoft.com/office/drawing/2014/main" id="{7E968B8F-34E0-4F35-8DA0-36299657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00550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10 kΩ</a:t>
            </a:r>
          </a:p>
        </p:txBody>
      </p:sp>
      <p:sp>
        <p:nvSpPr>
          <p:cNvPr id="34" name="ir-199">
            <a:extLst xmlns:a="http://schemas.openxmlformats.org/drawingml/2006/main">
              <a:ext uri="{FF2B5EF4-FFF2-40B4-BE49-F238E27FC236}">
                <a16:creationId xmlns:a16="http://schemas.microsoft.com/office/drawing/2014/main" id="{25E002F2-48CB-461A-9139-5368C003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80060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35" name="ir-200">
            <a:extLst xmlns:a="http://schemas.openxmlformats.org/drawingml/2006/main">
              <a:ext uri="{FF2B5EF4-FFF2-40B4-BE49-F238E27FC236}">
                <a16:creationId xmlns:a16="http://schemas.microsoft.com/office/drawing/2014/main" id="{467B8A49-7072-4F4C-8103-2F19FC86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36" name="ir-201">
            <a:extLst xmlns:a="http://schemas.openxmlformats.org/drawingml/2006/main">
              <a:ext uri="{FF2B5EF4-FFF2-40B4-BE49-F238E27FC236}">
                <a16:creationId xmlns:a16="http://schemas.microsoft.com/office/drawing/2014/main" id="{19DE4D88-80CD-4B31-A2DE-71A962ED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914900"/>
            <a:ext cx="1143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37" name="ir-202">
            <a:extLst xmlns:a="http://schemas.openxmlformats.org/drawingml/2006/main">
              <a:ext uri="{FF2B5EF4-FFF2-40B4-BE49-F238E27FC236}">
                <a16:creationId xmlns:a16="http://schemas.microsoft.com/office/drawing/2014/main" id="{B3AEDE57-01C0-4904-9D0C-9079606F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53000"/>
            <a:ext cx="57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38" name="ir-203">
            <a:extLst xmlns:a="http://schemas.openxmlformats.org/drawingml/2006/main">
              <a:ext uri="{FF2B5EF4-FFF2-40B4-BE49-F238E27FC236}">
                <a16:creationId xmlns:a16="http://schemas.microsoft.com/office/drawing/2014/main" id="{E39E826D-1384-4218-8114-C1891451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28850"/>
            <a:ext cx="9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284C7"/>
            </a:solidFill>
          </a:ln>
        </p:spPr>
      </p:sp>
      <p:sp>
        <p:nvSpPr>
          <p:cNvPr id="39" name="ir-204">
            <a:extLst xmlns:a="http://schemas.openxmlformats.org/drawingml/2006/main">
              <a:ext uri="{FF2B5EF4-FFF2-40B4-BE49-F238E27FC236}">
                <a16:creationId xmlns:a16="http://schemas.microsoft.com/office/drawing/2014/main" id="{DD6F2C39-D448-4149-88D0-ED075D52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33575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rPr>
              <a:t>16 · +5 V</a:t>
            </a:r>
          </a:p>
        </p:txBody>
      </p:sp>
      <p:sp>
        <p:nvSpPr>
          <p:cNvPr id="40" name="ir-205">
            <a:extLst xmlns:a="http://schemas.openxmlformats.org/drawingml/2006/main">
              <a:ext uri="{FF2B5EF4-FFF2-40B4-BE49-F238E27FC236}">
                <a16:creationId xmlns:a16="http://schemas.microsoft.com/office/drawing/2014/main" id="{53A6A7DB-C105-45A7-AA16-AE5F494A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28850"/>
            <a:ext cx="9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1" name="ir-206">
            <a:extLst xmlns:a="http://schemas.openxmlformats.org/drawingml/2006/main">
              <a:ext uri="{FF2B5EF4-FFF2-40B4-BE49-F238E27FC236}">
                <a16:creationId xmlns:a16="http://schemas.microsoft.com/office/drawing/2014/main" id="{8DF86C1F-FB2D-4725-BCE5-CF6423AB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3357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>
                <a:solidFill>
                  <a:srgbClr val="D9770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97706"/>
                </a:solidFill>
                <a:latin typeface="JetBrains Mono"/>
                <a:ea typeface="JetBrains Mono"/>
                <a:cs typeface="JetBrains Mono"/>
              </a:rPr>
              <a:t>8 · +12 V</a:t>
            </a:r>
          </a:p>
        </p:txBody>
      </p:sp>
      <p:sp>
        <p:nvSpPr>
          <p:cNvPr id="42" name="ir-207">
            <a:extLst xmlns:a="http://schemas.openxmlformats.org/drawingml/2006/main">
              <a:ext uri="{FF2B5EF4-FFF2-40B4-BE49-F238E27FC236}">
                <a16:creationId xmlns:a16="http://schemas.microsoft.com/office/drawing/2014/main" id="{6273F91F-36AD-468B-94F1-3939540F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28950"/>
            <a:ext cx="771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3 OUT1</a:t>
            </a:r>
          </a:p>
        </p:txBody>
      </p:sp>
      <p:sp>
        <p:nvSpPr>
          <p:cNvPr id="43" name="ir-208">
            <a:extLst xmlns:a="http://schemas.openxmlformats.org/drawingml/2006/main">
              <a:ext uri="{FF2B5EF4-FFF2-40B4-BE49-F238E27FC236}">
                <a16:creationId xmlns:a16="http://schemas.microsoft.com/office/drawing/2014/main" id="{CDA3CB99-4758-4805-AB78-4E814E1C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81450"/>
            <a:ext cx="771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6 OUT2</a:t>
            </a:r>
          </a:p>
        </p:txBody>
      </p:sp>
      <p:sp>
        <p:nvSpPr>
          <p:cNvPr id="44" name="ir-209">
            <a:extLst xmlns:a="http://schemas.openxmlformats.org/drawingml/2006/main">
              <a:ext uri="{FF2B5EF4-FFF2-40B4-BE49-F238E27FC236}">
                <a16:creationId xmlns:a16="http://schemas.microsoft.com/office/drawing/2014/main" id="{88150A08-04B4-4EDE-B21C-CCEF6F03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7334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5" name="ir-210">
            <a:extLst xmlns:a="http://schemas.openxmlformats.org/drawingml/2006/main">
              <a:ext uri="{FF2B5EF4-FFF2-40B4-BE49-F238E27FC236}">
                <a16:creationId xmlns:a16="http://schemas.microsoft.com/office/drawing/2014/main" id="{964791AD-8162-4B23-B11E-7AF4D228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43250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6" name="ir-211">
            <a:extLst xmlns:a="http://schemas.openxmlformats.org/drawingml/2006/main">
              <a:ext uri="{FF2B5EF4-FFF2-40B4-BE49-F238E27FC236}">
                <a16:creationId xmlns:a16="http://schemas.microsoft.com/office/drawing/2014/main" id="{4DB75A54-80E3-4FF8-B37A-FCC6E305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361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47" name="ir-212">
            <a:extLst xmlns:a="http://schemas.openxmlformats.org/drawingml/2006/main">
              <a:ext uri="{FF2B5EF4-FFF2-40B4-BE49-F238E27FC236}">
                <a16:creationId xmlns:a16="http://schemas.microsoft.com/office/drawing/2014/main" id="{997A2284-1EF6-46B9-A83E-EFABB34D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43250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8" name="ir-213">
            <a:extLst xmlns:a="http://schemas.openxmlformats.org/drawingml/2006/main">
              <a:ext uri="{FF2B5EF4-FFF2-40B4-BE49-F238E27FC236}">
                <a16:creationId xmlns:a16="http://schemas.microsoft.com/office/drawing/2014/main" id="{84DEA118-FA06-4185-8681-BF7333C0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27 Ω 10 W</a:t>
            </a:r>
          </a:p>
        </p:txBody>
      </p:sp>
      <p:sp>
        <p:nvSpPr>
          <p:cNvPr id="49" name="route-214">
            <a:extLst xmlns:a="http://schemas.openxmlformats.org/drawingml/2006/main">
              <a:ext uri="{FF2B5EF4-FFF2-40B4-BE49-F238E27FC236}">
                <a16:creationId xmlns:a16="http://schemas.microsoft.com/office/drawing/2014/main" id="{6C6D44A8-15DE-48BA-9B79-20DC6218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43250"/>
            <a:ext cx="1133475" cy="247650"/>
          </a:xfrm>
          <a:custGeom xmlns:a="http://schemas.openxmlformats.org/drawingml/2006/main">
            <a:pathLst>
              <a:path w="1133475" h="247650">
                <a:moveTo>
                  <a:pt x="0" y="0"/>
                </a:moveTo>
                <a:lnTo>
                  <a:pt x="1133475" y="0"/>
                </a:lnTo>
                <a:lnTo>
                  <a:pt x="1133475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50" name="ir-215">
            <a:extLst xmlns:a="http://schemas.openxmlformats.org/drawingml/2006/main">
              <a:ext uri="{FF2B5EF4-FFF2-40B4-BE49-F238E27FC236}">
                <a16:creationId xmlns:a16="http://schemas.microsoft.com/office/drawing/2014/main" id="{8996998C-8FDA-474A-9363-62277190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909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172A"/>
            </a:solidFill>
          </a:ln>
        </p:spPr>
      </p:sp>
      <p:sp>
        <p:nvSpPr>
          <p:cNvPr id="51" name="ir-216">
            <a:extLst xmlns:a="http://schemas.openxmlformats.org/drawingml/2006/main">
              <a:ext uri="{FF2B5EF4-FFF2-40B4-BE49-F238E27FC236}">
                <a16:creationId xmlns:a16="http://schemas.microsoft.com/office/drawing/2014/main" id="{8987DC8E-9C1C-41DF-B38E-9CECA377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505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725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M</a:t>
            </a:r>
          </a:p>
        </p:txBody>
      </p:sp>
      <p:sp>
        <p:nvSpPr>
          <p:cNvPr id="52" name="route-217">
            <a:extLst xmlns:a="http://schemas.openxmlformats.org/drawingml/2006/main">
              <a:ext uri="{FF2B5EF4-FFF2-40B4-BE49-F238E27FC236}">
                <a16:creationId xmlns:a16="http://schemas.microsoft.com/office/drawing/2014/main" id="{8D12DFC5-9B92-4B17-A515-69057148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2381250" cy="133350"/>
          </a:xfrm>
          <a:custGeom xmlns:a="http://schemas.openxmlformats.org/drawingml/2006/main">
            <a:pathLst>
              <a:path w="2381250" h="133350">
                <a:moveTo>
                  <a:pt x="2381250" y="0"/>
                </a:moveTo>
                <a:lnTo>
                  <a:pt x="2381250" y="133350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53" name="ir-218">
            <a:extLst xmlns:a="http://schemas.openxmlformats.org/drawingml/2006/main">
              <a:ext uri="{FF2B5EF4-FFF2-40B4-BE49-F238E27FC236}">
                <a16:creationId xmlns:a16="http://schemas.microsoft.com/office/drawing/2014/main" id="{874BC683-1804-4701-9C59-FB0C4F1F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91025"/>
            <a:ext cx="1895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Pololu #3041</a:t>
            </a:r>
          </a:p>
        </p:txBody>
      </p:sp>
      <p:sp>
        <p:nvSpPr>
          <p:cNvPr id="54" name="ir-219">
            <a:extLst xmlns:a="http://schemas.openxmlformats.org/drawingml/2006/main">
              <a:ext uri="{FF2B5EF4-FFF2-40B4-BE49-F238E27FC236}">
                <a16:creationId xmlns:a16="http://schemas.microsoft.com/office/drawing/2014/main" id="{57D0D53E-CEE1-4DFA-836A-66EDBB35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705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>
                <a:solidFill>
                  <a:srgbClr val="D9770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97706"/>
                </a:solidFill>
                <a:latin typeface="JetBrains Mono"/>
                <a:ea typeface="JetBrains Mono"/>
                <a:cs typeface="JetBrains Mono"/>
              </a:rPr>
              <a:t>12 V DC</a:t>
            </a:r>
          </a:p>
        </p:txBody>
      </p:sp>
      <p:sp>
        <p:nvSpPr>
          <p:cNvPr id="55" name="ir-220">
            <a:extLst xmlns:a="http://schemas.openxmlformats.org/drawingml/2006/main">
              <a:ext uri="{FF2B5EF4-FFF2-40B4-BE49-F238E27FC236}">
                <a16:creationId xmlns:a16="http://schemas.microsoft.com/office/drawing/2014/main" id="{819038AD-EBE4-45D6-9D79-407F1A83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33875"/>
            <a:ext cx="95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56" name="ir-221">
            <a:extLst xmlns:a="http://schemas.openxmlformats.org/drawingml/2006/main">
              <a:ext uri="{FF2B5EF4-FFF2-40B4-BE49-F238E27FC236}">
                <a16:creationId xmlns:a16="http://schemas.microsoft.com/office/drawing/2014/main" id="{AEA725D0-49D4-4312-8324-8931C819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52975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57" name="ir-222">
            <a:extLst xmlns:a="http://schemas.openxmlformats.org/drawingml/2006/main">
              <a:ext uri="{FF2B5EF4-FFF2-40B4-BE49-F238E27FC236}">
                <a16:creationId xmlns:a16="http://schemas.microsoft.com/office/drawing/2014/main" id="{EA0FF5C8-F3CF-44A7-AC10-F2AD9A33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291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58" name="ir-223">
            <a:extLst xmlns:a="http://schemas.openxmlformats.org/drawingml/2006/main">
              <a:ext uri="{FF2B5EF4-FFF2-40B4-BE49-F238E27FC236}">
                <a16:creationId xmlns:a16="http://schemas.microsoft.com/office/drawing/2014/main" id="{941561FE-5BBC-42A8-8AD8-23260F88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67275"/>
            <a:ext cx="1143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59" name="ir-224">
            <a:extLst xmlns:a="http://schemas.openxmlformats.org/drawingml/2006/main">
              <a:ext uri="{FF2B5EF4-FFF2-40B4-BE49-F238E27FC236}">
                <a16:creationId xmlns:a16="http://schemas.microsoft.com/office/drawing/2014/main" id="{84536F6F-0A23-42B5-A9EE-7BD05006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905375"/>
            <a:ext cx="57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</a:ln>
        </p:spPr>
      </p:sp>
      <p:sp>
        <p:nvSpPr>
          <p:cNvPr id="60" name="ir-225">
            <a:extLst xmlns:a="http://schemas.openxmlformats.org/drawingml/2006/main">
              <a:ext uri="{FF2B5EF4-FFF2-40B4-BE49-F238E27FC236}">
                <a16:creationId xmlns:a16="http://schemas.microsoft.com/office/drawing/2014/main" id="{43513E66-5286-4DEE-996B-397CA438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911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GND 4,5,12,13</a:t>
            </a:r>
          </a:p>
        </p:txBody>
      </p:sp>
      <p:sp>
        <p:nvSpPr>
          <p:cNvPr id="61" name="ir-226">
            <a:extLst xmlns:a="http://schemas.openxmlformats.org/drawingml/2006/main">
              <a:ext uri="{FF2B5EF4-FFF2-40B4-BE49-F238E27FC236}">
                <a16:creationId xmlns:a16="http://schemas.microsoft.com/office/drawing/2014/main" id="{4A187385-44A4-49A4-8886-7691E57D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483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ไฟสถานะ Active-LOW: 5 V → R 2.2 kΩ → LED → ขา P1</a:t>
            </a:r>
          </a:p>
        </p:txBody>
      </p:sp>
      <p:sp>
        <p:nvSpPr>
          <p:cNvPr id="62" name="ir-227">
            <a:extLst xmlns:a="http://schemas.openxmlformats.org/drawingml/2006/main">
              <a:ext uri="{FF2B5EF4-FFF2-40B4-BE49-F238E27FC236}">
                <a16:creationId xmlns:a16="http://schemas.microsoft.com/office/drawing/2014/main" id="{F606F7CC-8A78-4923-9EB2-629D7670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518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1">
                <a:solidFill>
                  <a:srgbClr val="D97706"/>
                </a:solidFill>
                <a:latin typeface="Sarabun"/>
                <a:ea typeface="Sarabun"/>
                <a:cs typeface="Sarabun"/>
              </a:defRPr>
            </a:pPr>
            <a:r>
              <a:rPr sz="1400" b="1">
                <a:solidFill>
                  <a:srgbClr val="D97706"/>
                </a:solidFill>
                <a:latin typeface="Sarabun"/>
                <a:ea typeface="Sarabun"/>
                <a:cs typeface="Sarabun"/>
              </a:rPr>
              <a:t>ขอบเขต DC ที่ 12 V:  I ≤ 12 ÷ 27 ≈ 0.44 A</a:t>
            </a:r>
          </a:p>
        </p:txBody>
      </p:sp>
      <p:sp>
        <p:nvSpPr>
          <p:cNvPr id="63" name="ir-228">
            <a:extLst xmlns:a="http://schemas.openxmlformats.org/drawingml/2006/main">
              <a:ext uri="{FF2B5EF4-FFF2-40B4-BE49-F238E27FC236}">
                <a16:creationId xmlns:a16="http://schemas.microsoft.com/office/drawing/2014/main" id="{9E52699E-218B-4EB6-98A4-22E23DED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00700"/>
            <a:ext cx="518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0F172A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  <a:cs typeface="Sarabun"/>
              </a:rPr>
              <a:t>จำกัดแหล่งจ่าย 0.50 A และวัดความร้อนจริง</a:t>
            </a:r>
          </a:p>
        </p:txBody>
      </p:sp>
      <p:sp>
        <p:nvSpPr>
          <p:cNvPr id="64" name="ir-229">
            <a:extLst xmlns:a="http://schemas.openxmlformats.org/drawingml/2006/main">
              <a:ext uri="{FF2B5EF4-FFF2-40B4-BE49-F238E27FC236}">
                <a16:creationId xmlns:a16="http://schemas.microsoft.com/office/drawing/2014/main" id="{2954D46E-1F6E-4405-BE8B-BADDEC86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E-stop อีกหน้าสัมผัส NC2 ต่อ P2.7 · R อนุกรมไม่รับประกันกระแสกระชากขณะกลับทิศ</a:t>
            </a:r>
          </a:p>
        </p:txBody>
      </p:sp>
    </p:spTree>
    <p:extLst>
      <p:ext uri="{BB962C8B-B14F-4D97-AF65-F5344CB8AC3E}">
        <p14:creationId xmlns:p14="http://schemas.microsoft.com/office/powerpoint/2010/main" val="6783181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ir-230">
            <a:extLst xmlns:a="http://schemas.openxmlformats.org/drawingml/2006/main">
              <a:ext uri="{FF2B5EF4-FFF2-40B4-BE49-F238E27FC236}">
                <a16:creationId xmlns:a16="http://schemas.microsoft.com/office/drawing/2014/main" id="{45411A38-E39F-4A62-A62E-EF44D324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การจัดสรรขาและพอร์ต AT89S52</a:t>
            </a:r>
          </a:p>
        </p:txBody>
      </p:sp>
      <p:sp>
        <p:nvSpPr>
          <p:cNvPr id="2" name="ir-231">
            <a:extLst xmlns:a="http://schemas.openxmlformats.org/drawingml/2006/main">
              <a:ext uri="{FF2B5EF4-FFF2-40B4-BE49-F238E27FC236}">
                <a16:creationId xmlns:a16="http://schemas.microsoft.com/office/drawing/2014/main" id="{70964E4F-00D1-4D3A-8DB8-9E536644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AT89S52 Pin &amp; Port Allocation · DIP-40</a:t>
            </a:r>
          </a:p>
        </p:txBody>
      </p:sp>
      <p:sp>
        <p:nvSpPr>
          <p:cNvPr id="3" name="ir-232">
            <a:extLst xmlns:a="http://schemas.openxmlformats.org/drawingml/2006/main">
              <a:ext uri="{FF2B5EF4-FFF2-40B4-BE49-F238E27FC236}">
                <a16:creationId xmlns:a16="http://schemas.microsoft.com/office/drawing/2014/main" id="{A1192DCE-970A-4D83-9C16-2C0778BD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233">
            <a:extLst xmlns:a="http://schemas.openxmlformats.org/drawingml/2006/main">
              <a:ext uri="{FF2B5EF4-FFF2-40B4-BE49-F238E27FC236}">
                <a16:creationId xmlns:a16="http://schemas.microsoft.com/office/drawing/2014/main" id="{27384A9C-644F-4128-BAFF-02EE9F22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5" name="ir-234">
            <a:extLst xmlns:a="http://schemas.openxmlformats.org/drawingml/2006/main">
              <a:ext uri="{FF2B5EF4-FFF2-40B4-BE49-F238E27FC236}">
                <a16:creationId xmlns:a16="http://schemas.microsoft.com/office/drawing/2014/main" id="{56FFA82B-5D88-4292-8C5B-F0464CBE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33528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ir-235">
            <a:extLst xmlns:a="http://schemas.openxmlformats.org/drawingml/2006/main">
              <a:ext uri="{FF2B5EF4-FFF2-40B4-BE49-F238E27FC236}">
                <a16:creationId xmlns:a16="http://schemas.microsoft.com/office/drawing/2014/main" id="{1797CEB6-3847-4A44-B2A9-4867BFDF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284C7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284C7"/>
                </a:solidFill>
                <a:latin typeface="Prompt"/>
                <a:ea typeface="Prompt"/>
                <a:cs typeface="Prompt"/>
              </a:rPr>
              <a:t>Port 2 · Inputs</a:t>
            </a:r>
          </a:p>
        </p:txBody>
      </p:sp>
      <p:sp>
        <p:nvSpPr>
          <p:cNvPr id="7" name="ir-236">
            <a:extLst xmlns:a="http://schemas.openxmlformats.org/drawingml/2006/main">
              <a:ext uri="{FF2B5EF4-FFF2-40B4-BE49-F238E27FC236}">
                <a16:creationId xmlns:a16="http://schemas.microsoft.com/office/drawing/2014/main" id="{B66E5452-67AF-41B6-AEF8-6EFCE3DF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3528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ir-237">
            <a:extLst xmlns:a="http://schemas.openxmlformats.org/drawingml/2006/main">
              <a:ext uri="{FF2B5EF4-FFF2-40B4-BE49-F238E27FC236}">
                <a16:creationId xmlns:a16="http://schemas.microsoft.com/office/drawing/2014/main" id="{474E4B8C-D995-485C-A1C2-E533D5EF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284C7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284C7"/>
                </a:solidFill>
                <a:latin typeface="Prompt"/>
                <a:ea typeface="Prompt"/>
                <a:cs typeface="Prompt"/>
              </a:rPr>
              <a:t>Port 1 · Outputs</a:t>
            </a:r>
          </a:p>
        </p:txBody>
      </p:sp>
      <p:sp>
        <p:nvSpPr>
          <p:cNvPr id="9" name="ir-238">
            <a:extLst xmlns:a="http://schemas.openxmlformats.org/drawingml/2006/main">
              <a:ext uri="{FF2B5EF4-FFF2-40B4-BE49-F238E27FC236}">
                <a16:creationId xmlns:a16="http://schemas.microsoft.com/office/drawing/2014/main" id="{6FDD0EF9-27E7-4FBB-97A7-4A2B86DD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3528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ir-239">
            <a:extLst xmlns:a="http://schemas.openxmlformats.org/drawingml/2006/main">
              <a:ext uri="{FF2B5EF4-FFF2-40B4-BE49-F238E27FC236}">
                <a16:creationId xmlns:a16="http://schemas.microsoft.com/office/drawing/2014/main" id="{81A5275C-B2B4-4E99-90C7-D45F7308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2405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284C7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284C7"/>
                </a:solidFill>
                <a:latin typeface="Prompt"/>
                <a:ea typeface="Prompt"/>
                <a:cs typeface="Prompt"/>
              </a:rPr>
              <a:t>Port 0 · Debug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914400" y="2447925"/>
          <a:ext xmlns:a="http://schemas.openxmlformats.org/drawingml/2006/main" cx="304800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550"/>
                <a:gridCol w="1695450"/>
              </a:tblGrid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ขา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สัญญาณ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P2.0 (21)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PB_IN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P2.1 (22)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PB_OUT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P2.2 (23)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BEAM_DET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P2.3 (24)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LO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P2.4 (25)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P2.5 (26)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PB_CLOSE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P2.7 (28)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ESTOP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"/>
          <p:cNvGraphicFramePr/>
          <p:nvPr/>
        </p:nvGraphicFramePr>
        <p:xfrm>
          <a:off xmlns:a="http://schemas.openxmlformats.org/drawingml/2006/main" x="4572000" y="2447925"/>
          <a:ext xmlns:a="http://schemas.openxmlformats.org/drawingml/2006/main" cx="30480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550"/>
                <a:gridCol w="1695450"/>
              </a:tblGrid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ขา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สัญญาณ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P1.0 (1)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P1.1 (2)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IN2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P1.2 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RUN_N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P1.4 (5)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RED_N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P1.5 (6)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GREEN_N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P1.6 (7)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ORANGE_N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"/>
          <p:cNvGraphicFramePr/>
          <p:nvPr/>
        </p:nvGraphicFramePr>
        <p:xfrm>
          <a:off xmlns:a="http://schemas.openxmlformats.org/drawingml/2006/main" x="8229600" y="2447925"/>
          <a:ext xmlns:a="http://schemas.openxmlformats.org/drawingml/2006/main" cx="3048000" cy="140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57325"/>
                <a:gridCol w="1590675"/>
              </a:tblGrid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ขา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บิตสถานะ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P0.0 (39)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P0.1 (38)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352425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P0.2 (37)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ir-240">
            <a:extLst xmlns:a="http://schemas.openxmlformats.org/drawingml/2006/main">
              <a:ext uri="{FF2B5EF4-FFF2-40B4-BE49-F238E27FC236}">
                <a16:creationId xmlns:a16="http://schemas.microsoft.com/office/drawing/2014/main" id="{56B0127A-5631-4209-96A3-BC2883AB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2895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000 ถึง 110: สถานะ 0–6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111: หยุดจาก fault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Pull-up 10 kΩ ทุกบิต</a:t>
            </a:r>
          </a:p>
        </p:txBody>
      </p:sp>
      <p:sp>
        <p:nvSpPr>
          <p:cNvPr id="15" name="ir-241">
            <a:extLst xmlns:a="http://schemas.openxmlformats.org/drawingml/2006/main">
              <a:ext uri="{FF2B5EF4-FFF2-40B4-BE49-F238E27FC236}">
                <a16:creationId xmlns:a16="http://schemas.microsoft.com/office/drawing/2014/main" id="{64B13051-0292-4082-8145-C719407E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P2 latch = FFH · P2.6 ไม่ใช้ · P1.3 และ P1.7 = 1 · P0 เป็น open-drain</a:t>
            </a:r>
          </a:p>
        </p:txBody>
      </p:sp>
    </p:spTree>
    <p:extLst>
      <p:ext uri="{BB962C8B-B14F-4D97-AF65-F5344CB8AC3E}">
        <p14:creationId xmlns:p14="http://schemas.microsoft.com/office/powerpoint/2010/main" val="15473312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ir-242">
            <a:extLst xmlns:a="http://schemas.openxmlformats.org/drawingml/2006/main">
              <a:ext uri="{FF2B5EF4-FFF2-40B4-BE49-F238E27FC236}">
                <a16:creationId xmlns:a16="http://schemas.microsoft.com/office/drawing/2014/main" id="{9D8D3ABF-7494-4260-B349-B1C4A172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ตารางสถานะและค่าเอาต์พุตพอร์ต 1</a:t>
            </a:r>
          </a:p>
        </p:txBody>
      </p:sp>
      <p:sp>
        <p:nvSpPr>
          <p:cNvPr id="2" name="ir-243">
            <a:extLst xmlns:a="http://schemas.openxmlformats.org/drawingml/2006/main">
              <a:ext uri="{FF2B5EF4-FFF2-40B4-BE49-F238E27FC236}">
                <a16:creationId xmlns:a16="http://schemas.microsoft.com/office/drawing/2014/main" id="{E8E66A59-CB58-4704-83BB-F34C61E0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State Description &amp; Port Output Mapping</a:t>
            </a:r>
          </a:p>
        </p:txBody>
      </p:sp>
      <p:sp>
        <p:nvSpPr>
          <p:cNvPr id="3" name="ir-244">
            <a:extLst xmlns:a="http://schemas.openxmlformats.org/drawingml/2006/main">
              <a:ext uri="{FF2B5EF4-FFF2-40B4-BE49-F238E27FC236}">
                <a16:creationId xmlns:a16="http://schemas.microsoft.com/office/drawing/2014/main" id="{3A372C4A-246D-452F-A59E-C0397180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245">
            <a:extLst xmlns:a="http://schemas.openxmlformats.org/drawingml/2006/main">
              <a:ext uri="{FF2B5EF4-FFF2-40B4-BE49-F238E27FC236}">
                <a16:creationId xmlns:a16="http://schemas.microsoft.com/office/drawing/2014/main" id="{BE3F567A-19AF-489C-AB93-A93DA228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06680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8647"/>
                <a:gridCol w="1150471"/>
                <a:gridCol w="732118"/>
                <a:gridCol w="732118"/>
                <a:gridCol w="1255059"/>
                <a:gridCol w="1181847"/>
                <a:gridCol w="1181847"/>
                <a:gridCol w="1181847"/>
                <a:gridCol w="1004047"/>
              </a:tblGrid>
              <a:tr h="43815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98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State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98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Shaft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98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IN1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98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IN2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98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RUN_N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98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RED_N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98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GRN_N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98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ORG_N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98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P1 Hex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</a:tr>
              <a:tr h="43815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CLOSED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OPENING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CW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D9H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OPEN_HOLD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CLOSING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CCW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EAH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REV_WAIT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Coast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FCH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REOPENING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CW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D9H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SAFETY_HOLD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ir-246">
            <a:extLst xmlns:a="http://schemas.openxmlformats.org/drawingml/2006/main">
              <a:ext uri="{FF2B5EF4-FFF2-40B4-BE49-F238E27FC236}">
                <a16:creationId xmlns:a16="http://schemas.microsoft.com/office/drawing/2014/main" id="{DA12E3DF-8D61-4CF7-838A-65A18A82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1">
                <a:solidFill>
                  <a:srgbClr val="0284C7"/>
                </a:solidFill>
                <a:latin typeface="Sarabun"/>
                <a:ea typeface="Sarabun"/>
                <a:cs typeface="Sarabun"/>
              </a:defRPr>
            </a:pPr>
            <a:r>
              <a:rPr sz="1400" b="1">
                <a:solidFill>
                  <a:srgbClr val="0284C7"/>
                </a:solidFill>
                <a:latin typeface="Sarabun"/>
                <a:ea typeface="Sarabun"/>
                <a:cs typeface="Sarabun"/>
              </a:rPr>
              <a:t>ไฟติดเมื่อบิตเป็น 0</a:t>
            </a:r>
          </a:p>
        </p:txBody>
      </p:sp>
      <p:sp>
        <p:nvSpPr>
          <p:cNvPr id="7" name="ir-247">
            <a:extLst xmlns:a="http://schemas.openxmlformats.org/drawingml/2006/main">
              <a:ext uri="{FF2B5EF4-FFF2-40B4-BE49-F238E27FC236}">
                <a16:creationId xmlns:a16="http://schemas.microsoft.com/office/drawing/2014/main" id="{81CFC056-5883-485A-B912-D569E4E1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48325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0F172A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  <a:cs typeface="Sarabun"/>
              </a:rPr>
              <a:t>P1.3 = 1 และ P1.7 = 1 ทุกสถานะ</a:t>
            </a:r>
          </a:p>
        </p:txBody>
      </p:sp>
      <p:sp>
        <p:nvSpPr>
          <p:cNvPr id="8" name="ir-248">
            <a:extLst xmlns:a="http://schemas.openxmlformats.org/drawingml/2006/main">
              <a:ext uri="{FF2B5EF4-FFF2-40B4-BE49-F238E27FC236}">
                <a16:creationId xmlns:a16="http://schemas.microsoft.com/office/drawing/2014/main" id="{E00D57C7-CBDD-4C5D-85C5-3B7D884B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ค่าที่แสดงมาจากการรวมบิตตามผังพอร์ต ไม่ใช่รหัสหมายเลขสถานะ</a:t>
            </a:r>
          </a:p>
        </p:txBody>
      </p:sp>
    </p:spTree>
    <p:extLst>
      <p:ext uri="{BB962C8B-B14F-4D97-AF65-F5344CB8AC3E}">
        <p14:creationId xmlns:p14="http://schemas.microsoft.com/office/powerpoint/2010/main" val="19039941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ir-249">
            <a:extLst xmlns:a="http://schemas.openxmlformats.org/drawingml/2006/main">
              <a:ext uri="{FF2B5EF4-FFF2-40B4-BE49-F238E27FC236}">
                <a16:creationId xmlns:a16="http://schemas.microsoft.com/office/drawing/2014/main" id="{60071C0D-B7E5-465A-9D4C-A76D6FC1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เหตุการณ์และเงื่อนไขเปลี่ยนสถานะ</a:t>
            </a:r>
          </a:p>
        </p:txBody>
      </p:sp>
      <p:sp>
        <p:nvSpPr>
          <p:cNvPr id="2" name="ir-250">
            <a:extLst xmlns:a="http://schemas.openxmlformats.org/drawingml/2006/main">
              <a:ext uri="{FF2B5EF4-FFF2-40B4-BE49-F238E27FC236}">
                <a16:creationId xmlns:a16="http://schemas.microsoft.com/office/drawing/2014/main" id="{8171882B-397C-4DC8-B2FD-210CA7D2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State Transition Events &amp; Guard Conditions</a:t>
            </a:r>
          </a:p>
        </p:txBody>
      </p:sp>
      <p:sp>
        <p:nvSpPr>
          <p:cNvPr id="3" name="ir-251">
            <a:extLst xmlns:a="http://schemas.openxmlformats.org/drawingml/2006/main">
              <a:ext uri="{FF2B5EF4-FFF2-40B4-BE49-F238E27FC236}">
                <a16:creationId xmlns:a16="http://schemas.microsoft.com/office/drawing/2014/main" id="{097FDFC4-054C-43E0-AE9E-E8B8447F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252">
            <a:extLst xmlns:a="http://schemas.openxmlformats.org/drawingml/2006/main">
              <a:ext uri="{FF2B5EF4-FFF2-40B4-BE49-F238E27FC236}">
                <a16:creationId xmlns:a16="http://schemas.microsoft.com/office/drawing/2014/main" id="{DDC6EFB7-1813-4BC3-8461-D4505A16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1838325"/>
          <a:ext xmlns:a="http://schemas.openxmlformats.org/drawingml/2006/main" cx="10668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5050"/>
                <a:gridCol w="5962650"/>
                <a:gridCol w="2400300"/>
              </a:tblGrid>
              <a:tr h="3810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52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ปัจจุบัน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52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เหตุการณ์และ Guard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52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ถัดไป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</a:tr>
              <a:tr h="3810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CLOSED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52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OPEN_EVT จาก P2.0 หรือ P2.1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OPENING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OPENING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LO = 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OPEN_HOLD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OPEN_HOLD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52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CLOSE_EVT ใหม่ และ BEAM_DET =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CLOSING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CLOSING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52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BEAM_DET = 0 หรือ OPEN_EVT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REV_WAIT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CLOSING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52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LC = 0 และไม่มีเหตุเปิดกลับ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CLOSED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REV_WAIT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52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พักครบอย่างน้อย 200 ms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REOPENING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REOPENING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52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LO = 0 และ safety_seen =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SAFETY_HOLD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REOPENING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52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LO = 0 และ safety_seen = 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OPEN_HOLD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SAFETY_HOLD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52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CLOSE_EVT ใหม่ และ BEAM_DET =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CLOSING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ir-253">
            <a:extLst xmlns:a="http://schemas.openxmlformats.org/drawingml/2006/main">
              <a:ext uri="{FF2B5EF4-FFF2-40B4-BE49-F238E27FC236}">
                <a16:creationId xmlns:a16="http://schemas.microsoft.com/office/drawing/2014/main" id="{ABE0C097-F3F6-4DF9-8FB7-A361506D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ทุกคำสั่งปิดต้องปล่อยปุ่มเปิดทั้งสอง · JB ตรวจบิตเป็น 1 และ JNB ตรวจบิตเป็น 0</a:t>
            </a:r>
          </a:p>
        </p:txBody>
      </p:sp>
    </p:spTree>
    <p:extLst>
      <p:ext uri="{BB962C8B-B14F-4D97-AF65-F5344CB8AC3E}">
        <p14:creationId xmlns:p14="http://schemas.microsoft.com/office/powerpoint/2010/main" val="4289675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ir-254">
            <a:extLst xmlns:a="http://schemas.openxmlformats.org/drawingml/2006/main">
              <a:ext uri="{FF2B5EF4-FFF2-40B4-BE49-F238E27FC236}">
                <a16:creationId xmlns:a16="http://schemas.microsoft.com/office/drawing/2014/main" id="{1DA9C463-6ADE-4E96-A87F-25F26D98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ข้อกำหนดเวลาและจังหวะกลับทิศมอเตอร์</a:t>
            </a:r>
          </a:p>
        </p:txBody>
      </p:sp>
      <p:sp>
        <p:nvSpPr>
          <p:cNvPr id="2" name="ir-255">
            <a:extLst xmlns:a="http://schemas.openxmlformats.org/drawingml/2006/main">
              <a:ext uri="{FF2B5EF4-FFF2-40B4-BE49-F238E27FC236}">
                <a16:creationId xmlns:a16="http://schemas.microsoft.com/office/drawing/2014/main" id="{9A03BB71-3ED2-4DC3-8318-D50CE6CE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Timing Constraints &amp; Coast Interval</a:t>
            </a:r>
          </a:p>
        </p:txBody>
      </p:sp>
      <p:sp>
        <p:nvSpPr>
          <p:cNvPr id="3" name="ir-256">
            <a:extLst xmlns:a="http://schemas.openxmlformats.org/drawingml/2006/main">
              <a:ext uri="{FF2B5EF4-FFF2-40B4-BE49-F238E27FC236}">
                <a16:creationId xmlns:a16="http://schemas.microsoft.com/office/drawing/2014/main" id="{3F4D606E-3D03-457B-864C-28355EBB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257">
            <a:extLst xmlns:a="http://schemas.openxmlformats.org/drawingml/2006/main">
              <a:ext uri="{FF2B5EF4-FFF2-40B4-BE49-F238E27FC236}">
                <a16:creationId xmlns:a16="http://schemas.microsoft.com/office/drawing/2014/main" id="{4F7C161F-5F2A-4A05-8C70-0ED950F3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10</a:t>
            </a:r>
          </a:p>
        </p:txBody>
      </p:sp>
      <p:sp>
        <p:nvSpPr>
          <p:cNvPr id="5" name="ir-258">
            <a:extLst xmlns:a="http://schemas.openxmlformats.org/drawingml/2006/main">
              <a:ext uri="{FF2B5EF4-FFF2-40B4-BE49-F238E27FC236}">
                <a16:creationId xmlns:a16="http://schemas.microsoft.com/office/drawing/2014/main" id="{01426ACD-E899-4618-B751-28D53711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33528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ir-259">
            <a:extLst xmlns:a="http://schemas.openxmlformats.org/drawingml/2006/main">
              <a:ext uri="{FF2B5EF4-FFF2-40B4-BE49-F238E27FC236}">
                <a16:creationId xmlns:a16="http://schemas.microsoft.com/office/drawing/2014/main" id="{ED5F518E-D9C3-453F-B6E2-E6B021DE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284C7"/>
            </a:solidFill>
          </a:ln>
        </p:spPr>
      </p:sp>
      <p:sp>
        <p:nvSpPr>
          <p:cNvPr id="7" name="ir-260">
            <a:extLst xmlns:a="http://schemas.openxmlformats.org/drawingml/2006/main">
              <a:ext uri="{FF2B5EF4-FFF2-40B4-BE49-F238E27FC236}">
                <a16:creationId xmlns:a16="http://schemas.microsoft.com/office/drawing/2014/main" id="{7FDE9553-ABEF-4F8A-9CF4-29F1D88F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20 ms · กรองปุ่ม</a:t>
            </a:r>
          </a:p>
        </p:txBody>
      </p:sp>
      <p:sp>
        <p:nvSpPr>
          <p:cNvPr id="8" name="ir-261">
            <a:extLst xmlns:a="http://schemas.openxmlformats.org/drawingml/2006/main">
              <a:ext uri="{FF2B5EF4-FFF2-40B4-BE49-F238E27FC236}">
                <a16:creationId xmlns:a16="http://schemas.microsoft.com/office/drawing/2014/main" id="{E4D1CC2B-8148-40C6-9EB8-0E4A5165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2895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ปล่อยและกดใหม่ให้คงที่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Timer 0 ที่ 12 MHz</a:t>
            </a:r>
          </a:p>
        </p:txBody>
      </p:sp>
      <p:sp>
        <p:nvSpPr>
          <p:cNvPr id="9" name="ir-262">
            <a:extLst xmlns:a="http://schemas.openxmlformats.org/drawingml/2006/main">
              <a:ext uri="{FF2B5EF4-FFF2-40B4-BE49-F238E27FC236}">
                <a16:creationId xmlns:a16="http://schemas.microsoft.com/office/drawing/2014/main" id="{EB356A8B-224A-499F-8E6F-96F3D00F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3528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ir-263">
            <a:extLst xmlns:a="http://schemas.openxmlformats.org/drawingml/2006/main">
              <a:ext uri="{FF2B5EF4-FFF2-40B4-BE49-F238E27FC236}">
                <a16:creationId xmlns:a16="http://schemas.microsoft.com/office/drawing/2014/main" id="{942B8E34-D753-42A3-8F42-4DF46DDA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A580C"/>
            </a:solidFill>
          </a:ln>
        </p:spPr>
      </p:sp>
      <p:sp>
        <p:nvSpPr>
          <p:cNvPr id="11" name="ir-264">
            <a:extLst xmlns:a="http://schemas.openxmlformats.org/drawingml/2006/main">
              <a:ext uri="{FF2B5EF4-FFF2-40B4-BE49-F238E27FC236}">
                <a16:creationId xmlns:a16="http://schemas.microsoft.com/office/drawing/2014/main" id="{F8F33CD0-45C7-4B0A-8FE8-D0E5EB5B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240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200 ms · Coast</a:t>
            </a:r>
          </a:p>
        </p:txBody>
      </p:sp>
      <p:sp>
        <p:nvSpPr>
          <p:cNvPr id="12" name="ir-265">
            <a:extLst xmlns:a="http://schemas.openxmlformats.org/drawingml/2006/main">
              <a:ext uri="{FF2B5EF4-FFF2-40B4-BE49-F238E27FC236}">
                <a16:creationId xmlns:a16="http://schemas.microsoft.com/office/drawing/2014/main" id="{30FD4AE5-512C-42CB-9366-D4AF3F8E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2895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EN = 0 ตลอดช่วงพัก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ไม่ใช่การเบรกทางไฟฟ้า</a:t>
            </a:r>
          </a:p>
        </p:txBody>
      </p:sp>
      <p:sp>
        <p:nvSpPr>
          <p:cNvPr id="13" name="ir-266">
            <a:extLst xmlns:a="http://schemas.openxmlformats.org/drawingml/2006/main">
              <a:ext uri="{FF2B5EF4-FFF2-40B4-BE49-F238E27FC236}">
                <a16:creationId xmlns:a16="http://schemas.microsoft.com/office/drawing/2014/main" id="{0D60A60C-2142-49DA-9ABE-C51C710D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3528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ir-267">
            <a:extLst xmlns:a="http://schemas.openxmlformats.org/drawingml/2006/main">
              <a:ext uri="{FF2B5EF4-FFF2-40B4-BE49-F238E27FC236}">
                <a16:creationId xmlns:a16="http://schemas.microsoft.com/office/drawing/2014/main" id="{6BF42AFE-4197-44ED-B992-0E18519E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5" name="ir-268">
            <a:extLst xmlns:a="http://schemas.openxmlformats.org/drawingml/2006/main">
              <a:ext uri="{FF2B5EF4-FFF2-40B4-BE49-F238E27FC236}">
                <a16:creationId xmlns:a16="http://schemas.microsoft.com/office/drawing/2014/main" id="{798F4CAC-CC3F-43B2-84B5-0463FA99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เวลาตอบสนอง</a:t>
            </a:r>
          </a:p>
        </p:txBody>
      </p:sp>
      <p:sp>
        <p:nvSpPr>
          <p:cNvPr id="16" name="ir-269">
            <a:extLst xmlns:a="http://schemas.openxmlformats.org/drawingml/2006/main">
              <a:ext uri="{FF2B5EF4-FFF2-40B4-BE49-F238E27FC236}">
                <a16:creationId xmlns:a16="http://schemas.microsoft.com/office/drawing/2014/main" id="{A7A4F32A-9D23-4C75-9B66-FB3CEF2C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33650"/>
            <a:ext cx="2895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รวมเซนเซอร์และลูปควบคุม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วัดเวลาตั้งแต่ตรวจพบถึง EN = 0</a:t>
            </a:r>
          </a:p>
        </p:txBody>
      </p:sp>
      <p:sp>
        <p:nvSpPr>
          <p:cNvPr id="17" name="ir-270">
            <a:extLst xmlns:a="http://schemas.openxmlformats.org/drawingml/2006/main">
              <a:ext uri="{FF2B5EF4-FFF2-40B4-BE49-F238E27FC236}">
                <a16:creationId xmlns:a16="http://schemas.microsoft.com/office/drawing/2014/main" id="{092C8454-F3C6-40CE-8D37-A41A325E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66800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ir-271">
            <a:extLst xmlns:a="http://schemas.openxmlformats.org/drawingml/2006/main">
              <a:ext uri="{FF2B5EF4-FFF2-40B4-BE49-F238E27FC236}">
                <a16:creationId xmlns:a16="http://schemas.microsoft.com/office/drawing/2014/main" id="{1F9A403E-CF1B-4577-9487-FEE7037F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95" cy="1695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ir-272">
            <a:extLst xmlns:a="http://schemas.openxmlformats.org/drawingml/2006/main">
              <a:ext uri="{FF2B5EF4-FFF2-40B4-BE49-F238E27FC236}">
                <a16:creationId xmlns:a16="http://schemas.microsoft.com/office/drawing/2014/main" id="{985F64C8-4585-4F2C-B81A-7952BC84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71875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t0</a:t>
            </a:r>
          </a:p>
        </p:txBody>
      </p:sp>
      <p:sp>
        <p:nvSpPr>
          <p:cNvPr id="20" name="ir-273">
            <a:extLst xmlns:a="http://schemas.openxmlformats.org/drawingml/2006/main">
              <a:ext uri="{FF2B5EF4-FFF2-40B4-BE49-F238E27FC236}">
                <a16:creationId xmlns:a16="http://schemas.microsoft.com/office/drawing/2014/main" id="{BA5B9AD4-1D60-4E2E-9605-99B640B3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95" cy="1695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ir-274">
            <a:extLst xmlns:a="http://schemas.openxmlformats.org/drawingml/2006/main">
              <a:ext uri="{FF2B5EF4-FFF2-40B4-BE49-F238E27FC236}">
                <a16:creationId xmlns:a16="http://schemas.microsoft.com/office/drawing/2014/main" id="{16581FCF-DCF3-4836-8461-9C2873DA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71875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t1</a:t>
            </a:r>
          </a:p>
        </p:txBody>
      </p:sp>
      <p:sp>
        <p:nvSpPr>
          <p:cNvPr id="22" name="ir-275">
            <a:extLst xmlns:a="http://schemas.openxmlformats.org/drawingml/2006/main">
              <a:ext uri="{FF2B5EF4-FFF2-40B4-BE49-F238E27FC236}">
                <a16:creationId xmlns:a16="http://schemas.microsoft.com/office/drawing/2014/main" id="{B25DFE04-BAAC-4C19-8423-1758A50F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90950"/>
            <a:ext cx="95" cy="1695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ir-276">
            <a:extLst xmlns:a="http://schemas.openxmlformats.org/drawingml/2006/main">
              <a:ext uri="{FF2B5EF4-FFF2-40B4-BE49-F238E27FC236}">
                <a16:creationId xmlns:a16="http://schemas.microsoft.com/office/drawing/2014/main" id="{42CF2EDC-96CE-4FBD-8E5E-BA2048F2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71875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t2</a:t>
            </a:r>
          </a:p>
        </p:txBody>
      </p:sp>
      <p:sp>
        <p:nvSpPr>
          <p:cNvPr id="24" name="ir-277">
            <a:extLst xmlns:a="http://schemas.openxmlformats.org/drawingml/2006/main">
              <a:ext uri="{FF2B5EF4-FFF2-40B4-BE49-F238E27FC236}">
                <a16:creationId xmlns:a16="http://schemas.microsoft.com/office/drawing/2014/main" id="{1C2A68BA-8AA9-497F-9DC4-5EBDCF9C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790950"/>
            <a:ext cx="95" cy="1695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ir-278">
            <a:extLst xmlns:a="http://schemas.openxmlformats.org/drawingml/2006/main">
              <a:ext uri="{FF2B5EF4-FFF2-40B4-BE49-F238E27FC236}">
                <a16:creationId xmlns:a16="http://schemas.microsoft.com/office/drawing/2014/main" id="{89F4AF47-F3D9-4F7C-B60E-52428206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71875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t3</a:t>
            </a:r>
          </a:p>
        </p:txBody>
      </p:sp>
      <p:sp>
        <p:nvSpPr>
          <p:cNvPr id="26" name="ir-279">
            <a:extLst xmlns:a="http://schemas.openxmlformats.org/drawingml/2006/main">
              <a:ext uri="{FF2B5EF4-FFF2-40B4-BE49-F238E27FC236}">
                <a16:creationId xmlns:a16="http://schemas.microsoft.com/office/drawing/2014/main" id="{38878A8A-5F7C-4889-8757-0677DBF4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433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BEAM_DET</a:t>
            </a:r>
          </a:p>
        </p:txBody>
      </p:sp>
      <p:sp>
        <p:nvSpPr>
          <p:cNvPr id="27" name="ir-280">
            <a:extLst xmlns:a="http://schemas.openxmlformats.org/drawingml/2006/main">
              <a:ext uri="{FF2B5EF4-FFF2-40B4-BE49-F238E27FC236}">
                <a16:creationId xmlns:a16="http://schemas.microsoft.com/office/drawing/2014/main" id="{7227E232-6ABF-46D4-8B09-E3C3DEFC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196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RUN_N</a:t>
            </a:r>
          </a:p>
        </p:txBody>
      </p:sp>
      <p:sp>
        <p:nvSpPr>
          <p:cNvPr id="28" name="ir-281">
            <a:extLst xmlns:a="http://schemas.openxmlformats.org/drawingml/2006/main">
              <a:ext uri="{FF2B5EF4-FFF2-40B4-BE49-F238E27FC236}">
                <a16:creationId xmlns:a16="http://schemas.microsoft.com/office/drawing/2014/main" id="{E30A5DEA-B313-4462-BB59-21A82F66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IN1 IN2</a:t>
            </a:r>
          </a:p>
        </p:txBody>
      </p:sp>
      <p:sp>
        <p:nvSpPr>
          <p:cNvPr id="29" name="route-282">
            <a:extLst xmlns:a="http://schemas.openxmlformats.org/drawingml/2006/main">
              <a:ext uri="{FF2B5EF4-FFF2-40B4-BE49-F238E27FC236}">
                <a16:creationId xmlns:a16="http://schemas.microsoft.com/office/drawing/2014/main" id="{3D929214-8780-46CF-AB2A-76699003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71925"/>
            <a:ext cx="8077200" cy="200025"/>
          </a:xfrm>
          <a:custGeom xmlns:a="http://schemas.openxmlformats.org/drawingml/2006/main">
            <a:pathLst>
              <a:path w="8077200" h="200025">
                <a:moveTo>
                  <a:pt x="0" y="0"/>
                </a:moveTo>
                <a:lnTo>
                  <a:pt x="838200" y="0"/>
                </a:lnTo>
                <a:lnTo>
                  <a:pt x="838200" y="200025"/>
                </a:lnTo>
                <a:lnTo>
                  <a:pt x="807720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284C7"/>
            </a:solidFill>
          </a:ln>
        </p:spPr>
      </p:sp>
      <p:sp>
        <p:nvSpPr>
          <p:cNvPr id="30" name="route-283">
            <a:extLst xmlns:a="http://schemas.openxmlformats.org/drawingml/2006/main">
              <a:ext uri="{FF2B5EF4-FFF2-40B4-BE49-F238E27FC236}">
                <a16:creationId xmlns:a16="http://schemas.microsoft.com/office/drawing/2014/main" id="{59A535AC-21F1-4AC7-8851-181CCBB8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48175"/>
            <a:ext cx="8077200" cy="200025"/>
          </a:xfrm>
          <a:custGeom xmlns:a="http://schemas.openxmlformats.org/drawingml/2006/main">
            <a:pathLst>
              <a:path w="8077200" h="200025">
                <a:moveTo>
                  <a:pt x="0" y="200025"/>
                </a:moveTo>
                <a:lnTo>
                  <a:pt x="1600200" y="200025"/>
                </a:lnTo>
                <a:lnTo>
                  <a:pt x="1600200" y="0"/>
                </a:lnTo>
                <a:lnTo>
                  <a:pt x="7077075" y="0"/>
                </a:lnTo>
                <a:lnTo>
                  <a:pt x="7077075" y="200025"/>
                </a:lnTo>
                <a:lnTo>
                  <a:pt x="807720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A580C"/>
            </a:solidFill>
          </a:ln>
        </p:spPr>
      </p:sp>
      <p:sp>
        <p:nvSpPr>
          <p:cNvPr id="31" name="ir-284">
            <a:extLst xmlns:a="http://schemas.openxmlformats.org/drawingml/2006/main">
              <a:ext uri="{FF2B5EF4-FFF2-40B4-BE49-F238E27FC236}">
                <a16:creationId xmlns:a16="http://schemas.microsoft.com/office/drawing/2014/main" id="{7E301A0A-568F-4EE6-B9C2-C926F8B0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14900"/>
            <a:ext cx="1600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</a:ln>
        </p:spPr>
      </p:sp>
      <p:sp>
        <p:nvSpPr>
          <p:cNvPr id="32" name="ir-285">
            <a:extLst xmlns:a="http://schemas.openxmlformats.org/drawingml/2006/main">
              <a:ext uri="{FF2B5EF4-FFF2-40B4-BE49-F238E27FC236}">
                <a16:creationId xmlns:a16="http://schemas.microsoft.com/office/drawing/2014/main" id="{1969B243-2185-4821-BFA8-51126409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943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33" name="ir-286">
            <a:extLst xmlns:a="http://schemas.openxmlformats.org/drawingml/2006/main">
              <a:ext uri="{FF2B5EF4-FFF2-40B4-BE49-F238E27FC236}">
                <a16:creationId xmlns:a16="http://schemas.microsoft.com/office/drawing/2014/main" id="{5F65BE4D-45F0-4828-A0BF-DA3EC105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</a:ln>
        </p:spPr>
      </p:sp>
      <p:sp>
        <p:nvSpPr>
          <p:cNvPr id="34" name="ir-287">
            <a:extLst xmlns:a="http://schemas.openxmlformats.org/drawingml/2006/main">
              <a:ext uri="{FF2B5EF4-FFF2-40B4-BE49-F238E27FC236}">
                <a16:creationId xmlns:a16="http://schemas.microsoft.com/office/drawing/2014/main" id="{CD6BAEBB-F2E2-4536-A063-7FD1CFF1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43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00</a:t>
            </a:r>
          </a:p>
        </p:txBody>
      </p:sp>
      <p:sp>
        <p:nvSpPr>
          <p:cNvPr id="35" name="ir-288">
            <a:extLst xmlns:a="http://schemas.openxmlformats.org/drawingml/2006/main">
              <a:ext uri="{FF2B5EF4-FFF2-40B4-BE49-F238E27FC236}">
                <a16:creationId xmlns:a16="http://schemas.microsoft.com/office/drawing/2014/main" id="{567A82F8-2BC1-412C-9EB6-E55579CC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14900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</a:ln>
        </p:spPr>
      </p:sp>
      <p:sp>
        <p:nvSpPr>
          <p:cNvPr id="36" name="ir-289">
            <a:extLst xmlns:a="http://schemas.openxmlformats.org/drawingml/2006/main">
              <a:ext uri="{FF2B5EF4-FFF2-40B4-BE49-F238E27FC236}">
                <a16:creationId xmlns:a16="http://schemas.microsoft.com/office/drawing/2014/main" id="{B6F043CC-EF6B-4F68-A8BC-0E127D79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943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10</a:t>
            </a:r>
          </a:p>
        </p:txBody>
      </p:sp>
      <p:sp>
        <p:nvSpPr>
          <p:cNvPr id="37" name="ir-290">
            <a:extLst xmlns:a="http://schemas.openxmlformats.org/drawingml/2006/main">
              <a:ext uri="{FF2B5EF4-FFF2-40B4-BE49-F238E27FC236}">
                <a16:creationId xmlns:a16="http://schemas.microsoft.com/office/drawing/2014/main" id="{13C7BB5F-105E-4A22-829E-BE94CD31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5780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125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ตัดขับก่อนเปลี่ยนค่า IN</a:t>
            </a:r>
          </a:p>
        </p:txBody>
      </p:sp>
      <p:sp>
        <p:nvSpPr>
          <p:cNvPr id="38" name="ir-291">
            <a:extLst xmlns:a="http://schemas.openxmlformats.org/drawingml/2006/main">
              <a:ext uri="{FF2B5EF4-FFF2-40B4-BE49-F238E27FC236}">
                <a16:creationId xmlns:a16="http://schemas.microsoft.com/office/drawing/2014/main" id="{8166C8BD-FA79-4316-B90F-14652C74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4332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EA580C"/>
                </a:solidFill>
                <a:latin typeface="Sarabun"/>
                <a:ea typeface="Sarabun"/>
                <a:cs typeface="Sarabun"/>
              </a:defRPr>
            </a:pPr>
            <a:r>
              <a:rPr sz="1200" b="1">
                <a:solidFill>
                  <a:srgbClr val="EA580C"/>
                </a:solidFill>
                <a:latin typeface="Sarabun"/>
                <a:ea typeface="Sarabun"/>
                <a:cs typeface="Sarabun"/>
              </a:rPr>
              <a:t>≥ 200 ms</a:t>
            </a:r>
          </a:p>
        </p:txBody>
      </p:sp>
      <p:sp>
        <p:nvSpPr>
          <p:cNvPr id="39" name="ir-292">
            <a:extLst xmlns:a="http://schemas.openxmlformats.org/drawingml/2006/main">
              <a:ext uri="{FF2B5EF4-FFF2-40B4-BE49-F238E27FC236}">
                <a16:creationId xmlns:a16="http://schemas.microsoft.com/office/drawing/2014/main" id="{F19C75EF-8B69-43A9-8CCC-8E6942C1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ไดอะแกรมแสดงลำดับ ไม่ใช่ผลวัด · เปลี่ยนทิศเป็น 10 ขณะ EN = 0 แล้วจึงเริ่มขับ</a:t>
            </a:r>
          </a:p>
        </p:txBody>
      </p:sp>
    </p:spTree>
    <p:extLst>
      <p:ext uri="{BB962C8B-B14F-4D97-AF65-F5344CB8AC3E}">
        <p14:creationId xmlns:p14="http://schemas.microsoft.com/office/powerpoint/2010/main" val="10093101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ir-293">
            <a:extLst xmlns:a="http://schemas.openxmlformats.org/drawingml/2006/main">
              <a:ext uri="{FF2B5EF4-FFF2-40B4-BE49-F238E27FC236}">
                <a16:creationId xmlns:a16="http://schemas.microsoft.com/office/drawing/2014/main" id="{E12DFF46-FC26-4E88-9D65-D15DE063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SAFETY_HOLD และการกดปิดครั้งใหม่</a:t>
            </a:r>
          </a:p>
        </p:txBody>
      </p:sp>
      <p:sp>
        <p:nvSpPr>
          <p:cNvPr id="2" name="ir-294">
            <a:extLst xmlns:a="http://schemas.openxmlformats.org/drawingml/2006/main">
              <a:ext uri="{FF2B5EF4-FFF2-40B4-BE49-F238E27FC236}">
                <a16:creationId xmlns:a16="http://schemas.microsoft.com/office/drawing/2014/main" id="{CC1DDC1A-D49B-43FE-8B0F-533AB377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Safety Interlock &amp; Manual Re-close Protocol</a:t>
            </a:r>
          </a:p>
        </p:txBody>
      </p:sp>
      <p:sp>
        <p:nvSpPr>
          <p:cNvPr id="3" name="ir-295">
            <a:extLst xmlns:a="http://schemas.openxmlformats.org/drawingml/2006/main">
              <a:ext uri="{FF2B5EF4-FFF2-40B4-BE49-F238E27FC236}">
                <a16:creationId xmlns:a16="http://schemas.microsoft.com/office/drawing/2014/main" id="{029D2B17-5CBD-4A54-9839-48E7A4E8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296">
            <a:extLst xmlns:a="http://schemas.openxmlformats.org/drawingml/2006/main">
              <a:ext uri="{FF2B5EF4-FFF2-40B4-BE49-F238E27FC236}">
                <a16:creationId xmlns:a16="http://schemas.microsoft.com/office/drawing/2014/main" id="{34CEA78C-BF72-4B2D-A6E7-E6FE311B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11</a:t>
            </a:r>
          </a:p>
        </p:txBody>
      </p:sp>
      <p:sp>
        <p:nvSpPr>
          <p:cNvPr id="5" name="ir-297">
            <a:extLst xmlns:a="http://schemas.openxmlformats.org/drawingml/2006/main">
              <a:ext uri="{FF2B5EF4-FFF2-40B4-BE49-F238E27FC236}">
                <a16:creationId xmlns:a16="http://schemas.microsoft.com/office/drawing/2014/main" id="{31DDB79A-EE17-44BB-A748-A4E147D3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3352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ir-298">
            <a:extLst xmlns:a="http://schemas.openxmlformats.org/drawingml/2006/main">
              <a:ext uri="{FF2B5EF4-FFF2-40B4-BE49-F238E27FC236}">
                <a16:creationId xmlns:a16="http://schemas.microsoft.com/office/drawing/2014/main" id="{50FBD9BC-AE46-4C5A-AE1D-FE196164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A580C"/>
            </a:solidFill>
          </a:ln>
        </p:spPr>
      </p:sp>
      <p:sp>
        <p:nvSpPr>
          <p:cNvPr id="7" name="ir-299">
            <a:extLst xmlns:a="http://schemas.openxmlformats.org/drawingml/2006/main">
              <a:ext uri="{FF2B5EF4-FFF2-40B4-BE49-F238E27FC236}">
                <a16:creationId xmlns:a16="http://schemas.microsoft.com/office/drawing/2014/main" id="{A72D5CFE-23C9-41DE-A674-CD9626B0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145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01  หยุดค้างและเตือน</a:t>
            </a:r>
          </a:p>
        </p:txBody>
      </p:sp>
      <p:sp>
        <p:nvSpPr>
          <p:cNvPr id="8" name="ir-300">
            <a:extLst xmlns:a="http://schemas.openxmlformats.org/drawingml/2006/main">
              <a:ext uri="{FF2B5EF4-FFF2-40B4-BE49-F238E27FC236}">
                <a16:creationId xmlns:a16="http://schemas.microsoft.com/office/drawing/2014/main" id="{3BDDF8AF-57F2-4E4F-B71C-0C3B5B47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8956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SAFETY_HOLD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เพลา STOP · ไฟส้มติด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ทิ้งคำสั่งปิดก่อนหน้า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ยังไม่พร้อมรับปุ่มที่กดค้าง</a:t>
            </a:r>
          </a:p>
        </p:txBody>
      </p:sp>
      <p:sp>
        <p:nvSpPr>
          <p:cNvPr id="9" name="ir-301">
            <a:extLst xmlns:a="http://schemas.openxmlformats.org/drawingml/2006/main">
              <a:ext uri="{FF2B5EF4-FFF2-40B4-BE49-F238E27FC236}">
                <a16:creationId xmlns:a16="http://schemas.microsoft.com/office/drawing/2014/main" id="{4FA3CDFD-5B48-4177-80D1-84E10ADC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3352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ir-302">
            <a:extLst xmlns:a="http://schemas.openxmlformats.org/drawingml/2006/main">
              <a:ext uri="{FF2B5EF4-FFF2-40B4-BE49-F238E27FC236}">
                <a16:creationId xmlns:a16="http://schemas.microsoft.com/office/drawing/2014/main" id="{8F6C80F7-C42C-444F-9EC4-1F8848EE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284C7"/>
            </a:solidFill>
          </a:ln>
        </p:spPr>
      </p:sp>
      <p:sp>
        <p:nvSpPr>
          <p:cNvPr id="11" name="ir-303">
            <a:extLst xmlns:a="http://schemas.openxmlformats.org/drawingml/2006/main">
              <a:ext uri="{FF2B5EF4-FFF2-40B4-BE49-F238E27FC236}">
                <a16:creationId xmlns:a16="http://schemas.microsoft.com/office/drawing/2014/main" id="{2DAE8AE5-D150-4187-865F-302FEF82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145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02  ปล่อยปุ่มเดิม</a:t>
            </a:r>
          </a:p>
        </p:txBody>
      </p:sp>
      <p:sp>
        <p:nvSpPr>
          <p:cNvPr id="12" name="ir-304">
            <a:extLst xmlns:a="http://schemas.openxmlformats.org/drawingml/2006/main">
              <a:ext uri="{FF2B5EF4-FFF2-40B4-BE49-F238E27FC236}">
                <a16:creationId xmlns:a16="http://schemas.microsoft.com/office/drawing/2014/main" id="{561BDFF4-CBD5-41D4-A257-5C1690B0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956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PB_CLOSE = 1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คงที่อย่างน้อย 20 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จึงพร้อมรับการกดครั้งใหม่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หลังเข้าสู่สถานะเปิดค้าง</a:t>
            </a:r>
          </a:p>
        </p:txBody>
      </p:sp>
      <p:sp>
        <p:nvSpPr>
          <p:cNvPr id="13" name="ir-305">
            <a:extLst xmlns:a="http://schemas.openxmlformats.org/drawingml/2006/main">
              <a:ext uri="{FF2B5EF4-FFF2-40B4-BE49-F238E27FC236}">
                <a16:creationId xmlns:a16="http://schemas.microsoft.com/office/drawing/2014/main" id="{56853FDC-4BC7-452D-A471-3D921321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81200"/>
            <a:ext cx="3352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ir-306">
            <a:extLst xmlns:a="http://schemas.openxmlformats.org/drawingml/2006/main">
              <a:ext uri="{FF2B5EF4-FFF2-40B4-BE49-F238E27FC236}">
                <a16:creationId xmlns:a16="http://schemas.microsoft.com/office/drawing/2014/main" id="{1CCAEDAE-ADEC-4E53-A8B8-3905DF24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9669"/>
            </a:solidFill>
          </a:ln>
        </p:spPr>
      </p:sp>
      <p:sp>
        <p:nvSpPr>
          <p:cNvPr id="15" name="ir-307">
            <a:extLst xmlns:a="http://schemas.openxmlformats.org/drawingml/2006/main">
              <a:ext uri="{FF2B5EF4-FFF2-40B4-BE49-F238E27FC236}">
                <a16:creationId xmlns:a16="http://schemas.microsoft.com/office/drawing/2014/main" id="{FF60F9B9-6BC1-4194-AC63-3CEA7DD5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145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03  ตรวจแล้วกดปิดใหม่</a:t>
            </a:r>
          </a:p>
        </p:txBody>
      </p:sp>
      <p:sp>
        <p:nvSpPr>
          <p:cNvPr id="16" name="ir-308">
            <a:extLst xmlns:a="http://schemas.openxmlformats.org/drawingml/2006/main">
              <a:ext uri="{FF2B5EF4-FFF2-40B4-BE49-F238E27FC236}">
                <a16:creationId xmlns:a16="http://schemas.microsoft.com/office/drawing/2014/main" id="{5DE59A1C-EAC5-4C94-913F-24E0B1A9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8956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BEAM_DET = 1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PB_CLOSE กดใหม่เป็น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กรองการกด 20 ms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จึงเข้าสู่ CLOSING</a:t>
            </a:r>
          </a:p>
        </p:txBody>
      </p:sp>
      <p:sp>
        <p:nvSpPr>
          <p:cNvPr id="17" name="ir-309">
            <a:extLst xmlns:a="http://schemas.openxmlformats.org/drawingml/2006/main">
              <a:ext uri="{FF2B5EF4-FFF2-40B4-BE49-F238E27FC236}">
                <a16:creationId xmlns:a16="http://schemas.microsoft.com/office/drawing/2014/main" id="{D5330B11-3EFA-493F-9905-A2F971A8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EA580C"/>
                </a:solidFill>
                <a:latin typeface="Prompt"/>
                <a:ea typeface="Prompt"/>
                <a:cs typeface="Prompt"/>
              </a:defRPr>
            </a:pPr>
            <a:r>
              <a:rPr sz="1800" b="1">
                <a:solidFill>
                  <a:srgbClr val="EA580C"/>
                </a:solidFill>
                <a:latin typeface="Prompt"/>
                <a:ea typeface="Prompt"/>
                <a:cs typeface="Prompt"/>
              </a:rPr>
              <a:t>ลำแสงกลับมาปกติอย่างเดียว ประตูยังคงเปิดค้าง</a:t>
            </a:r>
          </a:p>
        </p:txBody>
      </p:sp>
    </p:spTree>
    <p:extLst>
      <p:ext uri="{BB962C8B-B14F-4D97-AF65-F5344CB8AC3E}">
        <p14:creationId xmlns:p14="http://schemas.microsoft.com/office/powerpoint/2010/main" val="7614011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ir-310">
            <a:extLst xmlns:a="http://schemas.openxmlformats.org/drawingml/2006/main">
              <a:ext uri="{FF2B5EF4-FFF2-40B4-BE49-F238E27FC236}">
                <a16:creationId xmlns:a16="http://schemas.microsoft.com/office/drawing/2014/main" id="{39215308-B3EA-4743-A459-C7BEC631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แอสเซมบลี 8051 สำหรับตัดแรงขับ</a:t>
            </a:r>
          </a:p>
        </p:txBody>
      </p:sp>
      <p:sp>
        <p:nvSpPr>
          <p:cNvPr id="2" name="ir-311">
            <a:extLst xmlns:a="http://schemas.openxmlformats.org/drawingml/2006/main">
              <a:ext uri="{FF2B5EF4-FFF2-40B4-BE49-F238E27FC236}">
                <a16:creationId xmlns:a16="http://schemas.microsoft.com/office/drawing/2014/main" id="{51DAA7AF-7263-446C-B527-6DA82184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8051 Assembly Logic &amp; Safe Cut-off Routine</a:t>
            </a:r>
          </a:p>
        </p:txBody>
      </p:sp>
      <p:sp>
        <p:nvSpPr>
          <p:cNvPr id="3" name="ir-312">
            <a:extLst xmlns:a="http://schemas.openxmlformats.org/drawingml/2006/main">
              <a:ext uri="{FF2B5EF4-FFF2-40B4-BE49-F238E27FC236}">
                <a16:creationId xmlns:a16="http://schemas.microsoft.com/office/drawing/2014/main" id="{5D8DFBD8-0B4F-4D9A-B317-88572A5A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313">
            <a:extLst xmlns:a="http://schemas.openxmlformats.org/drawingml/2006/main">
              <a:ext uri="{FF2B5EF4-FFF2-40B4-BE49-F238E27FC236}">
                <a16:creationId xmlns:a16="http://schemas.microsoft.com/office/drawing/2014/main" id="{DB6C4CD1-B0A9-4301-BDE5-64A944D6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12</a:t>
            </a:r>
          </a:p>
        </p:txBody>
      </p:sp>
      <p:sp>
        <p:nvSpPr>
          <p:cNvPr id="5" name="ir-314">
            <a:extLst xmlns:a="http://schemas.openxmlformats.org/drawingml/2006/main">
              <a:ext uri="{FF2B5EF4-FFF2-40B4-BE49-F238E27FC236}">
                <a16:creationId xmlns:a16="http://schemas.microsoft.com/office/drawing/2014/main" id="{B06B7FBA-CCA1-4DDD-AEE3-4B031881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382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ir-315">
            <a:extLst xmlns:a="http://schemas.openxmlformats.org/drawingml/2006/main">
              <a:ext uri="{FF2B5EF4-FFF2-40B4-BE49-F238E27FC236}">
                <a16:creationId xmlns:a16="http://schemas.microsoft.com/office/drawing/2014/main" id="{513A1CA2-00A6-4A61-8081-E0EF301A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DC2626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DC2626"/>
                </a:solidFill>
                <a:latin typeface="Prompt"/>
                <a:ea typeface="Prompt"/>
                <a:cs typeface="Prompt"/>
              </a:rPr>
              <a:t>พบลำแสงขาดขณะปิด</a:t>
            </a:r>
          </a:p>
        </p:txBody>
      </p:sp>
      <p:sp>
        <p:nvSpPr>
          <p:cNvPr id="7" name="ir-316">
            <a:extLst xmlns:a="http://schemas.openxmlformats.org/drawingml/2006/main">
              <a:ext uri="{FF2B5EF4-FFF2-40B4-BE49-F238E27FC236}">
                <a16:creationId xmlns:a16="http://schemas.microsoft.com/office/drawing/2014/main" id="{B5B38E48-D811-44B5-A26D-0B5EC7A2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33718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1  ตัด Enable ก่อน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2  ตั้งเอาต์พุต Coast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3  จำเหตุการณ์ที่เกิดขึ้น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4  เริ่มจับเวลาแล้วกลับ MAIN</a:t>
            </a:r>
          </a:p>
        </p:txBody>
      </p:sp>
      <p:sp>
        <p:nvSpPr>
          <p:cNvPr id="8" name="ir-317">
            <a:extLst xmlns:a="http://schemas.openxmlformats.org/drawingml/2006/main">
              <a:ext uri="{FF2B5EF4-FFF2-40B4-BE49-F238E27FC236}">
                <a16:creationId xmlns:a16="http://schemas.microsoft.com/office/drawing/2014/main" id="{5EC9FF6C-9324-4CD2-815A-CAC416EF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3371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rPr>
              <a:t>REV_WAIT  P1 = FCH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0284C7"/>
                </a:solidFill>
                <a:latin typeface="JetBrains Mono"/>
                <a:ea typeface="JetBrains Mono"/>
                <a:cs typeface="JetBrains Mono"/>
              </a:rPr>
              <a:t>REOPENING P1 = D9H</a:t>
            </a:r>
          </a:p>
        </p:txBody>
      </p:sp>
      <p:sp>
        <p:nvSpPr>
          <p:cNvPr id="9" name="ir-318">
            <a:extLst xmlns:a="http://schemas.openxmlformats.org/drawingml/2006/main">
              <a:ext uri="{FF2B5EF4-FFF2-40B4-BE49-F238E27FC236}">
                <a16:creationId xmlns:a16="http://schemas.microsoft.com/office/drawing/2014/main" id="{CC970F86-5AD6-49DB-900B-635D8858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90700"/>
            <a:ext cx="65341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ir-319">
            <a:extLst xmlns:a="http://schemas.openxmlformats.org/drawingml/2006/main">
              <a:ext uri="{FF2B5EF4-FFF2-40B4-BE49-F238E27FC236}">
                <a16:creationId xmlns:a16="http://schemas.microsoft.com/office/drawing/2014/main" id="{237E7BBF-E3AF-41E9-A8EC-C9E88B88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60007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ClosingLoop: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    JB    P2.2, CheckCloseLimit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    SETB  P1.2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    MOV   P1, #0FCH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    SETB  SAFETY_SEEN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    LCALL ENTER_REV_WAIT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    LJMP  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CheckCloseLimit: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    LCALL CHECK_OPEN_EVENT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    JC    Enter_Manual_Reopen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    JNB   P2.4, Enter_Closed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    LJMP  MAIN</a:t>
            </a:r>
          </a:p>
        </p:txBody>
      </p:sp>
      <p:sp>
        <p:nvSpPr>
          <p:cNvPr id="11" name="ir-320">
            <a:extLst xmlns:a="http://schemas.openxmlformats.org/drawingml/2006/main">
              <a:ext uri="{FF2B5EF4-FFF2-40B4-BE49-F238E27FC236}">
                <a16:creationId xmlns:a16="http://schemas.microsoft.com/office/drawing/2014/main" id="{896692AB-7776-41A7-8771-CE502559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48275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00" b="0">
                <a:solidFill>
                  <a:srgbClr val="0284C7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0284C7"/>
                </a:solidFill>
                <a:latin typeface="Sarabun"/>
                <a:ea typeface="Sarabun"/>
                <a:cs typeface="Sarabun"/>
              </a:rPr>
              <a:t>ENTER_REV_WAIT เริ่มนับ 200 ms แล้วคืนทันที</a:t>
            </a:r>
          </a:p>
        </p:txBody>
      </p:sp>
      <p:sp>
        <p:nvSpPr>
          <p:cNvPr id="12" name="ir-321">
            <a:extLst xmlns:a="http://schemas.openxmlformats.org/drawingml/2006/main">
              <a:ext uri="{FF2B5EF4-FFF2-40B4-BE49-F238E27FC236}">
                <a16:creationId xmlns:a16="http://schemas.microsoft.com/office/drawing/2014/main" id="{22861174-8730-496C-B40A-E3541409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MAIN ตรวจ E-stop ก่อน · ส่วนนี้ตรวจลำแสงก่อนเหตุเปิด · ตัวอย่างไม่ใช่เฟิร์มแวร์ครบชุด</a:t>
            </a:r>
          </a:p>
        </p:txBody>
      </p:sp>
    </p:spTree>
    <p:extLst>
      <p:ext uri="{BB962C8B-B14F-4D97-AF65-F5344CB8AC3E}">
        <p14:creationId xmlns:p14="http://schemas.microsoft.com/office/powerpoint/2010/main" val="19852551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ir-322">
            <a:extLst xmlns:a="http://schemas.openxmlformats.org/drawingml/2006/main">
              <a:ext uri="{FF2B5EF4-FFF2-40B4-BE49-F238E27FC236}">
                <a16:creationId xmlns:a16="http://schemas.microsoft.com/office/drawing/2014/main" id="{C20F66F1-6B4B-4B39-A968-D720DC35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ผลตรวจลอจิกและแผนทดสอบบนชุดจริง</a:t>
            </a:r>
          </a:p>
        </p:txBody>
      </p:sp>
      <p:sp>
        <p:nvSpPr>
          <p:cNvPr id="2" name="ir-323">
            <a:extLst xmlns:a="http://schemas.openxmlformats.org/drawingml/2006/main">
              <a:ext uri="{FF2B5EF4-FFF2-40B4-BE49-F238E27FC236}">
                <a16:creationId xmlns:a16="http://schemas.microsoft.com/office/drawing/2014/main" id="{0ACE261D-CEEF-41B0-A2F7-5C3C15C4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Logic Verification &amp; Empirical Testing Methodology</a:t>
            </a:r>
          </a:p>
        </p:txBody>
      </p:sp>
      <p:sp>
        <p:nvSpPr>
          <p:cNvPr id="3" name="ir-324">
            <a:extLst xmlns:a="http://schemas.openxmlformats.org/drawingml/2006/main">
              <a:ext uri="{FF2B5EF4-FFF2-40B4-BE49-F238E27FC236}">
                <a16:creationId xmlns:a16="http://schemas.microsoft.com/office/drawing/2014/main" id="{9CB3B7F1-E632-4C07-AB10-389415E7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325">
            <a:extLst xmlns:a="http://schemas.openxmlformats.org/drawingml/2006/main">
              <a:ext uri="{FF2B5EF4-FFF2-40B4-BE49-F238E27FC236}">
                <a16:creationId xmlns:a16="http://schemas.microsoft.com/office/drawing/2014/main" id="{970054AC-5860-40BB-BABE-44322914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13</a:t>
            </a:r>
          </a:p>
        </p:txBody>
      </p:sp>
      <p:sp>
        <p:nvSpPr>
          <p:cNvPr id="5" name="ir-326">
            <a:extLst xmlns:a="http://schemas.openxmlformats.org/drawingml/2006/main">
              <a:ext uri="{FF2B5EF4-FFF2-40B4-BE49-F238E27FC236}">
                <a16:creationId xmlns:a16="http://schemas.microsoft.com/office/drawing/2014/main" id="{BD8BD66C-FFB0-4601-A41B-A37BA0C5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51816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ir-327">
            <a:extLst xmlns:a="http://schemas.openxmlformats.org/drawingml/2006/main">
              <a:ext uri="{FF2B5EF4-FFF2-40B4-BE49-F238E27FC236}">
                <a16:creationId xmlns:a16="http://schemas.microsoft.com/office/drawing/2014/main" id="{9FBA7A63-7BD6-4DAC-852D-B133D046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284C7"/>
            </a:solidFill>
          </a:ln>
        </p:spPr>
      </p:sp>
      <p:sp>
        <p:nvSpPr>
          <p:cNvPr id="7" name="ir-328">
            <a:extLst xmlns:a="http://schemas.openxmlformats.org/drawingml/2006/main">
              <a:ext uri="{FF2B5EF4-FFF2-40B4-BE49-F238E27FC236}">
                <a16:creationId xmlns:a16="http://schemas.microsoft.com/office/drawing/2014/main" id="{BC74905D-A700-4D60-A0EB-C05C8B1D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ผลจากแบบจำลอง FSM</a:t>
            </a:r>
          </a:p>
        </p:txBody>
      </p:sp>
      <p:sp>
        <p:nvSpPr>
          <p:cNvPr id="8" name="ir-329">
            <a:extLst xmlns:a="http://schemas.openxmlformats.org/drawingml/2006/main">
              <a:ext uri="{FF2B5EF4-FFF2-40B4-BE49-F238E27FC236}">
                <a16:creationId xmlns:a16="http://schemas.microsoft.com/office/drawing/2014/main" id="{D5A4E7EA-40BC-4B45-9B48-764E8A7C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59669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59669"/>
                </a:solidFill>
                <a:latin typeface="Prompt"/>
                <a:ea typeface="Prompt"/>
                <a:cs typeface="Prompt"/>
              </a:rPr>
              <a:t>21 จาก 21 กรณีผ่าน</a:t>
            </a:r>
          </a:p>
        </p:txBody>
      </p:sp>
      <p:sp>
        <p:nvSpPr>
          <p:cNvPr id="9" name="ir-330">
            <a:extLst xmlns:a="http://schemas.openxmlformats.org/drawingml/2006/main">
              <a:ext uri="{FF2B5EF4-FFF2-40B4-BE49-F238E27FC236}">
                <a16:creationId xmlns:a16="http://schemas.microsoft.com/office/drawing/2014/main" id="{C52D0F68-38E8-4FCE-9C6F-8E2F81D3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47244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Python · ก้าวเวลาครั้งละ 1 ms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ตรวจพอร์ต เหตุการณ์ และการค้างเปิด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ยังไม่ใช่ผล EdSim51 ของเฟิร์มแวร์ชุดนี้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ยังไม่ใช่ผลวัดวงจรหรือระยะหยุด</a:t>
            </a:r>
          </a:p>
        </p:txBody>
      </p:sp>
      <p:sp>
        <p:nvSpPr>
          <p:cNvPr id="10" name="ir-331">
            <a:extLst xmlns:a="http://schemas.openxmlformats.org/drawingml/2006/main">
              <a:ext uri="{FF2B5EF4-FFF2-40B4-BE49-F238E27FC236}">
                <a16:creationId xmlns:a16="http://schemas.microsoft.com/office/drawing/2014/main" id="{D1769284-2A90-4187-8915-BDDB5138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1816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ir-332">
            <a:extLst xmlns:a="http://schemas.openxmlformats.org/drawingml/2006/main">
              <a:ext uri="{FF2B5EF4-FFF2-40B4-BE49-F238E27FC236}">
                <a16:creationId xmlns:a16="http://schemas.microsoft.com/office/drawing/2014/main" id="{E716C43A-89FF-49FC-9AC1-B0215C43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284C7"/>
            </a:solidFill>
          </a:ln>
        </p:spPr>
      </p:sp>
      <p:sp>
        <p:nvSpPr>
          <p:cNvPr id="12" name="ir-333">
            <a:extLst xmlns:a="http://schemas.openxmlformats.org/drawingml/2006/main">
              <a:ext uri="{FF2B5EF4-FFF2-40B4-BE49-F238E27FC236}">
                <a16:creationId xmlns:a16="http://schemas.microsoft.com/office/drawing/2014/main" id="{36808E15-5EE7-4BE1-83BB-9B604FD4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การทดสอบบนโต๊ะทดลอง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6477000" y="2571750"/>
          <a:ext xmlns:a="http://schemas.openxmlformats.org/drawingml/2006/main" cx="47244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3152775"/>
              </a:tblGrid>
              <a:tr h="4191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75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สิ่งที่ตรวจ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75" b="1">
                          <a:solidFill>
                            <a:srgbClr val="0F172A"/>
                          </a:solidFill>
                          <a:latin typeface="Sarabun"/>
                          <a:ea typeface="Sarabun"/>
                          <a:cs typeface="Sarabun"/>
                        </a:rPr>
                        <a:t>วิธีวัด</a:t>
                      </a:r>
                    </a:p>
                  </a:txBody>
                  <a:tcPr marL="91440" marR="91440" marT="45720" marB="45720" anchor="ctr">
                    <a:solidFill>
                      <a:srgbClr val="E0F2FE"/>
                    </a:solidFill>
                  </a:tcPr>
                </a:tc>
              </a:tr>
              <a:tr h="4191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75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แนวลำแสง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วัตถุทึบ แสงแวดล้อม จุดอับ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75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เวลาตอบสนอง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BEAM_DET → RUN_N → EN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75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ระยะหยุด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ตำแหน่งบานตลอดช่วง Coast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75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ภาคกำลัง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กระแสติดขัดและกลับทิศ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 lIns="85725" tIns="47625" rIns="85725" bIns="47625"/>
                    <a:lstStyle/>
                    <a:p>
                      <a:pPr algn="l"/>
                      <a:r>
                        <a:rPr sz="1275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ความร้อน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</a:rPr>
                        <a:t>L293D และ R 27 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ir-334">
            <a:extLst xmlns:a="http://schemas.openxmlformats.org/drawingml/2006/main">
              <a:ext uri="{FF2B5EF4-FFF2-40B4-BE49-F238E27FC236}">
                <a16:creationId xmlns:a16="http://schemas.microsoft.com/office/drawing/2014/main" id="{824FBFBF-2710-43A4-92CF-02B6A4B1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ขั้นต่อไป: ทดสอบเฟิร์มแวร์ใน EdSim51 แล้ววัดชุดจริงด้วยวัตถุจำลอง</a:t>
            </a:r>
          </a:p>
        </p:txBody>
      </p:sp>
    </p:spTree>
    <p:extLst>
      <p:ext uri="{BB962C8B-B14F-4D97-AF65-F5344CB8AC3E}">
        <p14:creationId xmlns:p14="http://schemas.microsoft.com/office/powerpoint/2010/main" val="15907538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ir-335">
            <a:extLst xmlns:a="http://schemas.openxmlformats.org/drawingml/2006/main">
              <a:ext uri="{FF2B5EF4-FFF2-40B4-BE49-F238E27FC236}">
                <a16:creationId xmlns:a16="http://schemas.microsoft.com/office/drawing/2014/main" id="{33F7E24E-8763-485E-BDD2-DF7F76FE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240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ขอบเขตการตรวจจับและความปลอดภัย</a:t>
            </a:r>
          </a:p>
        </p:txBody>
      </p:sp>
      <p:sp>
        <p:nvSpPr>
          <p:cNvPr id="2" name="ir-336">
            <a:extLst xmlns:a="http://schemas.openxmlformats.org/drawingml/2006/main">
              <a:ext uri="{FF2B5EF4-FFF2-40B4-BE49-F238E27FC236}">
                <a16:creationId xmlns:a16="http://schemas.microsoft.com/office/drawing/2014/main" id="{89513E6E-92D5-4942-8ED9-BF26A07F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64748B"/>
                </a:solidFill>
                <a:latin typeface="Sarabun"/>
                <a:ea typeface="Sarabun"/>
                <a:cs typeface="Sarabun"/>
              </a:defRPr>
            </a:pPr>
            <a:r>
              <a:rPr sz="1300" b="0">
                <a:solidFill>
                  <a:srgbClr val="64748B"/>
                </a:solidFill>
                <a:latin typeface="Sarabun"/>
                <a:ea typeface="Sarabun"/>
                <a:cs typeface="Sarabun"/>
              </a:rPr>
              <a:t>System Boundary &amp; Operational Safety Guidelines</a:t>
            </a:r>
          </a:p>
        </p:txBody>
      </p:sp>
      <p:sp>
        <p:nvSpPr>
          <p:cNvPr id="3" name="ir-337">
            <a:extLst xmlns:a="http://schemas.openxmlformats.org/drawingml/2006/main">
              <a:ext uri="{FF2B5EF4-FFF2-40B4-BE49-F238E27FC236}">
                <a16:creationId xmlns:a16="http://schemas.microsoft.com/office/drawing/2014/main" id="{53F105E1-DE0B-4C76-82C2-05A0B2FC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" name="ir-338">
            <a:extLst xmlns:a="http://schemas.openxmlformats.org/drawingml/2006/main">
              <a:ext uri="{FF2B5EF4-FFF2-40B4-BE49-F238E27FC236}">
                <a16:creationId xmlns:a16="http://schemas.microsoft.com/office/drawing/2014/main" id="{725EBD4A-FCA6-4623-81B5-E30E5923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14</a:t>
            </a:r>
          </a:p>
        </p:txBody>
      </p:sp>
      <p:sp>
        <p:nvSpPr>
          <p:cNvPr id="5" name="ir-339">
            <a:extLst xmlns:a="http://schemas.openxmlformats.org/drawingml/2006/main">
              <a:ext uri="{FF2B5EF4-FFF2-40B4-BE49-F238E27FC236}">
                <a16:creationId xmlns:a16="http://schemas.microsoft.com/office/drawing/2014/main" id="{8620010A-5D7A-4D79-BB38-C3FC1FC4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335280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ir-340">
            <a:extLst xmlns:a="http://schemas.openxmlformats.org/drawingml/2006/main">
              <a:ext uri="{FF2B5EF4-FFF2-40B4-BE49-F238E27FC236}">
                <a16:creationId xmlns:a16="http://schemas.microsoft.com/office/drawing/2014/main" id="{C6E5B60C-57A8-4605-A4E0-3D7D5DDC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284C7"/>
            </a:solidFill>
          </a:ln>
        </p:spPr>
      </p:sp>
      <p:sp>
        <p:nvSpPr>
          <p:cNvPr id="7" name="ir-341">
            <a:extLst xmlns:a="http://schemas.openxmlformats.org/drawingml/2006/main">
              <a:ext uri="{FF2B5EF4-FFF2-40B4-BE49-F238E27FC236}">
                <a16:creationId xmlns:a16="http://schemas.microsoft.com/office/drawing/2014/main" id="{818DE4D8-7E51-4CCD-B4A1-98DBAC08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ตรวจได้ตามแนวแสง</a:t>
            </a:r>
          </a:p>
        </p:txBody>
      </p:sp>
      <p:sp>
        <p:nvSpPr>
          <p:cNvPr id="8" name="ir-342">
            <a:extLst xmlns:a="http://schemas.openxmlformats.org/drawingml/2006/main">
              <a:ext uri="{FF2B5EF4-FFF2-40B4-BE49-F238E27FC236}">
                <a16:creationId xmlns:a16="http://schemas.microsoft.com/office/drawing/2014/main" id="{4B2F58CC-4C65-4D5F-9EBA-72BCF448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289560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วัตถุทึบที่บังลำแสง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ไม่ต้องสวมแท็กหรือปลอกคอ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ติดตั้งให้เหมาะกับระดับขา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และตรวจจุดอับในช่องประตู</a:t>
            </a:r>
          </a:p>
        </p:txBody>
      </p:sp>
      <p:sp>
        <p:nvSpPr>
          <p:cNvPr id="9" name="ir-343">
            <a:extLst xmlns:a="http://schemas.openxmlformats.org/drawingml/2006/main">
              <a:ext uri="{FF2B5EF4-FFF2-40B4-BE49-F238E27FC236}">
                <a16:creationId xmlns:a16="http://schemas.microsoft.com/office/drawing/2014/main" id="{3EEB0C35-17BE-41D9-AB29-B5A57EF0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35280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ir-344">
            <a:extLst xmlns:a="http://schemas.openxmlformats.org/drawingml/2006/main">
              <a:ext uri="{FF2B5EF4-FFF2-40B4-BE49-F238E27FC236}">
                <a16:creationId xmlns:a16="http://schemas.microsoft.com/office/drawing/2014/main" id="{8A505989-3CB7-4A3D-BFE2-62EA583B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11" name="ir-345">
            <a:extLst xmlns:a="http://schemas.openxmlformats.org/drawingml/2006/main">
              <a:ext uri="{FF2B5EF4-FFF2-40B4-BE49-F238E27FC236}">
                <a16:creationId xmlns:a16="http://schemas.microsoft.com/office/drawing/2014/main" id="{75019C7D-9728-4768-88A2-0D403577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240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ข้อจำกัดของโฟโต้เซนเซอร์</a:t>
            </a:r>
          </a:p>
        </p:txBody>
      </p:sp>
      <p:sp>
        <p:nvSpPr>
          <p:cNvPr id="12" name="ir-346">
            <a:extLst xmlns:a="http://schemas.openxmlformats.org/drawingml/2006/main">
              <a:ext uri="{FF2B5EF4-FFF2-40B4-BE49-F238E27FC236}">
                <a16:creationId xmlns:a16="http://schemas.microsoft.com/office/drawing/2014/main" id="{101E8F29-1660-4FF9-AC99-29E3CA35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289560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ลำแสงเดียวไม่ครอบคลุมทุกจุด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ต้องจัดแนวหัวส่งและหัวรับ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วัตถุใสหรือเงาต้องเลือก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เซนเซอร์ให้เหมาะและทดสอบ</a:t>
            </a:r>
          </a:p>
        </p:txBody>
      </p:sp>
      <p:sp>
        <p:nvSpPr>
          <p:cNvPr id="13" name="ir-347">
            <a:extLst xmlns:a="http://schemas.openxmlformats.org/drawingml/2006/main">
              <a:ext uri="{FF2B5EF4-FFF2-40B4-BE49-F238E27FC236}">
                <a16:creationId xmlns:a16="http://schemas.microsoft.com/office/drawing/2014/main" id="{9E5AB8CB-C666-420A-A46D-BA8A06E4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35280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ir-348">
            <a:extLst xmlns:a="http://schemas.openxmlformats.org/drawingml/2006/main">
              <a:ext uri="{FF2B5EF4-FFF2-40B4-BE49-F238E27FC236}">
                <a16:creationId xmlns:a16="http://schemas.microsoft.com/office/drawing/2014/main" id="{DD8A6D84-D792-4281-87EC-25F33201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A580C"/>
            </a:solidFill>
          </a:ln>
        </p:spPr>
      </p:sp>
      <p:sp>
        <p:nvSpPr>
          <p:cNvPr id="15" name="ir-349">
            <a:extLst xmlns:a="http://schemas.openxmlformats.org/drawingml/2006/main">
              <a:ext uri="{FF2B5EF4-FFF2-40B4-BE49-F238E27FC236}">
                <a16:creationId xmlns:a16="http://schemas.microsoft.com/office/drawing/2014/main" id="{BD97FFCC-7ECA-49BA-960C-43F543C5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ขอบเขตโครงงาน</a:t>
            </a:r>
          </a:p>
        </p:txBody>
      </p:sp>
      <p:sp>
        <p:nvSpPr>
          <p:cNvPr id="16" name="ir-350">
            <a:extLst xmlns:a="http://schemas.openxmlformats.org/drawingml/2006/main">
              <a:ext uri="{FF2B5EF4-FFF2-40B4-BE49-F238E27FC236}">
                <a16:creationId xmlns:a16="http://schemas.microsoft.com/office/drawing/2014/main" id="{E66758FC-7575-4D33-801D-90F57122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33650"/>
            <a:ext cx="289560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ชุดสาธิตการควบคุม 8051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ระยะวิ่งตามแบบ 200 mm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ไม่แทนระบบประตูนิรภัย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00" b="0">
                <a:solidFill>
                  <a:srgbClr val="334155"/>
                </a:solidFill>
                <a:latin typeface="Sarabun"/>
                <a:ea typeface="Sarabun"/>
                <a:cs typeface="Sarabun"/>
              </a:defRPr>
            </a:pPr>
            <a:r>
              <a:rPr sz="1400" b="0">
                <a:solidFill>
                  <a:srgbClr val="334155"/>
                </a:solidFill>
                <a:latin typeface="Sarabun"/>
                <a:ea typeface="Sarabun"/>
                <a:cs typeface="Sarabun"/>
              </a:rPr>
              <a:t>ที่ผ่านการรับรอง SIL</a:t>
            </a:r>
          </a:p>
        </p:txBody>
      </p:sp>
      <p:sp>
        <p:nvSpPr>
          <p:cNvPr id="17" name="ir-351">
            <a:extLst xmlns:a="http://schemas.openxmlformats.org/drawingml/2006/main">
              <a:ext uri="{FF2B5EF4-FFF2-40B4-BE49-F238E27FC236}">
                <a16:creationId xmlns:a16="http://schemas.microsoft.com/office/drawing/2014/main" id="{D75B2202-4F59-44C4-ADDF-1B76F7BF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F172A"/>
                </a:solidFill>
                <a:latin typeface="Prompt"/>
                <a:ea typeface="Prompt"/>
                <a:cs typeface="Prompt"/>
              </a:defRPr>
            </a:pPr>
            <a:r>
              <a:rPr sz="1950" b="1">
                <a:solidFill>
                  <a:srgbClr val="0F172A"/>
                </a:solidFill>
                <a:latin typeface="Prompt"/>
                <a:ea typeface="Prompt"/>
                <a:cs typeface="Prompt"/>
              </a:rPr>
              <a:t>ตรวจทางผ่านให้ปลอดภัย แล้วจึงกดปิดเอง</a:t>
            </a:r>
          </a:p>
        </p:txBody>
      </p:sp>
    </p:spTree>
    <p:extLst>
      <p:ext uri="{BB962C8B-B14F-4D97-AF65-F5344CB8AC3E}">
        <p14:creationId xmlns:p14="http://schemas.microsoft.com/office/powerpoint/2010/main" val="173286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2026-09-25T12:48:45.8340000Z</dcterms:created>
  <dcterms:modified xsi:type="dcterms:W3CDTF">2026-09-25T12:48:45.8340000Z</dcterms:modified>
</coreProperties>
</file>