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8628de964a4312" /><Relationship Type="http://schemas.openxmlformats.org/officeDocument/2006/relationships/extended-properties" Target="/docProps/app.xml" Id="R704473f21f3a4f45" /><Relationship Type="http://schemas.openxmlformats.org/officeDocument/2006/relationships/officeDocument" Target="/ppt/presentation.xml" Id="R31f9c0b0554547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97dc7f67f345b4"/>
  </p:sldMasterIdLst>
  <p:notesMasterIdLst>
    <p:notesMasterId xmlns:r="http://schemas.openxmlformats.org/officeDocument/2006/relationships" r:id="R99341a52a87f4fd5"/>
  </p:notesMasterIdLst>
  <p:sldIdLst>
    <p:sldId xmlns:r="http://schemas.openxmlformats.org/officeDocument/2006/relationships" id="256" r:id="Rd72bf5b6de644876"/>
    <p:sldId xmlns:r="http://schemas.openxmlformats.org/officeDocument/2006/relationships" id="257" r:id="R8ed09a9660d344a5"/>
    <p:sldId xmlns:r="http://schemas.openxmlformats.org/officeDocument/2006/relationships" id="258" r:id="R4f63486b3e304e9e"/>
    <p:sldId xmlns:r="http://schemas.openxmlformats.org/officeDocument/2006/relationships" id="259" r:id="R2a196f8501314491"/>
    <p:sldId xmlns:r="http://schemas.openxmlformats.org/officeDocument/2006/relationships" id="260" r:id="R5bc68569d1b04293"/>
    <p:sldId xmlns:r="http://schemas.openxmlformats.org/officeDocument/2006/relationships" id="261" r:id="Rb8c23022b3cb45e1"/>
    <p:sldId xmlns:r="http://schemas.openxmlformats.org/officeDocument/2006/relationships" id="262" r:id="R43752803b77b4aaa"/>
    <p:sldId xmlns:r="http://schemas.openxmlformats.org/officeDocument/2006/relationships" id="263" r:id="R25f4f5cf9b0e4824"/>
    <p:sldId xmlns:r="http://schemas.openxmlformats.org/officeDocument/2006/relationships" id="264" r:id="Rb0678b4689f64c01"/>
    <p:sldId xmlns:r="http://schemas.openxmlformats.org/officeDocument/2006/relationships" id="265" r:id="Rb0d3abbf2dbc4f0f"/>
    <p:sldId xmlns:r="http://schemas.openxmlformats.org/officeDocument/2006/relationships" id="266" r:id="Rb29c0d267c3f4f17"/>
    <p:sldId xmlns:r="http://schemas.openxmlformats.org/officeDocument/2006/relationships" id="267" r:id="R640a4594aedc4c07"/>
    <p:sldId xmlns:r="http://schemas.openxmlformats.org/officeDocument/2006/relationships" id="268" r:id="R418c1092ae1a4812"/>
    <p:sldId xmlns:r="http://schemas.openxmlformats.org/officeDocument/2006/relationships" id="269" r:id="R1b883ebf8bd34253"/>
    <p:sldId xmlns:r="http://schemas.openxmlformats.org/officeDocument/2006/relationships" id="270" r:id="R4048e112f0514dd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3f87da4c254c3d" /><Relationship Type="http://schemas.openxmlformats.org/officeDocument/2006/relationships/slideMaster" Target="/ppt/slideMasters/slideMaster1.xml" Id="R8197dc7f67f345b4" /><Relationship Type="http://schemas.openxmlformats.org/officeDocument/2006/relationships/notesMaster" Target="/ppt/notesMasters/notesMaster1.xml" Id="R99341a52a87f4fd5" /><Relationship Type="http://schemas.openxmlformats.org/officeDocument/2006/relationships/presProps" Target="/ppt/presProps.xml" Id="R4fdd3cd0603a411d" /><Relationship Type="http://schemas.openxmlformats.org/officeDocument/2006/relationships/tableStyles" Target="/ppt/tableStyles.xml" Id="Rc46d09d2ea414698" /><Relationship Type="http://schemas.openxmlformats.org/officeDocument/2006/relationships/slide" Target="/ppt/slides/slide1.xml" Id="Rd72bf5b6de644876" /><Relationship Type="http://schemas.openxmlformats.org/officeDocument/2006/relationships/slide" Target="/ppt/slides/slide2.xml" Id="R8ed09a9660d344a5" /><Relationship Type="http://schemas.openxmlformats.org/officeDocument/2006/relationships/slide" Target="/ppt/slides/slide3.xml" Id="R4f63486b3e304e9e" /><Relationship Type="http://schemas.openxmlformats.org/officeDocument/2006/relationships/slide" Target="/ppt/slides/slide4.xml" Id="R2a196f8501314491" /><Relationship Type="http://schemas.openxmlformats.org/officeDocument/2006/relationships/slide" Target="/ppt/slides/slide5.xml" Id="R5bc68569d1b04293" /><Relationship Type="http://schemas.openxmlformats.org/officeDocument/2006/relationships/slide" Target="/ppt/slides/slide6.xml" Id="Rb8c23022b3cb45e1" /><Relationship Type="http://schemas.openxmlformats.org/officeDocument/2006/relationships/slide" Target="/ppt/slides/slide7.xml" Id="R43752803b77b4aaa" /><Relationship Type="http://schemas.openxmlformats.org/officeDocument/2006/relationships/slide" Target="/ppt/slides/slide8.xml" Id="R25f4f5cf9b0e4824" /><Relationship Type="http://schemas.openxmlformats.org/officeDocument/2006/relationships/slide" Target="/ppt/slides/slide9.xml" Id="Rb0678b4689f64c01" /><Relationship Type="http://schemas.openxmlformats.org/officeDocument/2006/relationships/slide" Target="/ppt/slides/slide10.xml" Id="Rb0d3abbf2dbc4f0f" /><Relationship Type="http://schemas.openxmlformats.org/officeDocument/2006/relationships/slide" Target="/ppt/slides/slide11.xml" Id="Rb29c0d267c3f4f17" /><Relationship Type="http://schemas.openxmlformats.org/officeDocument/2006/relationships/slide" Target="/ppt/slides/slide12.xml" Id="R640a4594aedc4c07" /><Relationship Type="http://schemas.openxmlformats.org/officeDocument/2006/relationships/slide" Target="/ppt/slides/slide13.xml" Id="R418c1092ae1a4812" /><Relationship Type="http://schemas.openxmlformats.org/officeDocument/2006/relationships/slide" Target="/ppt/slides/slide14.xml" Id="R1b883ebf8bd34253" /><Relationship Type="http://schemas.openxmlformats.org/officeDocument/2006/relationships/slide" Target="/ppt/slides/slide15.xml" Id="R4048e112f0514d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499dbbdcea44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9c8c428a1047a6" /><Relationship Type="http://schemas.openxmlformats.org/officeDocument/2006/relationships/notesMaster" Target="/ppt/notesMasters/notesMaster1.xml" Id="Reb59aa77f44549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543fcf1be741eb" /><Relationship Type="http://schemas.openxmlformats.org/officeDocument/2006/relationships/notesMaster" Target="/ppt/notesMasters/notesMaster1.xml" Id="R6448e35f9b3341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3dfcaec99a4c1e" /><Relationship Type="http://schemas.openxmlformats.org/officeDocument/2006/relationships/notesMaster" Target="/ppt/notesMasters/notesMaster1.xml" Id="R968da167821b41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4f73e5d19a4cdc" /><Relationship Type="http://schemas.openxmlformats.org/officeDocument/2006/relationships/notesMaster" Target="/ppt/notesMasters/notesMaster1.xml" Id="R92ebb90ce16748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118a76eadb4cd7" /><Relationship Type="http://schemas.openxmlformats.org/officeDocument/2006/relationships/notesMaster" Target="/ppt/notesMasters/notesMaster1.xml" Id="Raf61aeb7afe94f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b89c4317434cea" /><Relationship Type="http://schemas.openxmlformats.org/officeDocument/2006/relationships/notesMaster" Target="/ppt/notesMasters/notesMaster1.xml" Id="Rbe078ef07d6548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a6c6446f974366" /><Relationship Type="http://schemas.openxmlformats.org/officeDocument/2006/relationships/notesMaster" Target="/ppt/notesMasters/notesMaster1.xml" Id="R6c4338b140ae4f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23ff6cd96c431d" /><Relationship Type="http://schemas.openxmlformats.org/officeDocument/2006/relationships/notesMaster" Target="/ppt/notesMasters/notesMaster1.xml" Id="Rb78cf5c522cc4b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68a91edd604024" /><Relationship Type="http://schemas.openxmlformats.org/officeDocument/2006/relationships/notesMaster" Target="/ppt/notesMasters/notesMaster1.xml" Id="R169a92cc2e484b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1824c09c4140ee" /><Relationship Type="http://schemas.openxmlformats.org/officeDocument/2006/relationships/notesMaster" Target="/ppt/notesMasters/notesMaster1.xml" Id="Ree3a82b2a57447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a19101caac4a06" /><Relationship Type="http://schemas.openxmlformats.org/officeDocument/2006/relationships/notesMaster" Target="/ppt/notesMasters/notesMaster1.xml" Id="Raaa6243d697f41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d684c2d6f64974" /><Relationship Type="http://schemas.openxmlformats.org/officeDocument/2006/relationships/notesMaster" Target="/ppt/notesMasters/notesMaster1.xml" Id="Rd74d784b1d0748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2a4a57b1b74bc6" /><Relationship Type="http://schemas.openxmlformats.org/officeDocument/2006/relationships/notesMaster" Target="/ppt/notesMasters/notesMaster1.xml" Id="R53492f22e4d14f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fbbc8a47644eef" /><Relationship Type="http://schemas.openxmlformats.org/officeDocument/2006/relationships/notesMaster" Target="/ppt/notesMasters/notesMaster1.xml" Id="R143485c9738646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f3e36d444d4c55" /><Relationship Type="http://schemas.openxmlformats.org/officeDocument/2006/relationships/notesMaster" Target="/ppt/notesMasters/notesMaster1.xml" Id="R90897eb83fdb4a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โครงงานนี้ปรับเป็นประตูบานเลื่อนเดี่ยวในบ้านตามองค์ประกอบใน Lab 2 ใช้ปุ่มเปิดสองด้านและปุ่มสั่งปิดโดยคนในบ้าน ระบบ RFID เป็นแนวทางที่เสนอเพื่อให้ประตูเปิดกลับเมื่ออ่านพบแท็กของเด็กหรือสัตว์เลี้ยงขณะกำลังปิด จากนั้นเปิดค้างจนมีคนตรวจทางผ่านและกดปิดใหม่ งานนี้เป็นแบบสำหรับชุดสาธิต ยังไม่ได้ยืนยันว่าเครื่องอ่านรุ่นใดจะครอบคลุมช่องประตูจริง และไม่ใช่ระบบความปลอดภัยที่ผ่านการรับรอง</a:t>
            </a:r>
          </a:p>
          <a:p xmlns:a="http://schemas.openxmlformats.org/drawingml/2006/main">
            <a:r>
              <a:t>อ้างอิง: Lab 2 for Mini-Project หน้า 11–13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ฝั่งซ้ายเป็นปัญหาของการกดสั่งปิดในขณะที่เด็กหรือสัตว์เลี้ยงยังอยู่ในช่องทางผ่าน บานประตูที่เลื่อนซ้ายกำลังลดพื้นที่ว่างทางซ้าย ฝั่งขวาแสดงสภาพหลังระบบอ่านพบแท็ก ตัดแรงขับ พักอย่างน้อย 200 ms และเปิดกลับจนถึงลิมิตเปิดแล้ว ไฟส้มติดเฉพาะ RFID_HOLD คนในบ้านต้องตรวจทางผ่าน ให้แท็กพ้นบริเวณอ่าน แล้วปล่อยและกด PB_CLOSE ใหม่ ภาพสองฝั่งเป็นภาพจำลองแนวคิด ไม่ใช่ภาพต้นแบบที่สร้างแล้ว และไม่ได้ระบุรัศมีอ่าน RFID</a:t>
            </a:r>
          </a:p>
          <a:p xmlns:a="http://schemas.openxmlformats.org/drawingml/2006/main">
            <a:r>
              <a:t>อ้างอิง: ข้อกำหนด Version 2 ของโครงงาน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องค์ประกอบตาม Lab 2 ได้แก่บานเลื่อนหนึ่งบาน ราง มอเตอร์ เพลา มู่เล่ย์ สายพาน ปุ่มเปิดด้านในและด้านนอก และลิมิตสองปลายทาง แบบนี้กำหนด LC เป็นตำแหน่งปิดทางซ้ายและ LO เป็นตำแหน่งเปิดทางขวา โดยยึดบานกับสายพานช่วงบน เมื่อมองจากปลายเพลา การหมุน CW ทำให้สายพานช่วงบนเคลื่อนไปทางขวา และ CCW ทำให้ปิดไปทางซ้าย ขั้วมอเตอร์และมุมมองต้องตรวจจริงก่อนใช้งาน ภาพแสดงตำแหน่ง RFID และไฟส้ม แต่ไม่ได้ใช้รูปลักษณ์ของภาพยืนยันรุ่นหรือระยะตรวจจับ</a:t>
            </a:r>
          </a:p>
          <a:p xmlns:a="http://schemas.openxmlformats.org/drawingml/2006/main">
            <a:r>
              <a:t>อ้างอิง: Lab 2 for Mini-Project หน้า 11–13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เริ่มจากประตูปิด คนกด PB_OUT เพื่อเข้าหรือ PB_IN เพื่อออก ระบบเปิดจน LO ทำงานแล้วอยู่ OPEN_HOLD โดยไม่มีเวลาเปิดค้างเพื่อสั่งปิดอัตโนมัติ เมื่อคนกด PB_CLOSE ใหม่ และไม่พบแท็ก จึงเริ่มปิด ถ้าขณะปิดอ่านพบแท็ก ระบบตัดแรงขับทันทีที่ลูปควบคุมรับสัญญาณ พัก 200 ms เปิดกลับจนสุด แล้วอยู่ RFID_HOLD ไฟส้มค้างจนได้รับการกดปิดใหม่ที่ผ่านเงื่อนไข หากกดตอนยังพบแท็กให้ทิ้งคำสั่งนั้น ไม่เก็บไว้ปิดภายหลัง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เครื่องอ่าน RFID ไม่ใช่สวิตช์ดิจิทัลทุกรุ่น จึงต้องมีตัวแปลงข้อมูลการอ่านแท็กที่กำหนดให้เป็น RFID_DET แบบระดับสัญญาณค้าง สำหรับด้าน 8051 เสนอให้ใช้หน้าสัมผัสแห้ง หรือเอาต์พุตแยกวงจรที่ดึงลงกราวด์ได้ โดยมีตัวต้านทาน 10 กิโลโอห์มดึงขึ้น 5 โวลต์ เมื่อพบแท็กจึงเป็นศูนย์ ไม่ต่อ UART, RS-232, RS-485 หรือ GPIO ที่ไม่ทราบแรงดันเข้าขา P2.2 โดยตรง ในระยะนี้จะจำลอง RFID_DET เป็นอินพุตดิจิทัลเพื่อทดสอบ FSM แรงดันเครื่องอ่าน ระยะอ่าน เวลาแปลงผล และพฤติกรรมเมื่อไฟดับต้องเลือกและวัดภายหลัง</a:t>
            </a:r>
          </a:p>
          <a:p xmlns:a="http://schemas.openxmlformats.org/drawingml/2006/main">
            <a:r>
              <a:t>อ้างอิงหลักการ RFID: https://www.impinj.com/products/technology/how-do-rain-rfid-systems-work</a:t>
            </a:r>
          </a:p>
          <a:p xmlns:a="http://schemas.openxmlformats.org/drawingml/2006/main">
            <a:r>
              <a:t>ขา AT89S52: https://ww1.microchip.com/downloads/en/DeviceDoc/doc1919.pdf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L293D ขา 2 รับ IN1 จาก P1.0 ขา 7 รับ IN2 จาก P1.1 ขา 3 และ 6 ต่อมอเตอร์โดยมีตัวต้านทานกำลัง 27 โอห์ม 10 วัตต์อนุกรมหนึ่งด้าน ขา 1 เป็น Enable แบบทำงานเมื่อสูง จึงใช้ SN74HCT14 กลับค่า RUN_N จาก P1.2 และผ่านหน้าสัมผัส NC1 ของ E-stop มี pull-down 10 กิโลโอห์มที่ EN เพื่อให้ตัดแรงขับเมื่อ NC1 เปิด พอร์ตที่มี _N และไฟทุกดวงต่อแบบ active-low ขา P1.4, P1.5, P1.6 รับกระแส LED ผ่าน R2.2k ต่อตัว กลไกจริงต้องยืนยัน CW และ CCW เพราะ H-bridge กำหนดขั้วไฟแต่ไม่ได้รู้ทิศติดตั้งมอเตอร์</a:t>
            </a:r>
          </a:p>
          <a:p xmlns:a="http://schemas.openxmlformats.org/drawingml/2006/main">
            <a:r>
              <a:t>รายละเอียดประกอบ: L293D GND4,5,12,13; VCC1=16; VCC2=8; unused 9,10,15ลงGNDและ11,14เว้น ส่วน HCT14 VCC14=5V,GND7; unused inputsผูกGND ต้องมี100nFใกล้ขาไฟไอซีแต่ละตัวและคร่อมมอเตอร์,470µF25Vใกล้ราง12V แยกทางกลับกระแสมอเตอร์ก่อนรวมกราวด์หนึ่งจุด MCU VCC40=5V,GND20,EA31=5V,XTAL18/19=12MHzและวงจรRST9</a:t>
            </a:r>
          </a:p>
          <a:p xmlns:a="http://schemas.openxmlformats.org/drawingml/2006/main">
            <a:r>
              <a:t>อ้างอิง: https://www.ti.com/lit/ds/symlink/l293d.pdf</a:t>
            </a:r>
          </a:p>
          <a:p xmlns:a="http://schemas.openxmlformats.org/drawingml/2006/main">
            <a:r>
              <a:t>https://www.ti.com/lit/ds/symlink/sn74hct14.pdf</a:t>
            </a:r>
          </a:p>
          <a:p xmlns:a="http://schemas.openxmlformats.org/drawingml/2006/main">
            <a:r>
              <a:t>https://www.pololu.com/product/3041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อินพุตปุ่มเปิดสองตัวและปุ่มปิดเป็นหน้าสัมผัส NO ลงกราวด์ ลิมิตใช้ COM และ NO ส่วน E-stop ใช้ NC2 ลงกราวด์และมี pull-up เมื่อกด E-stop หรือสายเปิดจึงอ่านได้หนึ่ง P2.5 ไม่ใช้งานใน Version 2 และ P1.6 เปลี่ยนเป็นไฟส้ม LED_RFID ทุกขาอินพุตมีตัวต้านทานดึงขึ้น 10k ไป5V เขียน P2=FFH เพื่อใช้พอร์ตแบบ quasi-bidirectional เป็นอินพุต P2.6 ทำหน้าที่ปิดเฉพาะสถานะเปิดค้างและทำหน้าที่รีเซ็ตเฉพาะเมื่อระบบหยุดจากความผิดปกติ ไม่ให้การรีเซ็ตสั่งปิดทันที</a:t>
            </a:r>
          </a:p>
          <a:p xmlns:a="http://schemas.openxmlformats.org/drawingml/2006/main">
            <a:r>
              <a:t>อ้างอิง: https://ww1.microchip.com/downloads/en/DeviceDoc/doc1919.pdf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สถานะปกติมีเจ็ดสถานะ เอาต์พุตมอเตอร์และไฟขึ้นกับสถานะในตารางเท่านั้น ใช้ตัวแปร rfid_seen จดจำสาเหตุการเปิดกลับเพื่อแยก RFID_HOLD ออกจาก OPEN_HOLD หากเปิดกลับเพราะคนกดปุ่มเปิด ไฟส้มจะไม่ติด เมื่อ CLOSING พบ RFID หรือคำสั่งเปิดให้เข้า REV_WAIT แล้ว REOPENING โดยต้องผ่าน200msก่อนกลับทิศ หากพบ RFID พร้อม LC ให้เลือกเปิดกลับก่อน กรณีไม่มีเส้นที่เงื่อนไขเป็นจริงให้คงสถานะเดิม เส้นไขว้ที่เว้นช่องไม่ต่อถึงกัน</a:t>
            </a:r>
          </a:p>
          <a:p xmlns:a="http://schemas.openxmlformats.org/drawingml/2006/main">
            <a:r>
              <a:t>ทุกสถานะอยู่ภายใต้วงจรตัด EN และ latch fault แยกจาก FSM ปกติ E-stop ลิมิตสองตัวพร้อมกัน หรือการเดินทางเกิน5s ตัดแรงขับและต้องรีเซ็ตด้วยมือ ไม่เพิ่มเป็นสถานะปกติลำดับที่แปด</a:t>
            </a:r>
          </a:p>
          <a:p xmlns:a="http://schemas.openxmlformats.org/drawingml/2006/main">
            <a:r>
              <a:t>Lee &amp; Seshia: Moore outputs depend on state; events and guards control transitions.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ตารางนี้ใช้เมื่อไม่มี fault และ E-stop อยู่ในสภาพปกติ กำหนด P1.3 และ P1.7 เป็น1คงที่ แล้วรวมบิตเพื่อได้ค่า P1 ทั้งไบต์ ตัวอย่าง CLOSED เป็น ECH โดย IN1และIN2เป็น0, RUN_Nเป็น1ตัดแรงขับ และไฟแดงเป็น0จึงติด OPENING กับ REOPENING ใช้ D9H เหมือนกัน RFID_HOLD ใช้ BCH และเป็นสถานะเดียวที่ไฟส้มเป็น0 STOP ในที่นี้เป็นคำสั่งหยุดขับและสถานะนิ่งที่ต้องการ ไม่ได้แปลว่าความเร็วทางกลเป็นศูนย์ทันทีเมื่อ EN ลงต่ำ</a:t>
            </a:r>
          </a:p>
          <a:p xmlns:a="http://schemas.openxmlformats.org/drawingml/2006/main">
            <a:r>
              <a:t>อ้างอิงพฤติกรรม H-bridge: https://www.ti.com/lit/ds/symlink/l293d.pdf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ให้ตรวจเงื่อนไขหยุดฉุกเฉินก่อนเงื่อนไขปกติ ใน CLOSING ตรวจ RFID และปุ่มเปิดก่อน LC และก่อนtimeout ส่วน OPENING หรือ REOPENING ให้ถึง LO แล้วหยุด P2.6 จะถูกใช้ได้เมื่อเข้ารอสั่งปิดแล้วเห็นการปล่อยปุ่มก่อน จากนั้นกดใหม่และไม่มีแท็ก รวมทั้งปล่อยปุ่มเปิดทั้งสองด้าน ตัวแปร rfid_seen ตั้งเป็น1เมื่อ RFID เป็นสาเหตุใน CLOSING และคงค่าแม้แท็กหายระหว่างเปิดกลับ หากเป็นคำสั่งเปิดโดยคนเพียงอย่างเดียวให้เป็น0 เงื่อนไขที่ไม่ตรงกับแถวใดคงสถานะเดิม ตารางเป็นการระบุ guards ของพอร์ต ไม่ใช่การเขียนค่าออกไปยัง P2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เสนอให้ใช้ Timer0 mode1 สำหรับ tick1ms แทนการรอแบบ blocking จึงยังอ่าน RFID และ E-stop ระหว่างกรองปุ่มหรือพักมอเตอร์ได้ ค่าเริ่มนับ FC18H มาจาก65536ลบ1000 อย่างไรก็ตามการโหลดค่าใน ISR มีเวลา overhead จึงต้องตรวจเวลาในEdSim51และบนขาจริงก่อนอ้างความแม่นยำ เวลากรองปุ่ม20msใช้20ticks เวลาพัก200msใช้200ticks และtimeoutการเคลื่อนที่5sใช้5000ticks เวลาพักเป็นค่ากำหนดขั้นต่ำที่ยังต้องยืนยันกับแรงเฉื่อยจริง E-stop NC1 ตัด EN โดยฮาร์ดแวร์ ส่วน NC2 แจ้ง P2.7 ปลด E-stop แล้วไม่ให้มอเตอร์เริ่มเอง ต้องปล่อยและกด P2.6 ใหม่พร้อมลิมิตบอกปลายทางเพียงตัวเดียว</a:t>
            </a:r>
          </a:p>
          <a:p xmlns:a="http://schemas.openxmlformats.org/drawingml/2006/main">
            <a:r>
              <a:t>อ้างอิง timer: https://ww1.microchip.com/downloads/en/DeviceDoc/doc1919.pdf</a:t>
            </a:r>
          </a:p>
          <a:p xmlns:a="http://schemas.openxmlformats.org/drawingml/2006/main">
            <a:r>
              <a:t>https://www.ti.com/lit/ds/symlink/sn74hct14.pdf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เมื่อเข้าสู่RFID_HOLDต้องล้างclose_armedก่อนเพื่อไม่รับการกดที่เริ่มระหว่างเปิดกลับ หลังจากเห็นPB_CLOSEปล่อยอย่างน้อย20msจึงarm แล้วรอการกดต่ำคงที่20ms สร้างclose_eventเพียงครั้งเดียว ถ้าขณะนั้นRFID_DETเป็น0หรือปุ่มเปิดยังถูกกด ให้ทิ้งเหตุการณ์และยกเลิกarm ต้องปล่อยและกดใหม่ ไม่ตั้งคำสั่งค้างรอจนแท็กหาย PB_CLOSEบนP2.6มีบทบาทresetเฉพาะfaultและต้องตรวจเงื่อนไขกู้คืนต่างหาก</a:t>
            </a:r>
          </a:p>
          <a:p xmlns:a="http://schemas.openxmlformats.org/drawingml/2006/main">
            <a:r>
              <a:t>กฎนี้ทดสอบกับแบบจำลองลอจิก Python โดยยังไม่ใช่ผลจำลองเครื่องอ่านหรือกลไกจริง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ตัวอย่างนี้เป็นส่วนลูปในCLOSING หลังผ่านการตรวจE-stopและลิมิตขัดแย้งในลูปหลัก หากP2.2ต่ำให้SETB P1.2ก่อนเพื่อปิดEnable จากนั้นเขียนP1=FCHเพื่อหยุดทิศทางและดับไฟทั้งหมด ตั้งrfid_seenและเปลี่ยนSTATEเป็นREV_WAIT พร้อมเริ่มตัวนับ200ms หากไม่พบแท็กจึงตรวจปุ่มเปิดและลิมิตปิดตามลำดับ ส่วนTimer0 ISRและการกรองปุ่มต้องทำงานต่อเนื่อง โดยไม่เรียกblockingdelay200ms ตัวแปรSTATE,RFID_SEENและซับรูทีนENTER_REV_WAITต้องนิยามในเฟิร์มแวร์จริงก่อนassemble ไฟล์ตัวอย่างที่แนบอธิบายสัญญาของซับรูทีนไว้ครบและไม่ได้อ้างว่ารันEdSim51แล้ว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สร้างแบบจำลองFSMที่เดินเวลาอุดมคติทีละ1msและตรวจ21กรณี ได้แก่ค่าพอร์ตทุกสถานะ ความหมายไฟส้ม คำสั่งเปิด ลิมิต การปิดด้วยการกดใหม่ การกดค้าง การทิ้งคำสั่งขณะพบแท็ก ลำดับความสำคัญของRFIDก่อนLC ระยะพักขั้นต่ำ การเก็บสาเหตุRFIDจนเปิดกลับสุด E-stopการรีเซ็ตและtimeout ผลผ่าน21กรณีแสดงความสอดคล้องของลอจิกอ้างอิงเท่านั้น ยังไม่ตรวจinstructiontimingของ8051 ไม่จำลองRFIDทางฟิสิกส์ และไม่ได้วัดกระแสมอเตอร์ แผนทดสอบฮาร์ดแวร์ต้องใช้วัตถุจำลองแทนเด็กหรือสัตว์ก่อนเสมอ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สรุปว่าประตูบ้านชุดนี้รับปุ่มเปิดสองด้านและปุ่มปิดโดยคน ไม่มีการปิดเองตามเวลา เมื่ออ่านพบแท็กขณะปิดจะตัดแรงขับ พัก เปิดกลับ และเปิดค้างพร้อมไฟส้มตามลำดับเจ็ดสถานะ สิ่งที่ตรวจแล้วคือความสอดคล้องของลอจิกในแบบจำลอง ส่วนเครื่องอ่านจริงต้องเลือกร่วมกับแท็กและวัดพื้นที่อ่านทั้งช่องประตู รวมถึงความล่าช้าและกรณีอ่านหลุด วัตถุที่ไม่ติดแท็กหรือแท็กที่อ่านไม่สำเร็จจะไม่ทำให้RFID_DETทำงานตามที่หวัง และสัญญาณ1ยังแยกเครื่องอ่านเสียออกจากไม่พบแท็กไม่ได้ จึงนำเสนอเป็นแนวคิดชุดสาธิต ไม่กล่าวอ้างว่าเป็นระบบป้องกันหนีบที่รับรองแล้ว</a:t>
            </a:r>
          </a:p>
          <a:p xmlns:a="http://schemas.openxmlformats.org/drawingml/2006/main">
            <a:r>
              <a:t>แหล่งข้อมูลหลัก: Lab 2 for Mini-Project หน้า 11–13; Lee &amp; Seshia, Introduction to Embedded Systems; https://ww1.microchip.com/downloads/en/DeviceDoc/doc1919.pdf; https://www.ti.com/lit/ds/symlink/l293d.pdf; https://www.pololu.com/product/3041; https://www.impinj.com/products/technology/how-do-rain-rfid-systems-work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27f13cda14e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5bd0e9c1cd4223" /><Relationship Type="http://schemas.openxmlformats.org/officeDocument/2006/relationships/slideLayout" Target="/ppt/slideLayouts/slideLayout1.xml" Id="R70d2d9afd21f4c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d2d9afd21f4c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f0e3181e14c94" /><Relationship Type="http://schemas.openxmlformats.org/officeDocument/2006/relationships/notesSlide" Target="/ppt/notesSlides/notesSlide1.xml" Id="R6f679589cf3f49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3349456f94fbe" /><Relationship Type="http://schemas.openxmlformats.org/officeDocument/2006/relationships/image" Target="/ppt/media/image.png" Id="Rde640ab61a204a20" /><Relationship Type="http://schemas.openxmlformats.org/officeDocument/2006/relationships/notesSlide" Target="/ppt/notesSlides/notesSlide2.xml" Id="R5f02170f658d4a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06050f32a4f17" /><Relationship Type="http://schemas.openxmlformats.org/officeDocument/2006/relationships/image" Target="/ppt/media/image2.png" Id="R1677c43cac4a4a34" /><Relationship Type="http://schemas.openxmlformats.org/officeDocument/2006/relationships/notesSlide" Target="/ppt/notesSlides/notesSlide3.xml" Id="R83f557e6bb7042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afb6e40f04f21" /><Relationship Type="http://schemas.openxmlformats.org/officeDocument/2006/relationships/notesSlide" Target="/ppt/notesSlides/notesSlide4.xml" Id="Raaa66a96c84046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3ef30400d4163" /><Relationship Type="http://schemas.openxmlformats.org/officeDocument/2006/relationships/notesSlide" Target="/ppt/notesSlides/notesSlide5.xml" Id="R1027ab35db634f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b6599f243403a" /><Relationship Type="http://schemas.openxmlformats.org/officeDocument/2006/relationships/image" Target="/ppt/media/image3.png" Id="Rb3656f209af14cb9" /><Relationship Type="http://schemas.openxmlformats.org/officeDocument/2006/relationships/image" Target="/ppt/media/image.jpeg" Id="R37564f2506f94e12" /><Relationship Type="http://schemas.openxmlformats.org/officeDocument/2006/relationships/notesSlide" Target="/ppt/notesSlides/notesSlide6.xml" Id="R86f32793af0b4a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a103e36964594" /><Relationship Type="http://schemas.openxmlformats.org/officeDocument/2006/relationships/notesSlide" Target="/ppt/notesSlides/notesSlide7.xml" Id="R6d2394ad264c4f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5868e703043d3" /><Relationship Type="http://schemas.openxmlformats.org/officeDocument/2006/relationships/notesSlide" Target="/ppt/notesSlides/notesSlide8.xml" Id="Rc212eab156af47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19f55c34144b5" /><Relationship Type="http://schemas.openxmlformats.org/officeDocument/2006/relationships/notesSlide" Target="/ppt/notesSlides/notesSlide9.xml" Id="R77adb440153642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60f63cf144929" /><Relationship Type="http://schemas.openxmlformats.org/officeDocument/2006/relationships/notesSlide" Target="/ppt/notesSlides/notesSlide10.xml" Id="R5584931fb74b44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e127b07db449d" /><Relationship Type="http://schemas.openxmlformats.org/officeDocument/2006/relationships/notesSlide" Target="/ppt/notesSlides/notesSlide11.xml" Id="R8058df20c8824e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4f8ebc0964326" /><Relationship Type="http://schemas.openxmlformats.org/officeDocument/2006/relationships/notesSlide" Target="/ppt/notesSlides/notesSlide12.xml" Id="R713aca9dbe224f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f5051462f4d28" /><Relationship Type="http://schemas.openxmlformats.org/officeDocument/2006/relationships/notesSlide" Target="/ppt/notesSlides/notesSlide13.xml" Id="R72a518da3f9247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159a964d4456e" /><Relationship Type="http://schemas.openxmlformats.org/officeDocument/2006/relationships/notesSlide" Target="/ppt/notesSlides/notesSlide14.xml" Id="Rf61744692f7744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3bfc3a8cf4011" /><Relationship Type="http://schemas.openxmlformats.org/officeDocument/2006/relationships/notesSlide" Target="/ppt/notesSlides/notesSlide15.xml" Id="Rdcac69e42c0847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fid-1">
            <a:extLst xmlns:a="http://schemas.openxmlformats.org/drawingml/2006/main">
              <a:ext uri="{FF2B5EF4-FFF2-40B4-BE49-F238E27FC236}">
                <a16:creationId xmlns:a16="http://schemas.microsoft.com/office/drawing/2014/main" id="{F57EDFBF-9B4B-4952-8E0E-B617250E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334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305341  EMBEDDED SYSTEMS 1</a:t>
            </a:r>
          </a:p>
        </p:txBody>
      </p:sp>
      <p:sp>
        <p:nvSpPr>
          <p:cNvPr id="2" name="rfid-2">
            <a:extLst xmlns:a="http://schemas.openxmlformats.org/drawingml/2006/main">
              <a:ext uri="{FF2B5EF4-FFF2-40B4-BE49-F238E27FC236}">
                <a16:creationId xmlns:a16="http://schemas.microsoft.com/office/drawing/2014/main" id="{296215A8-2FC5-426B-9E2E-41225238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6459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51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ประตูบานเลื่อนเดี่ยวในบ้าน</a:t>
            </a:r>
          </a:p>
          <a:p xmlns:a="http://schemas.openxmlformats.org/drawingml/2006/main">
            <a:pPr algn="l">
              <a:defRPr sz="51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51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เปิดกลับเมื่อตรวจพบแท็ก RFID</a:t>
            </a:r>
          </a:p>
        </p:txBody>
      </p:sp>
      <p:sp>
        <p:nvSpPr>
          <p:cNvPr id="3" name="rfid-3">
            <a:extLst xmlns:a="http://schemas.openxmlformats.org/drawingml/2006/main">
              <a:ext uri="{FF2B5EF4-FFF2-40B4-BE49-F238E27FC236}">
                <a16:creationId xmlns:a16="http://schemas.microsoft.com/office/drawing/2014/main" id="{43F39A11-F81B-4B2B-A839-51D830C3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438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7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Home Single-Panel Sliding Door</a:t>
            </a:r>
          </a:p>
        </p:txBody>
      </p:sp>
      <p:sp>
        <p:nvSpPr>
          <p:cNvPr id="4" name="rfid-4">
            <a:extLst xmlns:a="http://schemas.openxmlformats.org/drawingml/2006/main">
              <a:ext uri="{FF2B5EF4-FFF2-40B4-BE49-F238E27FC236}">
                <a16:creationId xmlns:a16="http://schemas.microsoft.com/office/drawing/2014/main" id="{630178FC-5BB7-4234-AB33-08028CE9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5" name="rfid-5">
            <a:extLst xmlns:a="http://schemas.openxmlformats.org/drawingml/2006/main">
              <a:ext uri="{FF2B5EF4-FFF2-40B4-BE49-F238E27FC236}">
                <a16:creationId xmlns:a16="http://schemas.microsoft.com/office/drawing/2014/main" id="{A4D131B8-EFC0-425D-BE1E-26B4BE81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57875"/>
            <a:ext cx="14763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7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กดเปิดเอง  กดปิดเอง</a:t>
            </a:r>
          </a:p>
          <a:p xmlns:a="http://schemas.openxmlformats.org/drawingml/2006/main">
            <a:pPr algn="l">
              <a:defRPr sz="27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7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พบแท็กขณะปิดแล้วเปิดกลับและรอคนสั่ง</a:t>
            </a:r>
          </a:p>
        </p:txBody>
      </p:sp>
      <p:sp>
        <p:nvSpPr>
          <p:cNvPr id="6" name="rfid-6">
            <a:extLst xmlns:a="http://schemas.openxmlformats.org/drawingml/2006/main">
              <a:ext uri="{FF2B5EF4-FFF2-40B4-BE49-F238E27FC236}">
                <a16:creationId xmlns:a16="http://schemas.microsoft.com/office/drawing/2014/main" id="{D33D86F9-34B6-4829-9531-D012F5F8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3049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66362416  นายธีรภัทร ภู่ระย้า</a:t>
            </a:r>
          </a:p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66363116  นางสาวปราณปรียา ศรียอง</a:t>
            </a:r>
          </a:p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อาจารย์ที่ปรึกษา ดร.แสงชัย มังกรทอง</a:t>
            </a:r>
          </a:p>
        </p:txBody>
      </p:sp>
      <p:sp>
        <p:nvSpPr>
          <p:cNvPr id="7" name="rfid-7">
            <a:extLst xmlns:a="http://schemas.openxmlformats.org/drawingml/2006/main">
              <a:ext uri="{FF2B5EF4-FFF2-40B4-BE49-F238E27FC236}">
                <a16:creationId xmlns:a16="http://schemas.microsoft.com/office/drawing/2014/main" id="{D5BE13BE-A9DE-4439-A8C2-835F9BBE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8477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Version 2</a:t>
            </a:r>
          </a:p>
        </p:txBody>
      </p:sp>
    </p:spTree>
    <p:extLst>
      <p:ext uri="{BB962C8B-B14F-4D97-AF65-F5344CB8AC3E}">
        <p14:creationId xmlns:p14="http://schemas.microsoft.com/office/powerpoint/2010/main" val="790282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fid-8">
            <a:extLst xmlns:a="http://schemas.openxmlformats.org/drawingml/2006/main">
              <a:ext uri="{FF2B5EF4-FFF2-40B4-BE49-F238E27FC236}">
                <a16:creationId xmlns:a16="http://schemas.microsoft.com/office/drawing/2014/main" id="{9B11ADD8-30EC-4B0C-BB6A-162DC7A5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ปัญหาการหนีบและแนวทาง RFID</a:t>
            </a:r>
          </a:p>
        </p:txBody>
      </p:sp>
      <p:sp>
        <p:nvSpPr>
          <p:cNvPr id="2" name="rfid-9">
            <a:extLst xmlns:a="http://schemas.openxmlformats.org/drawingml/2006/main">
              <a:ext uri="{FF2B5EF4-FFF2-40B4-BE49-F238E27FC236}">
                <a16:creationId xmlns:a16="http://schemas.microsoft.com/office/drawing/2014/main" id="{AE9DCD5B-0A76-499D-AFCF-059A4B65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ปุ่มปิดยังเป็นคำสั่งจากคน ระบบช่วยยกเลิกการปิดเมื่ออ่านพบแท็ก</a:t>
            </a:r>
          </a:p>
        </p:txBody>
      </p:sp>
      <p:sp>
        <p:nvSpPr>
          <p:cNvPr id="3" name="rfid-10">
            <a:extLst xmlns:a="http://schemas.openxmlformats.org/drawingml/2006/main">
              <a:ext uri="{FF2B5EF4-FFF2-40B4-BE49-F238E27FC236}">
                <a16:creationId xmlns:a16="http://schemas.microsoft.com/office/drawing/2014/main" id="{64D4CBA6-CF7D-4104-86A7-03699D3B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11">
            <a:extLst xmlns:a="http://schemas.openxmlformats.org/drawingml/2006/main">
              <a:ext uri="{FF2B5EF4-FFF2-40B4-BE49-F238E27FC236}">
                <a16:creationId xmlns:a16="http://schemas.microsoft.com/office/drawing/2014/main" id="{A4192803-3224-49C0-8A55-7AEDFA85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rfid-12">
            <a:extLst xmlns:a="http://schemas.openxmlformats.org/drawingml/2006/main">
              <a:ext uri="{FF2B5EF4-FFF2-40B4-BE49-F238E27FC236}">
                <a16:creationId xmlns:a16="http://schemas.microsoft.com/office/drawing/2014/main" id="{F4988F2E-1D7C-4774-A07C-7A49AA5A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66950"/>
            <a:ext cx="4914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ปัญหา: ปิดขณะมีสัตว์เลี้ยงขวาง</a:t>
            </a:r>
          </a:p>
        </p:txBody>
      </p:sp>
      <p:sp>
        <p:nvSpPr>
          <p:cNvPr id="6" name="rfid-13">
            <a:extLst xmlns:a="http://schemas.openxmlformats.org/drawingml/2006/main">
              <a:ext uri="{FF2B5EF4-FFF2-40B4-BE49-F238E27FC236}">
                <a16:creationId xmlns:a16="http://schemas.microsoft.com/office/drawing/2014/main" id="{F134438D-7299-4E16-985D-1FD14927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4914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RFID: เปิดกลับและค้างรอคนสั่ง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40ab61a204a20"/>
          <a:stretch xmlns:a="http://schemas.openxmlformats.org/drawingml/2006/main"/>
        </p:blipFill>
        <p:spPr>
          <a:xfrm xmlns:a="http://schemas.openxmlformats.org/drawingml/2006/main">
            <a:off x="4134397" y="3000375"/>
            <a:ext cx="10019207" cy="5638800"/>
          </a:xfrm>
          <a:prstGeom xmlns:a="http://schemas.openxmlformats.org/drawingml/2006/main" prst="rect">
            <a:avLst/>
          </a:prstGeom>
        </p:spPr>
      </p:pic>
      <p:sp>
        <p:nvSpPr>
          <p:cNvPr id="8" name="rfid-14">
            <a:extLst xmlns:a="http://schemas.openxmlformats.org/drawingml/2006/main">
              <a:ext uri="{FF2B5EF4-FFF2-40B4-BE49-F238E27FC236}">
                <a16:creationId xmlns:a16="http://schemas.microsoft.com/office/drawing/2014/main" id="{404A67BD-8016-41C5-AF41-46E34410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82075"/>
            <a:ext cx="1557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ลำดับเมื่อพบแท็ก: ตัดแรงขับ  →  Coast 200 ms  →  เปิดกลับจนสุด  →  RFID_HOLD</a:t>
            </a:r>
          </a:p>
        </p:txBody>
      </p:sp>
    </p:spTree>
    <p:extLst>
      <p:ext uri="{BB962C8B-B14F-4D97-AF65-F5344CB8AC3E}">
        <p14:creationId xmlns:p14="http://schemas.microsoft.com/office/powerpoint/2010/main" val="1839264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fid-15">
            <a:extLst xmlns:a="http://schemas.openxmlformats.org/drawingml/2006/main">
              <a:ext uri="{FF2B5EF4-FFF2-40B4-BE49-F238E27FC236}">
                <a16:creationId xmlns:a16="http://schemas.microsoft.com/office/drawing/2014/main" id="{4E3926D6-C0F3-4F7F-B0BC-5DC88A89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ตำแหน่งอุปกรณ์และทิศทางของกลไก</a:t>
            </a:r>
          </a:p>
        </p:txBody>
      </p:sp>
      <p:sp>
        <p:nvSpPr>
          <p:cNvPr id="2" name="rfid-16">
            <a:extLst xmlns:a="http://schemas.openxmlformats.org/drawingml/2006/main">
              <a:ext uri="{FF2B5EF4-FFF2-40B4-BE49-F238E27FC236}">
                <a16:creationId xmlns:a16="http://schemas.microsoft.com/office/drawing/2014/main" id="{B139503A-4BA6-4EFB-AA18-A3DBA537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มอง CW และ CCW จากปลายเพลาขับมู่เล่ย์ และกำหนดให้เปิดไปทางขวา</a:t>
            </a:r>
          </a:p>
        </p:txBody>
      </p:sp>
      <p:sp>
        <p:nvSpPr>
          <p:cNvPr id="3" name="rfid-17">
            <a:extLst xmlns:a="http://schemas.openxmlformats.org/drawingml/2006/main">
              <a:ext uri="{FF2B5EF4-FFF2-40B4-BE49-F238E27FC236}">
                <a16:creationId xmlns:a16="http://schemas.microsoft.com/office/drawing/2014/main" id="{8502C811-2861-4FF5-9558-01D0F226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18">
            <a:extLst xmlns:a="http://schemas.openxmlformats.org/drawingml/2006/main">
              <a:ext uri="{FF2B5EF4-FFF2-40B4-BE49-F238E27FC236}">
                <a16:creationId xmlns:a16="http://schemas.microsoft.com/office/drawing/2014/main" id="{11EC5C3B-0BB4-41A8-9676-D22A8C3E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7c43cac4a4a34"/>
          <a:stretch xmlns:a="http://schemas.openxmlformats.org/drawingml/2006/main"/>
        </p:blipFill>
        <p:spPr>
          <a:xfrm xmlns:a="http://schemas.openxmlformats.org/drawingml/2006/main">
            <a:off x="1928230" y="2333625"/>
            <a:ext cx="11745489" cy="6610350"/>
          </a:xfrm>
          <a:prstGeom xmlns:a="http://schemas.openxmlformats.org/drawingml/2006/main" prst="rect">
            <a:avLst/>
          </a:prstGeom>
        </p:spPr>
      </p:pic>
      <p:sp>
        <p:nvSpPr>
          <p:cNvPr id="6" name="rfid-19">
            <a:extLst xmlns:a="http://schemas.openxmlformats.org/drawingml/2006/main">
              <a:ext uri="{FF2B5EF4-FFF2-40B4-BE49-F238E27FC236}">
                <a16:creationId xmlns:a16="http://schemas.microsoft.com/office/drawing/2014/main" id="{41BF4298-4C0F-44E9-885D-68EC1117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143250"/>
            <a:ext cx="228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CW</a:t>
            </a:r>
          </a:p>
          <a:p xmlns:a="http://schemas.openxmlformats.org/drawingml/2006/main">
            <a:pPr algn="l">
              <a:defRPr sz="2550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เปิดไปขวา</a:t>
            </a:r>
          </a:p>
        </p:txBody>
      </p:sp>
      <p:sp>
        <p:nvSpPr>
          <p:cNvPr id="7" name="rfid-20">
            <a:extLst xmlns:a="http://schemas.openxmlformats.org/drawingml/2006/main">
              <a:ext uri="{FF2B5EF4-FFF2-40B4-BE49-F238E27FC236}">
                <a16:creationId xmlns:a16="http://schemas.microsoft.com/office/drawing/2014/main" id="{E3243E3A-87C1-4330-BC65-702B30F2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857750"/>
            <a:ext cx="228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CCW</a:t>
            </a:r>
          </a:p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ปิดไปซ้าย</a:t>
            </a:r>
          </a:p>
        </p:txBody>
      </p:sp>
      <p:sp>
        <p:nvSpPr>
          <p:cNvPr id="8" name="rfid-21">
            <a:extLst xmlns:a="http://schemas.openxmlformats.org/drawingml/2006/main">
              <a:ext uri="{FF2B5EF4-FFF2-40B4-BE49-F238E27FC236}">
                <a16:creationId xmlns:a16="http://schemas.microsoft.com/office/drawing/2014/main" id="{C94689D1-0977-49C4-A1B9-3F545E7A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6848475"/>
            <a:ext cx="251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LC = ปิดสุด</a:t>
            </a:r>
          </a:p>
          <a:p xmlns:a="http://schemas.openxmlformats.org/drawingml/2006/main">
            <a:pPr algn="l">
              <a:defRPr sz="195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LO = เปิดสุด</a:t>
            </a:r>
          </a:p>
        </p:txBody>
      </p:sp>
      <p:sp>
        <p:nvSpPr>
          <p:cNvPr id="9" name="rfid-22">
            <a:extLst xmlns:a="http://schemas.openxmlformats.org/drawingml/2006/main">
              <a:ext uri="{FF2B5EF4-FFF2-40B4-BE49-F238E27FC236}">
                <a16:creationId xmlns:a16="http://schemas.microsoft.com/office/drawing/2014/main" id="{ABE71C73-34F0-4BDE-A322-ADE957DC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82075"/>
            <a:ext cx="1557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ตัวมอเตอร์ Pololu #3041 ใช้กับชุดสาธิตขนาดเล็ก ต้องยืนยันแรงบิดก่อนต่อกับบานจริง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850592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fid-23">
            <a:extLst xmlns:a="http://schemas.openxmlformats.org/drawingml/2006/main">
              <a:ext uri="{FF2B5EF4-FFF2-40B4-BE49-F238E27FC236}">
                <a16:creationId xmlns:a16="http://schemas.microsoft.com/office/drawing/2014/main" id="{087AF31B-3C59-4A58-A503-E956329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คนเป็นผู้สั่งเปิดและปิดทุกครั้ง</a:t>
            </a:r>
          </a:p>
        </p:txBody>
      </p:sp>
      <p:sp>
        <p:nvSpPr>
          <p:cNvPr id="2" name="rfid-24">
            <a:extLst xmlns:a="http://schemas.openxmlformats.org/drawingml/2006/main">
              <a:ext uri="{FF2B5EF4-FFF2-40B4-BE49-F238E27FC236}">
                <a16:creationId xmlns:a16="http://schemas.microsoft.com/office/drawing/2014/main" id="{0A6906EC-D884-4FE7-B8CB-F0A1FB08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การพ้นเขตอ่าน RFID เพียงอย่างเดียวไม่ทำให้ประตูปิด</a:t>
            </a:r>
          </a:p>
        </p:txBody>
      </p:sp>
      <p:sp>
        <p:nvSpPr>
          <p:cNvPr id="3" name="rfid-25">
            <a:extLst xmlns:a="http://schemas.openxmlformats.org/drawingml/2006/main">
              <a:ext uri="{FF2B5EF4-FFF2-40B4-BE49-F238E27FC236}">
                <a16:creationId xmlns:a16="http://schemas.microsoft.com/office/drawing/2014/main" id="{BE280BA9-D2F6-471D-BB19-980E278A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26">
            <a:extLst xmlns:a="http://schemas.openxmlformats.org/drawingml/2006/main">
              <a:ext uri="{FF2B5EF4-FFF2-40B4-BE49-F238E27FC236}">
                <a16:creationId xmlns:a16="http://schemas.microsoft.com/office/drawing/2014/main" id="{E1ECBB64-25B1-4A48-AB9E-9465C350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5" name="rfid-27">
            <a:extLst xmlns:a="http://schemas.openxmlformats.org/drawingml/2006/main">
              <a:ext uri="{FF2B5EF4-FFF2-40B4-BE49-F238E27FC236}">
                <a16:creationId xmlns:a16="http://schemas.microsoft.com/office/drawing/2014/main" id="{0592718C-DD05-4962-A473-2E4893EB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rfid-28">
            <a:extLst xmlns:a="http://schemas.openxmlformats.org/drawingml/2006/main">
              <a:ext uri="{FF2B5EF4-FFF2-40B4-BE49-F238E27FC236}">
                <a16:creationId xmlns:a16="http://schemas.microsoft.com/office/drawing/2014/main" id="{17F91605-EC87-408D-9750-F1DB3E8C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3381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กดปุ่มเปิด</a:t>
            </a:r>
          </a:p>
        </p:txBody>
      </p:sp>
      <p:sp>
        <p:nvSpPr>
          <p:cNvPr id="7" name="rfid-29">
            <a:extLst xmlns:a="http://schemas.openxmlformats.org/drawingml/2006/main">
              <a:ext uri="{FF2B5EF4-FFF2-40B4-BE49-F238E27FC236}">
                <a16:creationId xmlns:a16="http://schemas.microsoft.com/office/drawing/2014/main" id="{0545E824-B911-4F53-9FB5-D6740140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3381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PB_IN หรือ PB_OUT</a:t>
            </a:r>
          </a:p>
        </p:txBody>
      </p:sp>
      <p:sp>
        <p:nvSpPr>
          <p:cNvPr id="8" name="orthogonal-30">
            <a:extLst xmlns:a="http://schemas.openxmlformats.org/drawingml/2006/main">
              <a:ext uri="{FF2B5EF4-FFF2-40B4-BE49-F238E27FC236}">
                <a16:creationId xmlns:a16="http://schemas.microsoft.com/office/drawing/2014/main" id="{159D139C-31E2-45BA-B543-EFDF3BF1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86200"/>
            <a:ext cx="838200" cy="133350"/>
          </a:xfrm>
          <a:custGeom xmlns:a="http://schemas.openxmlformats.org/drawingml/2006/main">
            <a:pathLst>
              <a:path w="838200" h="133350">
                <a:moveTo>
                  <a:pt x="0" y="66675"/>
                </a:moveTo>
                <a:lnTo>
                  <a:pt x="838200" y="66675"/>
                </a:lnTo>
                <a:lnTo>
                  <a:pt x="723900" y="0"/>
                </a:lnTo>
                <a:lnTo>
                  <a:pt x="838200" y="66675"/>
                </a:lnTo>
                <a:lnTo>
                  <a:pt x="7239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369A1"/>
            </a:solidFill>
          </a:ln>
        </p:spPr>
      </p:sp>
      <p:sp>
        <p:nvSpPr>
          <p:cNvPr id="9" name="rfid-31">
            <a:extLst xmlns:a="http://schemas.openxmlformats.org/drawingml/2006/main">
              <a:ext uri="{FF2B5EF4-FFF2-40B4-BE49-F238E27FC236}">
                <a16:creationId xmlns:a16="http://schemas.microsoft.com/office/drawing/2014/main" id="{F90ADE1C-E273-44B5-A145-02DDEF63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0" name="rfid-32">
            <a:extLst xmlns:a="http://schemas.openxmlformats.org/drawingml/2006/main">
              <a:ext uri="{FF2B5EF4-FFF2-40B4-BE49-F238E27FC236}">
                <a16:creationId xmlns:a16="http://schemas.microsoft.com/office/drawing/2014/main" id="{161645FF-42EB-401C-A8AC-205F7351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14750"/>
            <a:ext cx="3381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เปิดจนสุด</a:t>
            </a:r>
          </a:p>
        </p:txBody>
      </p:sp>
      <p:sp>
        <p:nvSpPr>
          <p:cNvPr id="11" name="rfid-33">
            <a:extLst xmlns:a="http://schemas.openxmlformats.org/drawingml/2006/main">
              <a:ext uri="{FF2B5EF4-FFF2-40B4-BE49-F238E27FC236}">
                <a16:creationId xmlns:a16="http://schemas.microsoft.com/office/drawing/2014/main" id="{B47B51EA-AF60-410B-BD21-0526BD52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33875"/>
            <a:ext cx="3381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รอใน OPEN_HOLD</a:t>
            </a:r>
          </a:p>
        </p:txBody>
      </p:sp>
      <p:sp>
        <p:nvSpPr>
          <p:cNvPr id="12" name="orthogonal-34">
            <a:extLst xmlns:a="http://schemas.openxmlformats.org/drawingml/2006/main">
              <a:ext uri="{FF2B5EF4-FFF2-40B4-BE49-F238E27FC236}">
                <a16:creationId xmlns:a16="http://schemas.microsoft.com/office/drawing/2014/main" id="{D40456C6-6AB8-4D8B-90A4-874257A8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86200"/>
            <a:ext cx="838200" cy="133350"/>
          </a:xfrm>
          <a:custGeom xmlns:a="http://schemas.openxmlformats.org/drawingml/2006/main">
            <a:pathLst>
              <a:path w="838200" h="133350">
                <a:moveTo>
                  <a:pt x="0" y="66675"/>
                </a:moveTo>
                <a:lnTo>
                  <a:pt x="838200" y="66675"/>
                </a:lnTo>
                <a:lnTo>
                  <a:pt x="723900" y="0"/>
                </a:lnTo>
                <a:lnTo>
                  <a:pt x="838200" y="66675"/>
                </a:lnTo>
                <a:lnTo>
                  <a:pt x="7239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369A1"/>
            </a:solidFill>
          </a:ln>
        </p:spPr>
      </p:sp>
      <p:sp>
        <p:nvSpPr>
          <p:cNvPr id="13" name="rfid-35">
            <a:extLst xmlns:a="http://schemas.openxmlformats.org/drawingml/2006/main">
              <a:ext uri="{FF2B5EF4-FFF2-40B4-BE49-F238E27FC236}">
                <a16:creationId xmlns:a16="http://schemas.microsoft.com/office/drawing/2014/main" id="{D1701A0F-680D-423B-9680-E57D8B7A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4" name="rfid-36">
            <a:extLst xmlns:a="http://schemas.openxmlformats.org/drawingml/2006/main">
              <a:ext uri="{FF2B5EF4-FFF2-40B4-BE49-F238E27FC236}">
                <a16:creationId xmlns:a16="http://schemas.microsoft.com/office/drawing/2014/main" id="{26D72839-0A2A-4BA7-B35C-EA25B698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14750"/>
            <a:ext cx="3381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คนกดปิดใหม่</a:t>
            </a:r>
          </a:p>
        </p:txBody>
      </p:sp>
      <p:sp>
        <p:nvSpPr>
          <p:cNvPr id="15" name="rfid-37">
            <a:extLst xmlns:a="http://schemas.openxmlformats.org/drawingml/2006/main">
              <a:ext uri="{FF2B5EF4-FFF2-40B4-BE49-F238E27FC236}">
                <a16:creationId xmlns:a16="http://schemas.microsoft.com/office/drawing/2014/main" id="{EB253CB6-1946-4D59-AE3D-45B5C03C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3381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ต้องไม่พบแท็ก</a:t>
            </a:r>
          </a:p>
        </p:txBody>
      </p:sp>
      <p:sp>
        <p:nvSpPr>
          <p:cNvPr id="16" name="orthogonal-38">
            <a:extLst xmlns:a="http://schemas.openxmlformats.org/drawingml/2006/main">
              <a:ext uri="{FF2B5EF4-FFF2-40B4-BE49-F238E27FC236}">
                <a16:creationId xmlns:a16="http://schemas.microsoft.com/office/drawing/2014/main" id="{A01A6BF0-F4C4-4EC1-8FF9-B1F5F9FB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886200"/>
            <a:ext cx="838200" cy="133350"/>
          </a:xfrm>
          <a:custGeom xmlns:a="http://schemas.openxmlformats.org/drawingml/2006/main">
            <a:pathLst>
              <a:path w="838200" h="133350">
                <a:moveTo>
                  <a:pt x="0" y="66675"/>
                </a:moveTo>
                <a:lnTo>
                  <a:pt x="838200" y="66675"/>
                </a:lnTo>
                <a:lnTo>
                  <a:pt x="723900" y="0"/>
                </a:lnTo>
                <a:lnTo>
                  <a:pt x="838200" y="66675"/>
                </a:lnTo>
                <a:lnTo>
                  <a:pt x="7239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369A1"/>
            </a:solidFill>
          </a:ln>
        </p:spPr>
      </p:sp>
      <p:sp>
        <p:nvSpPr>
          <p:cNvPr id="17" name="rfid-39">
            <a:extLst xmlns:a="http://schemas.openxmlformats.org/drawingml/2006/main">
              <a:ext uri="{FF2B5EF4-FFF2-40B4-BE49-F238E27FC236}">
                <a16:creationId xmlns:a16="http://schemas.microsoft.com/office/drawing/2014/main" id="{614D3772-9EDB-423E-8A3E-8CD34E89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7813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8" name="rfid-40">
            <a:extLst xmlns:a="http://schemas.openxmlformats.org/drawingml/2006/main">
              <a:ext uri="{FF2B5EF4-FFF2-40B4-BE49-F238E27FC236}">
                <a16:creationId xmlns:a16="http://schemas.microsoft.com/office/drawing/2014/main" id="{76A0A08D-EF77-4761-900F-736092DC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3714750"/>
            <a:ext cx="3381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เลื่อนปิด</a:t>
            </a:r>
          </a:p>
        </p:txBody>
      </p:sp>
      <p:sp>
        <p:nvSpPr>
          <p:cNvPr id="19" name="rfid-41">
            <a:extLst xmlns:a="http://schemas.openxmlformats.org/drawingml/2006/main">
              <a:ext uri="{FF2B5EF4-FFF2-40B4-BE49-F238E27FC236}">
                <a16:creationId xmlns:a16="http://schemas.microsoft.com/office/drawing/2014/main" id="{C0842034-72FB-4E36-B500-49F320B1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4333875"/>
            <a:ext cx="3381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CCW จน LC = 0</a:t>
            </a:r>
          </a:p>
        </p:txBody>
      </p:sp>
      <p:sp>
        <p:nvSpPr>
          <p:cNvPr id="20" name="rfid-42">
            <a:extLst xmlns:a="http://schemas.openxmlformats.org/drawingml/2006/main">
              <a:ext uri="{FF2B5EF4-FFF2-40B4-BE49-F238E27FC236}">
                <a16:creationId xmlns:a16="http://schemas.microsoft.com/office/drawing/2014/main" id="{CF4116D4-BC97-4012-9D94-EF23A7B7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76875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21" name="rfid-43">
            <a:extLst xmlns:a="http://schemas.openxmlformats.org/drawingml/2006/main">
              <a:ext uri="{FF2B5EF4-FFF2-40B4-BE49-F238E27FC236}">
                <a16:creationId xmlns:a16="http://schemas.microsoft.com/office/drawing/2014/main" id="{91DAA1F8-1237-47C2-ACC5-F75C195C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38850"/>
            <a:ext cx="628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หากพบแท็กขณะปิด</a:t>
            </a:r>
          </a:p>
        </p:txBody>
      </p:sp>
      <p:sp>
        <p:nvSpPr>
          <p:cNvPr id="22" name="rfid-44">
            <a:extLst xmlns:a="http://schemas.openxmlformats.org/drawingml/2006/main">
              <a:ext uri="{FF2B5EF4-FFF2-40B4-BE49-F238E27FC236}">
                <a16:creationId xmlns:a16="http://schemas.microsoft.com/office/drawing/2014/main" id="{29EA7969-A1FF-45E7-97BC-5C3DACBC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53250"/>
            <a:ext cx="15811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Coast 200 ms   →   เปิดกลับจนสุด   →   RFID_HOLD</a:t>
            </a:r>
          </a:p>
        </p:txBody>
      </p:sp>
      <p:sp>
        <p:nvSpPr>
          <p:cNvPr id="23" name="rfid-45">
            <a:extLst xmlns:a="http://schemas.openxmlformats.org/drawingml/2006/main">
              <a:ext uri="{FF2B5EF4-FFF2-40B4-BE49-F238E27FC236}">
                <a16:creationId xmlns:a16="http://schemas.microsoft.com/office/drawing/2014/main" id="{A2DB8963-D47B-4F1F-93F6-5FF9ED4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981950"/>
            <a:ext cx="1590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ไฟส้มติดค้าง ไม่มีการนับเวลาปิดอัตโนมัติ</a:t>
            </a:r>
          </a:p>
        </p:txBody>
      </p:sp>
    </p:spTree>
    <p:extLst>
      <p:ext uri="{BB962C8B-B14F-4D97-AF65-F5344CB8AC3E}">
        <p14:creationId xmlns:p14="http://schemas.microsoft.com/office/powerpoint/2010/main" val="552839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fid-46">
            <a:extLst xmlns:a="http://schemas.openxmlformats.org/drawingml/2006/main">
              <a:ext uri="{FF2B5EF4-FFF2-40B4-BE49-F238E27FC236}">
                <a16:creationId xmlns:a16="http://schemas.microsoft.com/office/drawing/2014/main" id="{B8BF7682-B44B-444A-B43A-F64642B1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อินเทอร์เฟซ RFID ที่เสนอ</a:t>
            </a:r>
          </a:p>
        </p:txBody>
      </p:sp>
      <p:sp>
        <p:nvSpPr>
          <p:cNvPr id="2" name="rfid-47">
            <a:extLst xmlns:a="http://schemas.openxmlformats.org/drawingml/2006/main">
              <a:ext uri="{FF2B5EF4-FFF2-40B4-BE49-F238E27FC236}">
                <a16:creationId xmlns:a16="http://schemas.microsoft.com/office/drawing/2014/main" id="{0251EB8D-012D-49FB-82AB-5C29491C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ยังไม่เลือกรุ่นเครื่องอ่านและแท็ก จึงยังไม่กำหนดระยะอ่านหรือแรงดันไฟเลี้ยงเครื่องอ่าน</a:t>
            </a:r>
          </a:p>
        </p:txBody>
      </p:sp>
      <p:sp>
        <p:nvSpPr>
          <p:cNvPr id="3" name="rfid-48">
            <a:extLst xmlns:a="http://schemas.openxmlformats.org/drawingml/2006/main">
              <a:ext uri="{FF2B5EF4-FFF2-40B4-BE49-F238E27FC236}">
                <a16:creationId xmlns:a16="http://schemas.microsoft.com/office/drawing/2014/main" id="{D3413EF2-D3E7-465E-9360-E958433C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49">
            <a:extLst xmlns:a="http://schemas.openxmlformats.org/drawingml/2006/main">
              <a:ext uri="{FF2B5EF4-FFF2-40B4-BE49-F238E27FC236}">
                <a16:creationId xmlns:a16="http://schemas.microsoft.com/office/drawing/2014/main" id="{8ABDDD68-4BD3-4313-A89A-A4A14EBC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5" name="rfid-50">
            <a:extLst xmlns:a="http://schemas.openxmlformats.org/drawingml/2006/main">
              <a:ext uri="{FF2B5EF4-FFF2-40B4-BE49-F238E27FC236}">
                <a16:creationId xmlns:a16="http://schemas.microsoft.com/office/drawing/2014/main" id="{6329473F-708D-4716-B9AB-5009B22D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6196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rfid-51">
            <a:extLst xmlns:a="http://schemas.openxmlformats.org/drawingml/2006/main">
              <a:ext uri="{FF2B5EF4-FFF2-40B4-BE49-F238E27FC236}">
                <a16:creationId xmlns:a16="http://schemas.microsoft.com/office/drawing/2014/main" id="{6B82B923-C52B-4F09-8465-5351BD42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Reader และ Tag</a:t>
            </a:r>
          </a:p>
        </p:txBody>
      </p:sp>
      <p:sp>
        <p:nvSpPr>
          <p:cNvPr id="7" name="rfid-52">
            <a:extLst xmlns:a="http://schemas.openxmlformats.org/drawingml/2006/main">
              <a:ext uri="{FF2B5EF4-FFF2-40B4-BE49-F238E27FC236}">
                <a16:creationId xmlns:a16="http://schemas.microsoft.com/office/drawing/2014/main" id="{57D7F51B-5141-4672-9E4F-0BB1094F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4238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เลือกรุ่นร่วมกัน</a:t>
            </a:r>
          </a:p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อ่านแท็กที่กำหนด</a:t>
            </a:r>
          </a:p>
        </p:txBody>
      </p:sp>
      <p:sp>
        <p:nvSpPr>
          <p:cNvPr id="8" name="rfid-53">
            <a:extLst xmlns:a="http://schemas.openxmlformats.org/drawingml/2006/main">
              <a:ext uri="{FF2B5EF4-FFF2-40B4-BE49-F238E27FC236}">
                <a16:creationId xmlns:a16="http://schemas.microsoft.com/office/drawing/2014/main" id="{FB146A83-C9EA-4A42-B6BE-CDCC7116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46672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9" name="rfid-54">
            <a:extLst xmlns:a="http://schemas.openxmlformats.org/drawingml/2006/main">
              <a:ext uri="{FF2B5EF4-FFF2-40B4-BE49-F238E27FC236}">
                <a16:creationId xmlns:a16="http://schemas.microsoft.com/office/drawing/2014/main" id="{3E98757E-08F7-4585-96AD-E7FD6DA4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861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ชุดแปลงผลอ่านแท็ก</a:t>
            </a:r>
          </a:p>
        </p:txBody>
      </p:sp>
      <p:sp>
        <p:nvSpPr>
          <p:cNvPr id="10" name="rfid-55">
            <a:extLst xmlns:a="http://schemas.openxmlformats.org/drawingml/2006/main">
              <a:ext uri="{FF2B5EF4-FFF2-40B4-BE49-F238E27FC236}">
                <a16:creationId xmlns:a16="http://schemas.microsoft.com/office/drawing/2014/main" id="{E7AABF4C-A60A-4A3A-9E11-215C5709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10000"/>
            <a:ext cx="428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เอาต์พุตแยกวงจร</a:t>
            </a:r>
          </a:p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ดึงลง GND เมื่อพบแท็ก</a:t>
            </a:r>
          </a:p>
        </p:txBody>
      </p:sp>
      <p:sp>
        <p:nvSpPr>
          <p:cNvPr id="11" name="rfid-56">
            <a:extLst xmlns:a="http://schemas.openxmlformats.org/drawingml/2006/main">
              <a:ext uri="{FF2B5EF4-FFF2-40B4-BE49-F238E27FC236}">
                <a16:creationId xmlns:a16="http://schemas.microsoft.com/office/drawing/2014/main" id="{46D7BD60-C369-4B06-B144-6DD67E4E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857500"/>
            <a:ext cx="4629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2" name="rfid-57">
            <a:extLst xmlns:a="http://schemas.openxmlformats.org/drawingml/2006/main">
              <a:ext uri="{FF2B5EF4-FFF2-40B4-BE49-F238E27FC236}">
                <a16:creationId xmlns:a16="http://schemas.microsoft.com/office/drawing/2014/main" id="{6C874A61-0C52-4744-9F9D-F33DDC1B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086100"/>
            <a:ext cx="424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AT89S52</a:t>
            </a:r>
          </a:p>
        </p:txBody>
      </p:sp>
      <p:sp>
        <p:nvSpPr>
          <p:cNvPr id="13" name="rfid-58">
            <a:extLst xmlns:a="http://schemas.openxmlformats.org/drawingml/2006/main">
              <a:ext uri="{FF2B5EF4-FFF2-40B4-BE49-F238E27FC236}">
                <a16:creationId xmlns:a16="http://schemas.microsoft.com/office/drawing/2014/main" id="{267691E2-87F2-4022-8882-DCF8E1AC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810000"/>
            <a:ext cx="4248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P2.2 ขา 23</a:t>
            </a:r>
          </a:p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RFID_DET</a:t>
            </a:r>
          </a:p>
        </p:txBody>
      </p:sp>
      <p:sp>
        <p:nvSpPr>
          <p:cNvPr id="14" name="orthogonal-59">
            <a:extLst xmlns:a="http://schemas.openxmlformats.org/drawingml/2006/main">
              <a:ext uri="{FF2B5EF4-FFF2-40B4-BE49-F238E27FC236}">
                <a16:creationId xmlns:a16="http://schemas.microsoft.com/office/drawing/2014/main" id="{C36E8B9A-2BA2-4600-81AA-8156099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838575"/>
            <a:ext cx="1190625" cy="133350"/>
          </a:xfrm>
          <a:custGeom xmlns:a="http://schemas.openxmlformats.org/drawingml/2006/main">
            <a:pathLst>
              <a:path w="1190625" h="133350">
                <a:moveTo>
                  <a:pt x="0" y="66675"/>
                </a:moveTo>
                <a:lnTo>
                  <a:pt x="1190625" y="66675"/>
                </a:lnTo>
                <a:lnTo>
                  <a:pt x="1076325" y="0"/>
                </a:lnTo>
                <a:lnTo>
                  <a:pt x="1190625" y="66675"/>
                </a:lnTo>
                <a:lnTo>
                  <a:pt x="10763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369A1"/>
            </a:solidFill>
          </a:ln>
        </p:spPr>
      </p:sp>
      <p:sp>
        <p:nvSpPr>
          <p:cNvPr id="15" name="orthogonal-60">
            <a:extLst xmlns:a="http://schemas.openxmlformats.org/drawingml/2006/main">
              <a:ext uri="{FF2B5EF4-FFF2-40B4-BE49-F238E27FC236}">
                <a16:creationId xmlns:a16="http://schemas.microsoft.com/office/drawing/2014/main" id="{1F326175-0759-4149-901D-89B6D7E9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838575"/>
            <a:ext cx="1200150" cy="133350"/>
          </a:xfrm>
          <a:custGeom xmlns:a="http://schemas.openxmlformats.org/drawingml/2006/main">
            <a:pathLst>
              <a:path w="1200150" h="133350">
                <a:moveTo>
                  <a:pt x="0" y="66675"/>
                </a:moveTo>
                <a:lnTo>
                  <a:pt x="1200150" y="66675"/>
                </a:lnTo>
                <a:lnTo>
                  <a:pt x="1085850" y="0"/>
                </a:lnTo>
                <a:lnTo>
                  <a:pt x="1200150" y="66675"/>
                </a:lnTo>
                <a:lnTo>
                  <a:pt x="10858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369A1"/>
            </a:solidFill>
          </a:ln>
        </p:spPr>
      </p:sp>
      <p:sp>
        <p:nvSpPr>
          <p:cNvPr id="16" name="rfid-61">
            <a:extLst xmlns:a="http://schemas.openxmlformats.org/drawingml/2006/main">
              <a:ext uri="{FF2B5EF4-FFF2-40B4-BE49-F238E27FC236}">
                <a16:creationId xmlns:a16="http://schemas.microsoft.com/office/drawing/2014/main" id="{6AB01D0A-8B89-4F49-A0B4-446B7176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76925"/>
            <a:ext cx="708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0 = ตรวจพบแท็ก</a:t>
            </a:r>
          </a:p>
        </p:txBody>
      </p:sp>
      <p:sp>
        <p:nvSpPr>
          <p:cNvPr id="17" name="rfid-62">
            <a:extLst xmlns:a="http://schemas.openxmlformats.org/drawingml/2006/main">
              <a:ext uri="{FF2B5EF4-FFF2-40B4-BE49-F238E27FC236}">
                <a16:creationId xmlns:a16="http://schemas.microsoft.com/office/drawing/2014/main" id="{4F85ABAE-C8F5-47EA-B38B-589FD6CD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715125"/>
            <a:ext cx="708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1 = ไม่พบแท็ก</a:t>
            </a:r>
          </a:p>
        </p:txBody>
      </p:sp>
      <p:sp>
        <p:nvSpPr>
          <p:cNvPr id="18" name="rfid-63">
            <a:extLst xmlns:a="http://schemas.openxmlformats.org/drawingml/2006/main">
              <a:ext uri="{FF2B5EF4-FFF2-40B4-BE49-F238E27FC236}">
                <a16:creationId xmlns:a16="http://schemas.microsoft.com/office/drawing/2014/main" id="{DCE80A0A-3B24-4A4D-A1A4-2FADD571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43575"/>
            <a:ext cx="79629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ด้าน 8051 ใช้ Pull-up 10 kΩ ไปยัง 5 V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สัญญาณต้องค้างพอให้ลูปควบคุมอ่านได้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P2 latch คง FFH เพื่ออ่านอินพุต</a:t>
            </a:r>
          </a:p>
        </p:txBody>
      </p:sp>
      <p:sp>
        <p:nvSpPr>
          <p:cNvPr id="19" name="rfid-64">
            <a:extLst xmlns:a="http://schemas.openxmlformats.org/drawingml/2006/main">
              <a:ext uri="{FF2B5EF4-FFF2-40B4-BE49-F238E27FC236}">
                <a16:creationId xmlns:a16="http://schemas.microsoft.com/office/drawing/2014/main" id="{75FEC0C2-6530-4E5E-83C0-82199B12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43900"/>
            <a:ext cx="1557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สายขาดหรือเครื่องอ่านดับอาจให้ค่า 1 เช่นเดียวกับไม่พบแท็ก แบบนี้ยังไม่ตรวจยืนยันสุขภาพเครื่องอ่าน</a:t>
            </a:r>
          </a:p>
        </p:txBody>
      </p:sp>
    </p:spTree>
    <p:extLst>
      <p:ext uri="{BB962C8B-B14F-4D97-AF65-F5344CB8AC3E}">
        <p14:creationId xmlns:p14="http://schemas.microsoft.com/office/powerpoint/2010/main" val="19786989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fid-65">
            <a:extLst xmlns:a="http://schemas.openxmlformats.org/drawingml/2006/main">
              <a:ext uri="{FF2B5EF4-FFF2-40B4-BE49-F238E27FC236}">
                <a16:creationId xmlns:a16="http://schemas.microsoft.com/office/drawing/2014/main" id="{005BF767-ABE1-4EBF-8A09-CA900611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วงจรขับมอเตอร์และการตัดแรงขับ</a:t>
            </a:r>
          </a:p>
        </p:txBody>
      </p:sp>
      <p:sp>
        <p:nvSpPr>
          <p:cNvPr id="2" name="rfid-66">
            <a:extLst xmlns:a="http://schemas.openxmlformats.org/drawingml/2006/main">
              <a:ext uri="{FF2B5EF4-FFF2-40B4-BE49-F238E27FC236}">
                <a16:creationId xmlns:a16="http://schemas.microsoft.com/office/drawing/2014/main" id="{2ECE7A3E-21BD-4FB2-80B7-C4415DC1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L293D ใช้ไฟลอจิก 5 V และไฟภาคมอเตอร์ 12 V แยกกัน</a:t>
            </a:r>
          </a:p>
        </p:txBody>
      </p:sp>
      <p:sp>
        <p:nvSpPr>
          <p:cNvPr id="3" name="rfid-67">
            <a:extLst xmlns:a="http://schemas.openxmlformats.org/drawingml/2006/main">
              <a:ext uri="{FF2B5EF4-FFF2-40B4-BE49-F238E27FC236}">
                <a16:creationId xmlns:a16="http://schemas.microsoft.com/office/drawing/2014/main" id="{CE7327C6-B3D8-47A4-9090-12298EC7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68">
            <a:extLst xmlns:a="http://schemas.openxmlformats.org/drawingml/2006/main">
              <a:ext uri="{FF2B5EF4-FFF2-40B4-BE49-F238E27FC236}">
                <a16:creationId xmlns:a16="http://schemas.microsoft.com/office/drawing/2014/main" id="{4E19A0C2-257F-421A-9375-74DB6E6D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56f209af14cb9"/>
          <a:stretch xmlns:a="http://schemas.openxmlformats.org/drawingml/2006/main"/>
        </p:blipFill>
        <p:spPr>
          <a:xfrm xmlns:a="http://schemas.openxmlformats.org/drawingml/2006/main">
            <a:off x="6572250" y="2714625"/>
            <a:ext cx="2419350" cy="3629025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64f2506f94e12"/>
          <a:stretch xmlns:a="http://schemas.openxmlformats.org/drawingml/2006/main"/>
        </p:blipFill>
        <p:spPr>
          <a:xfrm xmlns:a="http://schemas.openxmlformats.org/drawingml/2006/main">
            <a:off x="1268302" y="3810000"/>
            <a:ext cx="2845022" cy="2714625"/>
          </a:xfrm>
          <a:prstGeom xmlns:a="http://schemas.openxmlformats.org/drawingml/2006/main" prst="rect">
            <a:avLst/>
          </a:prstGeom>
        </p:spPr>
      </p:pic>
      <p:sp>
        <p:nvSpPr>
          <p:cNvPr id="7" name="rfid-69">
            <a:extLst xmlns:a="http://schemas.openxmlformats.org/drawingml/2006/main">
              <a:ext uri="{FF2B5EF4-FFF2-40B4-BE49-F238E27FC236}">
                <a16:creationId xmlns:a16="http://schemas.microsoft.com/office/drawing/2014/main" id="{71D70377-FB78-45A3-8C64-CD448BA5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19875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Pololu #3041</a:t>
            </a:r>
          </a:p>
        </p:txBody>
      </p:sp>
      <p:sp>
        <p:nvSpPr>
          <p:cNvPr id="8" name="rfid-70">
            <a:extLst xmlns:a="http://schemas.openxmlformats.org/drawingml/2006/main">
              <a:ext uri="{FF2B5EF4-FFF2-40B4-BE49-F238E27FC236}">
                <a16:creationId xmlns:a16="http://schemas.microsoft.com/office/drawing/2014/main" id="{AB016E7A-1CDD-4BCA-B2C5-EA0ED595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34225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12 V   อัตราทด 100.37:1</a:t>
            </a:r>
          </a:p>
        </p:txBody>
      </p:sp>
      <p:sp>
        <p:nvSpPr>
          <p:cNvPr id="9" name="orthogonal-71">
            <a:extLst xmlns:a="http://schemas.openxmlformats.org/drawingml/2006/main">
              <a:ext uri="{FF2B5EF4-FFF2-40B4-BE49-F238E27FC236}">
                <a16:creationId xmlns:a16="http://schemas.microsoft.com/office/drawing/2014/main" id="{ECA5B0C7-7AAD-4BF2-A648-09A81CFA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35" y="3083198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FFFFF"/>
            </a:solidFill>
          </a:ln>
        </p:spPr>
      </p:sp>
      <p:sp>
        <p:nvSpPr>
          <p:cNvPr id="10" name="orthogonal-72">
            <a:extLst xmlns:a="http://schemas.openxmlformats.org/drawingml/2006/main">
              <a:ext uri="{FF2B5EF4-FFF2-40B4-BE49-F238E27FC236}">
                <a16:creationId xmlns:a16="http://schemas.microsoft.com/office/drawing/2014/main" id="{FBC68158-C2BF-4FB6-8905-91BBC13C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35" y="3083198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369A1"/>
            </a:solidFill>
          </a:ln>
        </p:spPr>
      </p:sp>
      <p:sp>
        <p:nvSpPr>
          <p:cNvPr id="11" name="rfid-73">
            <a:extLst xmlns:a="http://schemas.openxmlformats.org/drawingml/2006/main">
              <a:ext uri="{FF2B5EF4-FFF2-40B4-BE49-F238E27FC236}">
                <a16:creationId xmlns:a16="http://schemas.microsoft.com/office/drawing/2014/main" id="{40717D20-1873-4661-AC51-C013315D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310" y="2883173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1  EN</a:t>
            </a:r>
          </a:p>
        </p:txBody>
      </p:sp>
      <p:sp>
        <p:nvSpPr>
          <p:cNvPr id="12" name="orthogonal-74">
            <a:extLst xmlns:a="http://schemas.openxmlformats.org/drawingml/2006/main">
              <a:ext uri="{FF2B5EF4-FFF2-40B4-BE49-F238E27FC236}">
                <a16:creationId xmlns:a16="http://schemas.microsoft.com/office/drawing/2014/main" id="{7694DA9C-6674-448A-91AF-08FC3986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35" y="3489573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FFFFF"/>
            </a:solidFill>
          </a:ln>
        </p:spPr>
      </p:sp>
      <p:sp>
        <p:nvSpPr>
          <p:cNvPr id="13" name="orthogonal-75">
            <a:extLst xmlns:a="http://schemas.openxmlformats.org/drawingml/2006/main">
              <a:ext uri="{FF2B5EF4-FFF2-40B4-BE49-F238E27FC236}">
                <a16:creationId xmlns:a16="http://schemas.microsoft.com/office/drawing/2014/main" id="{3E5F8A53-6C97-4615-BF2A-B67A7D26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35" y="3489573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369A1"/>
            </a:solidFill>
          </a:ln>
        </p:spPr>
      </p:sp>
      <p:sp>
        <p:nvSpPr>
          <p:cNvPr id="14" name="rfid-76">
            <a:extLst xmlns:a="http://schemas.openxmlformats.org/drawingml/2006/main">
              <a:ext uri="{FF2B5EF4-FFF2-40B4-BE49-F238E27FC236}">
                <a16:creationId xmlns:a16="http://schemas.microsoft.com/office/drawing/2014/main" id="{21460DAE-7232-4550-9C14-5CFF3C7F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310" y="3289548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2  IN1</a:t>
            </a:r>
          </a:p>
        </p:txBody>
      </p:sp>
      <p:sp>
        <p:nvSpPr>
          <p:cNvPr id="15" name="orthogonal-77">
            <a:extLst xmlns:a="http://schemas.openxmlformats.org/drawingml/2006/main">
              <a:ext uri="{FF2B5EF4-FFF2-40B4-BE49-F238E27FC236}">
                <a16:creationId xmlns:a16="http://schemas.microsoft.com/office/drawing/2014/main" id="{6C97CDC7-190B-4F46-A6D6-46B2A1B3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35" y="3895948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FFFFF"/>
            </a:solidFill>
          </a:ln>
        </p:spPr>
      </p:sp>
      <p:sp>
        <p:nvSpPr>
          <p:cNvPr id="16" name="orthogonal-78">
            <a:extLst xmlns:a="http://schemas.openxmlformats.org/drawingml/2006/main">
              <a:ext uri="{FF2B5EF4-FFF2-40B4-BE49-F238E27FC236}">
                <a16:creationId xmlns:a16="http://schemas.microsoft.com/office/drawing/2014/main" id="{C27D1927-E91E-4AC0-B8B3-62B0F26F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35" y="3895948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369A1"/>
            </a:solidFill>
          </a:ln>
        </p:spPr>
      </p:sp>
      <p:sp>
        <p:nvSpPr>
          <p:cNvPr id="17" name="rfid-79">
            <a:extLst xmlns:a="http://schemas.openxmlformats.org/drawingml/2006/main">
              <a:ext uri="{FF2B5EF4-FFF2-40B4-BE49-F238E27FC236}">
                <a16:creationId xmlns:a16="http://schemas.microsoft.com/office/drawing/2014/main" id="{E6771974-59ED-479A-8AC0-84D79681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310" y="3695923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3  OUT1</a:t>
            </a:r>
          </a:p>
        </p:txBody>
      </p:sp>
      <p:sp>
        <p:nvSpPr>
          <p:cNvPr id="18" name="orthogonal-80">
            <a:extLst xmlns:a="http://schemas.openxmlformats.org/drawingml/2006/main">
              <a:ext uri="{FF2B5EF4-FFF2-40B4-BE49-F238E27FC236}">
                <a16:creationId xmlns:a16="http://schemas.microsoft.com/office/drawing/2014/main" id="{E741A729-9F05-43DC-9F0B-5D429F30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35" y="5141063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FFFFF"/>
            </a:solidFill>
          </a:ln>
        </p:spPr>
      </p:sp>
      <p:sp>
        <p:nvSpPr>
          <p:cNvPr id="19" name="orthogonal-81">
            <a:extLst xmlns:a="http://schemas.openxmlformats.org/drawingml/2006/main">
              <a:ext uri="{FF2B5EF4-FFF2-40B4-BE49-F238E27FC236}">
                <a16:creationId xmlns:a16="http://schemas.microsoft.com/office/drawing/2014/main" id="{6578AF79-E82F-4371-A1A3-E71BF3CE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35" y="5141063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369A1"/>
            </a:solidFill>
          </a:ln>
        </p:spPr>
      </p:sp>
      <p:sp>
        <p:nvSpPr>
          <p:cNvPr id="20" name="rfid-82">
            <a:extLst xmlns:a="http://schemas.openxmlformats.org/drawingml/2006/main">
              <a:ext uri="{FF2B5EF4-FFF2-40B4-BE49-F238E27FC236}">
                <a16:creationId xmlns:a16="http://schemas.microsoft.com/office/drawing/2014/main" id="{FBD3E21C-076C-4F36-922F-8095F0B6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310" y="4941038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6  OUT2</a:t>
            </a:r>
          </a:p>
        </p:txBody>
      </p:sp>
      <p:sp>
        <p:nvSpPr>
          <p:cNvPr id="21" name="orthogonal-83">
            <a:extLst xmlns:a="http://schemas.openxmlformats.org/drawingml/2006/main">
              <a:ext uri="{FF2B5EF4-FFF2-40B4-BE49-F238E27FC236}">
                <a16:creationId xmlns:a16="http://schemas.microsoft.com/office/drawing/2014/main" id="{479D8E78-DA6B-4C84-93F7-2AEBCAF2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35" y="5549801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FFFFF"/>
            </a:solidFill>
          </a:ln>
        </p:spPr>
      </p:sp>
      <p:sp>
        <p:nvSpPr>
          <p:cNvPr id="22" name="orthogonal-84">
            <a:extLst xmlns:a="http://schemas.openxmlformats.org/drawingml/2006/main">
              <a:ext uri="{FF2B5EF4-FFF2-40B4-BE49-F238E27FC236}">
                <a16:creationId xmlns:a16="http://schemas.microsoft.com/office/drawing/2014/main" id="{6FF39B53-F495-466F-85FC-B4B7BA0C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35" y="5549801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369A1"/>
            </a:solidFill>
          </a:ln>
        </p:spPr>
      </p:sp>
      <p:sp>
        <p:nvSpPr>
          <p:cNvPr id="23" name="rfid-85">
            <a:extLst xmlns:a="http://schemas.openxmlformats.org/drawingml/2006/main">
              <a:ext uri="{FF2B5EF4-FFF2-40B4-BE49-F238E27FC236}">
                <a16:creationId xmlns:a16="http://schemas.microsoft.com/office/drawing/2014/main" id="{B165CC7D-D358-4998-9924-9A3D9CC7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310" y="5349776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7  IN2</a:t>
            </a:r>
          </a:p>
        </p:txBody>
      </p:sp>
      <p:sp>
        <p:nvSpPr>
          <p:cNvPr id="24" name="orthogonal-86">
            <a:extLst xmlns:a="http://schemas.openxmlformats.org/drawingml/2006/main">
              <a:ext uri="{FF2B5EF4-FFF2-40B4-BE49-F238E27FC236}">
                <a16:creationId xmlns:a16="http://schemas.microsoft.com/office/drawing/2014/main" id="{CCDAF626-BF55-4790-B996-91DFCD8B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35" y="5993978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FFFFF"/>
            </a:solidFill>
          </a:ln>
        </p:spPr>
      </p:sp>
      <p:sp>
        <p:nvSpPr>
          <p:cNvPr id="25" name="orthogonal-87">
            <a:extLst xmlns:a="http://schemas.openxmlformats.org/drawingml/2006/main">
              <a:ext uri="{FF2B5EF4-FFF2-40B4-BE49-F238E27FC236}">
                <a16:creationId xmlns:a16="http://schemas.microsoft.com/office/drawing/2014/main" id="{7DE25A4E-4B60-4260-98CE-6E8B8E71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35" y="5993978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</a:ln>
        </p:spPr>
      </p:sp>
      <p:sp>
        <p:nvSpPr>
          <p:cNvPr id="26" name="rfid-88">
            <a:extLst xmlns:a="http://schemas.openxmlformats.org/drawingml/2006/main">
              <a:ext uri="{FF2B5EF4-FFF2-40B4-BE49-F238E27FC236}">
                <a16:creationId xmlns:a16="http://schemas.microsoft.com/office/drawing/2014/main" id="{E188B19A-7E2A-4A1D-9027-2E5E8BFB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310" y="5793953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8  +12 V</a:t>
            </a:r>
          </a:p>
        </p:txBody>
      </p:sp>
      <p:sp>
        <p:nvSpPr>
          <p:cNvPr id="27" name="orthogonal-89">
            <a:extLst xmlns:a="http://schemas.openxmlformats.org/drawingml/2006/main">
              <a:ext uri="{FF2B5EF4-FFF2-40B4-BE49-F238E27FC236}">
                <a16:creationId xmlns:a16="http://schemas.microsoft.com/office/drawing/2014/main" id="{41FC04EA-4B8A-438B-A174-82FCE6FE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665" y="3083198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FFFFF"/>
            </a:solidFill>
          </a:ln>
        </p:spPr>
      </p:sp>
      <p:sp>
        <p:nvSpPr>
          <p:cNvPr id="28" name="orthogonal-90">
            <a:extLst xmlns:a="http://schemas.openxmlformats.org/drawingml/2006/main">
              <a:ext uri="{FF2B5EF4-FFF2-40B4-BE49-F238E27FC236}">
                <a16:creationId xmlns:a16="http://schemas.microsoft.com/office/drawing/2014/main" id="{67E939AC-A86F-4B13-94B6-81F8292B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665" y="3083198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</a:ln>
        </p:spPr>
      </p:sp>
      <p:sp>
        <p:nvSpPr>
          <p:cNvPr id="29" name="rfid-91">
            <a:extLst xmlns:a="http://schemas.openxmlformats.org/drawingml/2006/main">
              <a:ext uri="{FF2B5EF4-FFF2-40B4-BE49-F238E27FC236}">
                <a16:creationId xmlns:a16="http://schemas.microsoft.com/office/drawing/2014/main" id="{368429A0-0737-4D56-806C-6EFBE8B4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765" y="2883173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16  +5 V</a:t>
            </a:r>
          </a:p>
        </p:txBody>
      </p:sp>
      <p:sp>
        <p:nvSpPr>
          <p:cNvPr id="30" name="rfid-92">
            <a:extLst xmlns:a="http://schemas.openxmlformats.org/drawingml/2006/main">
              <a:ext uri="{FF2B5EF4-FFF2-40B4-BE49-F238E27FC236}">
                <a16:creationId xmlns:a16="http://schemas.microsoft.com/office/drawing/2014/main" id="{373AEA9B-F048-4060-A67D-672F9236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467475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L293D</a:t>
            </a:r>
          </a:p>
        </p:txBody>
      </p:sp>
      <p:sp>
        <p:nvSpPr>
          <p:cNvPr id="31" name="rfid-93">
            <a:extLst xmlns:a="http://schemas.openxmlformats.org/drawingml/2006/main">
              <a:ext uri="{FF2B5EF4-FFF2-40B4-BE49-F238E27FC236}">
                <a16:creationId xmlns:a16="http://schemas.microsoft.com/office/drawing/2014/main" id="{49256E7E-F1DE-4031-90A5-33D359C1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067550"/>
            <a:ext cx="38004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GND: 4, 5, 12, 13</a:t>
            </a:r>
          </a:p>
        </p:txBody>
      </p:sp>
      <p:sp>
        <p:nvSpPr>
          <p:cNvPr id="32" name="rfid-94">
            <a:extLst xmlns:a="http://schemas.openxmlformats.org/drawingml/2006/main">
              <a:ext uri="{FF2B5EF4-FFF2-40B4-BE49-F238E27FC236}">
                <a16:creationId xmlns:a16="http://schemas.microsoft.com/office/drawing/2014/main" id="{33A0B575-C003-4C03-AFD0-BBF87B64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953375"/>
            <a:ext cx="8991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OUT1 ต่อมอเตอร์ผ่าน R 27 Ω 10 W</a:t>
            </a:r>
          </a:p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OUT2 ต่ออีกขั้วของมอเตอร์</a:t>
            </a:r>
          </a:p>
        </p:txBody>
      </p:sp>
      <p:sp>
        <p:nvSpPr>
          <p:cNvPr id="33" name="rfid-95">
            <a:extLst xmlns:a="http://schemas.openxmlformats.org/drawingml/2006/main">
              <a:ext uri="{FF2B5EF4-FFF2-40B4-BE49-F238E27FC236}">
                <a16:creationId xmlns:a16="http://schemas.microsoft.com/office/drawing/2014/main" id="{C47408BA-4941-42F6-B2AD-4609C128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860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เส้นทาง Enable</a:t>
            </a:r>
          </a:p>
        </p:txBody>
      </p:sp>
      <p:sp>
        <p:nvSpPr>
          <p:cNvPr id="34" name="rfid-96">
            <a:extLst xmlns:a="http://schemas.openxmlformats.org/drawingml/2006/main">
              <a:ext uri="{FF2B5EF4-FFF2-40B4-BE49-F238E27FC236}">
                <a16:creationId xmlns:a16="http://schemas.microsoft.com/office/drawing/2014/main" id="{08544DDE-BF48-48EF-A9A8-63A2B61B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57575"/>
            <a:ext cx="59055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P1.2  RUN_N</a:t>
            </a:r>
          </a:p>
          <a:p xmlns:a="http://schemas.openxmlformats.org/drawingml/2006/main">
            <a:pPr algn="l">
              <a:defRPr sz="225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SN74HCT14 ขา 1 และ 2</a:t>
            </a:r>
          </a:p>
          <a:p xmlns:a="http://schemas.openxmlformats.org/drawingml/2006/main">
            <a:pPr algn="l">
              <a:defRPr sz="225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E-stop หน้าสัมผัส NC1</a:t>
            </a:r>
          </a:p>
          <a:p xmlns:a="http://schemas.openxmlformats.org/drawingml/2006/main">
            <a:pPr algn="l">
              <a:defRPr sz="225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L293D ขา 1 EN</a:t>
            </a:r>
          </a:p>
        </p:txBody>
      </p:sp>
      <p:sp>
        <p:nvSpPr>
          <p:cNvPr id="35" name="rfid-97">
            <a:extLst xmlns:a="http://schemas.openxmlformats.org/drawingml/2006/main">
              <a:ext uri="{FF2B5EF4-FFF2-40B4-BE49-F238E27FC236}">
                <a16:creationId xmlns:a16="http://schemas.microsoft.com/office/drawing/2014/main" id="{26AD2177-C697-4C35-9138-E3905B0C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7212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EN มี R 10 kΩ ดึงลง GND</a:t>
            </a:r>
          </a:p>
        </p:txBody>
      </p:sp>
      <p:sp>
        <p:nvSpPr>
          <p:cNvPr id="36" name="rfid-98">
            <a:extLst xmlns:a="http://schemas.openxmlformats.org/drawingml/2006/main">
              <a:ext uri="{FF2B5EF4-FFF2-40B4-BE49-F238E27FC236}">
                <a16:creationId xmlns:a16="http://schemas.microsoft.com/office/drawing/2014/main" id="{F4CF092C-CF0A-42F8-AC11-9CA4C841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ไฟสถานะ Active-LOW</a:t>
            </a:r>
          </a:p>
        </p:txBody>
      </p:sp>
      <p:sp>
        <p:nvSpPr>
          <p:cNvPr id="37" name="rfid-99">
            <a:extLst xmlns:a="http://schemas.openxmlformats.org/drawingml/2006/main">
              <a:ext uri="{FF2B5EF4-FFF2-40B4-BE49-F238E27FC236}">
                <a16:creationId xmlns:a16="http://schemas.microsoft.com/office/drawing/2014/main" id="{D99BC0D6-E9BD-4FA0-A9B3-BAC7E3D7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200900"/>
            <a:ext cx="590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5 V ผ่าน R 2.2 kΩ และ LED</a:t>
            </a:r>
          </a:p>
          <a:p xmlns:a="http://schemas.openxmlformats.org/drawingml/2006/main">
            <a:pPr algn="l">
              <a:defRPr sz="20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ขา Cathode ต่อ P1.4, P1.5, P1.6</a:t>
            </a:r>
          </a:p>
        </p:txBody>
      </p:sp>
      <p:sp>
        <p:nvSpPr>
          <p:cNvPr id="38" name="rfid-100">
            <a:extLst xmlns:a="http://schemas.openxmlformats.org/drawingml/2006/main">
              <a:ext uri="{FF2B5EF4-FFF2-40B4-BE49-F238E27FC236}">
                <a16:creationId xmlns:a16="http://schemas.microsoft.com/office/drawing/2014/main" id="{D3F67A44-C8AE-4DC2-BC1E-849031D4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82075"/>
            <a:ext cx="1557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ตั้งแหล่งจ่าย 12 V จำกัดกระแส 0.50 A และวัดกระแสกับอุณหภูมิจริงก่อนต่อกลไก</a:t>
            </a:r>
          </a:p>
        </p:txBody>
      </p:sp>
    </p:spTree>
    <p:extLst>
      <p:ext uri="{BB962C8B-B14F-4D97-AF65-F5344CB8AC3E}">
        <p14:creationId xmlns:p14="http://schemas.microsoft.com/office/powerpoint/2010/main" val="1900718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fid-101">
            <a:extLst xmlns:a="http://schemas.openxmlformats.org/drawingml/2006/main">
              <a:ext uri="{FF2B5EF4-FFF2-40B4-BE49-F238E27FC236}">
                <a16:creationId xmlns:a16="http://schemas.microsoft.com/office/drawing/2014/main" id="{7AD966F7-AD79-48FE-AA29-1BFEA9EA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การจัดสรรพอร์ตของ AT89S52</a:t>
            </a:r>
          </a:p>
        </p:txBody>
      </p:sp>
      <p:sp>
        <p:nvSpPr>
          <p:cNvPr id="2" name="rfid-102">
            <a:extLst xmlns:a="http://schemas.openxmlformats.org/drawingml/2006/main">
              <a:ext uri="{FF2B5EF4-FFF2-40B4-BE49-F238E27FC236}">
                <a16:creationId xmlns:a16="http://schemas.microsoft.com/office/drawing/2014/main" id="{5458C315-B500-4023-B5EF-491E9F35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ตัวเลขวงเล็บคือหมายเลขขา DIP-40 โดยมองจากด้านบนของตัวถัง</a:t>
            </a:r>
          </a:p>
        </p:txBody>
      </p:sp>
      <p:sp>
        <p:nvSpPr>
          <p:cNvPr id="3" name="rfid-103">
            <a:extLst xmlns:a="http://schemas.openxmlformats.org/drawingml/2006/main">
              <a:ext uri="{FF2B5EF4-FFF2-40B4-BE49-F238E27FC236}">
                <a16:creationId xmlns:a16="http://schemas.microsoft.com/office/drawing/2014/main" id="{A8562ABE-5DEC-416D-A1AB-B871CE18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104">
            <a:extLst xmlns:a="http://schemas.openxmlformats.org/drawingml/2006/main">
              <a:ext uri="{FF2B5EF4-FFF2-40B4-BE49-F238E27FC236}">
                <a16:creationId xmlns:a16="http://schemas.microsoft.com/office/drawing/2014/main" id="{F58A6459-0D3E-4999-A710-48531EBA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5" name="rfid-105">
            <a:extLst xmlns:a="http://schemas.openxmlformats.org/drawingml/2006/main">
              <a:ext uri="{FF2B5EF4-FFF2-40B4-BE49-F238E27FC236}">
                <a16:creationId xmlns:a16="http://schemas.microsoft.com/office/drawing/2014/main" id="{8E04A5CC-7E42-4C44-8FC3-4504A99D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14575"/>
            <a:ext cx="7810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Port 2 อินพุต</a:t>
            </a:r>
          </a:p>
        </p:txBody>
      </p:sp>
      <p:sp>
        <p:nvSpPr>
          <p:cNvPr id="6" name="rfid-106">
            <a:extLst xmlns:a="http://schemas.openxmlformats.org/drawingml/2006/main">
              <a:ext uri="{FF2B5EF4-FFF2-40B4-BE49-F238E27FC236}">
                <a16:creationId xmlns:a16="http://schemas.microsoft.com/office/drawing/2014/main" id="{84778C63-9E55-4EF4-89FD-F7979250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14575"/>
            <a:ext cx="773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Port 1 เอาต์พุต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990600" y="2962275"/>
          <a:ext xmlns:a="http://schemas.openxmlformats.org/drawingml/2006/main" cx="78105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457575"/>
                <a:gridCol w="2114550"/>
              </a:tblGrid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ขา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สัญญาณ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ระดับทำงาน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P2.0 (21)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PB_IN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P2.1 (22)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PB_OUT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P2.2 (23)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RFID_DET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 = พบแท็ก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P2.3 (24)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LO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 = เปิดสุด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P2.4 (25)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LC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 = ปิดสุด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P2.6 (27)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PB_CLOSE / RESET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P2.7 (28)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ESTOP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 = หยุด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9563100" y="2962275"/>
          <a:ext xmlns:a="http://schemas.openxmlformats.org/drawingml/2006/main" cx="7734300" cy="4400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181350"/>
                <a:gridCol w="2457450"/>
              </a:tblGrid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ขา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สัญญาณ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หน้าที่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P1.0 (1)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IN1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ทิศทาง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P1.1 (2)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IN2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ทิศทาง 2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P1.2 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RUN_N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 = ขับ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P1.4 (5)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LED_RED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 = ติด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P1.5 (6)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LED_GREEN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 = ติด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P1.6 (7)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LED_RFID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 = ติด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fid-107">
            <a:extLst xmlns:a="http://schemas.openxmlformats.org/drawingml/2006/main">
              <a:ext uri="{FF2B5EF4-FFF2-40B4-BE49-F238E27FC236}">
                <a16:creationId xmlns:a16="http://schemas.microsoft.com/office/drawing/2014/main" id="{03D8F32C-DF2A-4A8B-9B3A-C9996393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27722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P2.5 ไม่ใช้งาน   P2 latch = FFH</a:t>
            </a:r>
          </a:p>
        </p:txBody>
      </p:sp>
      <p:sp>
        <p:nvSpPr>
          <p:cNvPr id="10" name="rfid-108">
            <a:extLst xmlns:a="http://schemas.openxmlformats.org/drawingml/2006/main">
              <a:ext uri="{FF2B5EF4-FFF2-40B4-BE49-F238E27FC236}">
                <a16:creationId xmlns:a16="http://schemas.microsoft.com/office/drawing/2014/main" id="{86CD2B03-AA80-429F-9BFC-B39DC565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277225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P1.3 และ P1.7 คงเป็น 1</a:t>
            </a:r>
          </a:p>
        </p:txBody>
      </p:sp>
    </p:spTree>
    <p:extLst>
      <p:ext uri="{BB962C8B-B14F-4D97-AF65-F5344CB8AC3E}">
        <p14:creationId xmlns:p14="http://schemas.microsoft.com/office/powerpoint/2010/main" val="454840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rfid-109">
            <a:extLst xmlns:a="http://schemas.openxmlformats.org/drawingml/2006/main">
              <a:ext uri="{FF2B5EF4-FFF2-40B4-BE49-F238E27FC236}">
                <a16:creationId xmlns:a16="http://schemas.microsoft.com/office/drawing/2014/main" id="{C596FB38-0EF7-46B1-B9D4-FF8FCBFF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FSM การทำงานปกติ 7 สถานะ</a:t>
            </a:r>
          </a:p>
        </p:txBody>
      </p:sp>
      <p:sp>
        <p:nvSpPr>
          <p:cNvPr id="2" name="rfid-110">
            <a:extLst xmlns:a="http://schemas.openxmlformats.org/drawingml/2006/main">
              <a:ext uri="{FF2B5EF4-FFF2-40B4-BE49-F238E27FC236}">
                <a16:creationId xmlns:a16="http://schemas.microsoft.com/office/drawing/2014/main" id="{F84B655F-E570-4DCF-BA48-9AA62772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เอาต์พุตภายในสถานะกำหนดตาม Moore machine ส่วนข้อความบนเส้นคือเงื่อนไขเปลี่ยนสถานะ</a:t>
            </a:r>
          </a:p>
        </p:txBody>
      </p:sp>
      <p:sp>
        <p:nvSpPr>
          <p:cNvPr id="3" name="rfid-111">
            <a:extLst xmlns:a="http://schemas.openxmlformats.org/drawingml/2006/main">
              <a:ext uri="{FF2B5EF4-FFF2-40B4-BE49-F238E27FC236}">
                <a16:creationId xmlns:a16="http://schemas.microsoft.com/office/drawing/2014/main" id="{7A937CFA-7921-46BC-91B1-13C52AF7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112">
            <a:extLst xmlns:a="http://schemas.openxmlformats.org/drawingml/2006/main">
              <a:ext uri="{FF2B5EF4-FFF2-40B4-BE49-F238E27FC236}">
                <a16:creationId xmlns:a16="http://schemas.microsoft.com/office/drawing/2014/main" id="{45B25088-B884-47E3-B538-AFE473B1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5" name="rfid-113">
            <a:extLst xmlns:a="http://schemas.openxmlformats.org/drawingml/2006/main">
              <a:ext uri="{FF2B5EF4-FFF2-40B4-BE49-F238E27FC236}">
                <a16:creationId xmlns:a16="http://schemas.microsoft.com/office/drawing/2014/main" id="{B4732095-51ED-4C48-918B-8775D7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320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rfid-114">
            <a:extLst xmlns:a="http://schemas.openxmlformats.org/drawingml/2006/main">
              <a:ext uri="{FF2B5EF4-FFF2-40B4-BE49-F238E27FC236}">
                <a16:creationId xmlns:a16="http://schemas.microsoft.com/office/drawing/2014/main" id="{9299F440-46CD-4443-A7A7-0852D4F2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908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7" name="rfid-115">
            <a:extLst xmlns:a="http://schemas.openxmlformats.org/drawingml/2006/main">
              <a:ext uri="{FF2B5EF4-FFF2-40B4-BE49-F238E27FC236}">
                <a16:creationId xmlns:a16="http://schemas.microsoft.com/office/drawing/2014/main" id="{2B195208-9C89-46B0-A087-78DF2C36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STOP   ไฟแดง</a:t>
            </a:r>
          </a:p>
        </p:txBody>
      </p:sp>
      <p:sp>
        <p:nvSpPr>
          <p:cNvPr id="8" name="rfid-116">
            <a:extLst xmlns:a="http://schemas.openxmlformats.org/drawingml/2006/main">
              <a:ext uri="{FF2B5EF4-FFF2-40B4-BE49-F238E27FC236}">
                <a16:creationId xmlns:a16="http://schemas.microsoft.com/office/drawing/2014/main" id="{5D2C889F-FAFA-43D8-A2C7-3E98EFAF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320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9" name="rfid-117">
            <a:extLst xmlns:a="http://schemas.openxmlformats.org/drawingml/2006/main">
              <a:ext uri="{FF2B5EF4-FFF2-40B4-BE49-F238E27FC236}">
                <a16:creationId xmlns:a16="http://schemas.microsoft.com/office/drawing/2014/main" id="{CBAA16F9-31A0-46AD-9C7C-94398643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0" name="rfid-118">
            <a:extLst xmlns:a="http://schemas.openxmlformats.org/drawingml/2006/main">
              <a:ext uri="{FF2B5EF4-FFF2-40B4-BE49-F238E27FC236}">
                <a16:creationId xmlns:a16="http://schemas.microsoft.com/office/drawing/2014/main" id="{B3BCB848-174A-4C7B-9643-53D144F8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9570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CW   ไฟเขียว</a:t>
            </a:r>
          </a:p>
        </p:txBody>
      </p:sp>
      <p:sp>
        <p:nvSpPr>
          <p:cNvPr id="11" name="rfid-119">
            <a:extLst xmlns:a="http://schemas.openxmlformats.org/drawingml/2006/main">
              <a:ext uri="{FF2B5EF4-FFF2-40B4-BE49-F238E27FC236}">
                <a16:creationId xmlns:a16="http://schemas.microsoft.com/office/drawing/2014/main" id="{A9BC8FE3-1F29-483C-985A-782FCCD6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48000"/>
            <a:ext cx="320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2" name="rfid-120">
            <a:extLst xmlns:a="http://schemas.openxmlformats.org/drawingml/2006/main">
              <a:ext uri="{FF2B5EF4-FFF2-40B4-BE49-F238E27FC236}">
                <a16:creationId xmlns:a16="http://schemas.microsoft.com/office/drawing/2014/main" id="{72A5FC8B-DED5-473F-9473-1233886A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908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OPEN_HOLD</a:t>
            </a:r>
          </a:p>
        </p:txBody>
      </p:sp>
      <p:sp>
        <p:nvSpPr>
          <p:cNvPr id="13" name="rfid-121">
            <a:extLst xmlns:a="http://schemas.openxmlformats.org/drawingml/2006/main">
              <a:ext uri="{FF2B5EF4-FFF2-40B4-BE49-F238E27FC236}">
                <a16:creationId xmlns:a16="http://schemas.microsoft.com/office/drawing/2014/main" id="{69D33752-0DE8-4F74-86C2-4DDA2A64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9570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STOP   ไฟเขียว</a:t>
            </a:r>
          </a:p>
        </p:txBody>
      </p:sp>
      <p:sp>
        <p:nvSpPr>
          <p:cNvPr id="14" name="rfid-122">
            <a:extLst xmlns:a="http://schemas.openxmlformats.org/drawingml/2006/main">
              <a:ext uri="{FF2B5EF4-FFF2-40B4-BE49-F238E27FC236}">
                <a16:creationId xmlns:a16="http://schemas.microsoft.com/office/drawing/2014/main" id="{F13EA71B-6920-41D3-BB76-27A31747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048000"/>
            <a:ext cx="320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5" name="rfid-123">
            <a:extLst xmlns:a="http://schemas.openxmlformats.org/drawingml/2006/main">
              <a:ext uri="{FF2B5EF4-FFF2-40B4-BE49-F238E27FC236}">
                <a16:creationId xmlns:a16="http://schemas.microsoft.com/office/drawing/2014/main" id="{57986C3B-0787-4DD3-9521-B87865F2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31908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rfid-124">
            <a:extLst xmlns:a="http://schemas.openxmlformats.org/drawingml/2006/main">
              <a:ext uri="{FF2B5EF4-FFF2-40B4-BE49-F238E27FC236}">
                <a16:creationId xmlns:a16="http://schemas.microsoft.com/office/drawing/2014/main" id="{ACC41F52-9C5B-45B7-ACFE-72CCF352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369570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CCW   ไฟแดง</a:t>
            </a:r>
          </a:p>
        </p:txBody>
      </p:sp>
      <p:sp>
        <p:nvSpPr>
          <p:cNvPr id="17" name="rfid-125">
            <a:extLst xmlns:a="http://schemas.openxmlformats.org/drawingml/2006/main">
              <a:ext uri="{FF2B5EF4-FFF2-40B4-BE49-F238E27FC236}">
                <a16:creationId xmlns:a16="http://schemas.microsoft.com/office/drawing/2014/main" id="{2F7D5206-2B87-4A30-80F3-69A8400B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858000"/>
            <a:ext cx="320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8" name="rfid-126">
            <a:extLst xmlns:a="http://schemas.openxmlformats.org/drawingml/2006/main">
              <a:ext uri="{FF2B5EF4-FFF2-40B4-BE49-F238E27FC236}">
                <a16:creationId xmlns:a16="http://schemas.microsoft.com/office/drawing/2014/main" id="{C662EC5E-1C69-43A8-8C3B-EE58B058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70008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9" name="rfid-127">
            <a:extLst xmlns:a="http://schemas.openxmlformats.org/drawingml/2006/main">
              <a:ext uri="{FF2B5EF4-FFF2-40B4-BE49-F238E27FC236}">
                <a16:creationId xmlns:a16="http://schemas.microsoft.com/office/drawing/2014/main" id="{68AB1A46-D800-4233-BFF1-56EEF62E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750570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Coast   200 ms</a:t>
            </a:r>
          </a:p>
        </p:txBody>
      </p:sp>
      <p:sp>
        <p:nvSpPr>
          <p:cNvPr id="20" name="rfid-128">
            <a:extLst xmlns:a="http://schemas.openxmlformats.org/drawingml/2006/main">
              <a:ext uri="{FF2B5EF4-FFF2-40B4-BE49-F238E27FC236}">
                <a16:creationId xmlns:a16="http://schemas.microsoft.com/office/drawing/2014/main" id="{983BB788-3AA4-4912-BF2C-622FCCB1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858000"/>
            <a:ext cx="320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21" name="rfid-129">
            <a:extLst xmlns:a="http://schemas.openxmlformats.org/drawingml/2006/main">
              <a:ext uri="{FF2B5EF4-FFF2-40B4-BE49-F238E27FC236}">
                <a16:creationId xmlns:a16="http://schemas.microsoft.com/office/drawing/2014/main" id="{1D5F065A-213D-490D-988D-6A290F6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0008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REOPENING</a:t>
            </a:r>
          </a:p>
        </p:txBody>
      </p:sp>
      <p:sp>
        <p:nvSpPr>
          <p:cNvPr id="22" name="rfid-130">
            <a:extLst xmlns:a="http://schemas.openxmlformats.org/drawingml/2006/main">
              <a:ext uri="{FF2B5EF4-FFF2-40B4-BE49-F238E27FC236}">
                <a16:creationId xmlns:a16="http://schemas.microsoft.com/office/drawing/2014/main" id="{910B2A68-B281-42F9-8710-065863F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50570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CW   ไฟเขียว</a:t>
            </a:r>
          </a:p>
        </p:txBody>
      </p:sp>
      <p:sp>
        <p:nvSpPr>
          <p:cNvPr id="23" name="rfid-131">
            <a:extLst xmlns:a="http://schemas.openxmlformats.org/drawingml/2006/main">
              <a:ext uri="{FF2B5EF4-FFF2-40B4-BE49-F238E27FC236}">
                <a16:creationId xmlns:a16="http://schemas.microsoft.com/office/drawing/2014/main" id="{A4B51E61-B741-493E-AF53-D8A6D494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0"/>
            <a:ext cx="320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4" name="rfid-132">
            <a:extLst xmlns:a="http://schemas.openxmlformats.org/drawingml/2006/main">
              <a:ext uri="{FF2B5EF4-FFF2-40B4-BE49-F238E27FC236}">
                <a16:creationId xmlns:a16="http://schemas.microsoft.com/office/drawing/2014/main" id="{89AC9688-5377-42F7-B2BB-ED60A41E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008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RFID_HOLD</a:t>
            </a:r>
          </a:p>
        </p:txBody>
      </p:sp>
      <p:sp>
        <p:nvSpPr>
          <p:cNvPr id="25" name="rfid-133">
            <a:extLst xmlns:a="http://schemas.openxmlformats.org/drawingml/2006/main">
              <a:ext uri="{FF2B5EF4-FFF2-40B4-BE49-F238E27FC236}">
                <a16:creationId xmlns:a16="http://schemas.microsoft.com/office/drawing/2014/main" id="{6F9DAECD-EB17-4A55-BA4C-77C3C14A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50570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STOP   ไฟส้ม</a:t>
            </a:r>
          </a:p>
        </p:txBody>
      </p:sp>
      <p:sp>
        <p:nvSpPr>
          <p:cNvPr id="26" name="orthogonal-134">
            <a:extLst xmlns:a="http://schemas.openxmlformats.org/drawingml/2006/main">
              <a:ext uri="{FF2B5EF4-FFF2-40B4-BE49-F238E27FC236}">
                <a16:creationId xmlns:a16="http://schemas.microsoft.com/office/drawing/2014/main" id="{1A2D9CFE-F029-4847-981A-0D7BD3A5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81400"/>
            <a:ext cx="1143000" cy="133350"/>
          </a:xfrm>
          <a:custGeom xmlns:a="http://schemas.openxmlformats.org/drawingml/2006/main">
            <a:pathLst>
              <a:path w="1143000" h="133350">
                <a:moveTo>
                  <a:pt x="0" y="66675"/>
                </a:moveTo>
                <a:lnTo>
                  <a:pt x="1143000" y="66675"/>
                </a:lnTo>
                <a:lnTo>
                  <a:pt x="1028700" y="0"/>
                </a:lnTo>
                <a:lnTo>
                  <a:pt x="1143000" y="66675"/>
                </a:lnTo>
                <a:lnTo>
                  <a:pt x="10287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369A1"/>
            </a:solidFill>
          </a:ln>
        </p:spPr>
      </p:sp>
      <p:sp>
        <p:nvSpPr>
          <p:cNvPr id="27" name="orthogonal-135">
            <a:extLst xmlns:a="http://schemas.openxmlformats.org/drawingml/2006/main">
              <a:ext uri="{FF2B5EF4-FFF2-40B4-BE49-F238E27FC236}">
                <a16:creationId xmlns:a16="http://schemas.microsoft.com/office/drawing/2014/main" id="{1CF8F536-6239-4413-9FCC-1ECFA992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1143000" cy="133350"/>
          </a:xfrm>
          <a:custGeom xmlns:a="http://schemas.openxmlformats.org/drawingml/2006/main">
            <a:pathLst>
              <a:path w="1143000" h="133350">
                <a:moveTo>
                  <a:pt x="0" y="66675"/>
                </a:moveTo>
                <a:lnTo>
                  <a:pt x="1143000" y="66675"/>
                </a:lnTo>
                <a:lnTo>
                  <a:pt x="1028700" y="0"/>
                </a:lnTo>
                <a:lnTo>
                  <a:pt x="1143000" y="66675"/>
                </a:lnTo>
                <a:lnTo>
                  <a:pt x="10287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369A1"/>
            </a:solidFill>
          </a:ln>
        </p:spPr>
      </p:sp>
      <p:sp>
        <p:nvSpPr>
          <p:cNvPr id="28" name="orthogonal-136">
            <a:extLst xmlns:a="http://schemas.openxmlformats.org/drawingml/2006/main">
              <a:ext uri="{FF2B5EF4-FFF2-40B4-BE49-F238E27FC236}">
                <a16:creationId xmlns:a16="http://schemas.microsoft.com/office/drawing/2014/main" id="{AB8FEB8A-A307-49A3-AF6E-DA8A3493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581400"/>
            <a:ext cx="1143000" cy="133350"/>
          </a:xfrm>
          <a:custGeom xmlns:a="http://schemas.openxmlformats.org/drawingml/2006/main">
            <a:pathLst>
              <a:path w="1143000" h="133350">
                <a:moveTo>
                  <a:pt x="0" y="66675"/>
                </a:moveTo>
                <a:lnTo>
                  <a:pt x="1143000" y="66675"/>
                </a:lnTo>
                <a:lnTo>
                  <a:pt x="1028700" y="0"/>
                </a:lnTo>
                <a:lnTo>
                  <a:pt x="1143000" y="66675"/>
                </a:lnTo>
                <a:lnTo>
                  <a:pt x="10287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369A1"/>
            </a:solidFill>
          </a:ln>
        </p:spPr>
      </p:sp>
      <p:sp>
        <p:nvSpPr>
          <p:cNvPr id="29" name="rfid-137">
            <a:extLst xmlns:a="http://schemas.openxmlformats.org/drawingml/2006/main">
              <a:ext uri="{FF2B5EF4-FFF2-40B4-BE49-F238E27FC236}">
                <a16:creationId xmlns:a16="http://schemas.microsoft.com/office/drawing/2014/main" id="{EBCB4662-661C-4749-B552-25F5D599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432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OPEN_EVT</a:t>
            </a:r>
          </a:p>
        </p:txBody>
      </p:sp>
      <p:sp>
        <p:nvSpPr>
          <p:cNvPr id="30" name="rfid-138">
            <a:extLst xmlns:a="http://schemas.openxmlformats.org/drawingml/2006/main">
              <a:ext uri="{FF2B5EF4-FFF2-40B4-BE49-F238E27FC236}">
                <a16:creationId xmlns:a16="http://schemas.microsoft.com/office/drawing/2014/main" id="{A364A791-628C-4098-AEE2-80C9F2C3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LO = 0</a:t>
            </a:r>
          </a:p>
        </p:txBody>
      </p:sp>
      <p:sp>
        <p:nvSpPr>
          <p:cNvPr id="31" name="rfid-139">
            <a:extLst xmlns:a="http://schemas.openxmlformats.org/drawingml/2006/main">
              <a:ext uri="{FF2B5EF4-FFF2-40B4-BE49-F238E27FC236}">
                <a16:creationId xmlns:a16="http://schemas.microsoft.com/office/drawing/2014/main" id="{233A809F-A506-4671-819B-4C24C856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89560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CLOSE_EVT</a:t>
            </a:r>
          </a:p>
          <a:p xmlns:a="http://schemas.openxmlformats.org/drawingml/2006/main">
            <a:pPr algn="ctr">
              <a:defRPr sz="15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RFID = 1</a:t>
            </a:r>
          </a:p>
        </p:txBody>
      </p:sp>
      <p:sp>
        <p:nvSpPr>
          <p:cNvPr id="32" name="orthogonal-140">
            <a:extLst xmlns:a="http://schemas.openxmlformats.org/drawingml/2006/main">
              <a:ext uri="{FF2B5EF4-FFF2-40B4-BE49-F238E27FC236}">
                <a16:creationId xmlns:a16="http://schemas.microsoft.com/office/drawing/2014/main" id="{10D634F2-449A-43F7-98BC-582561CD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90775"/>
            <a:ext cx="13096875" cy="657225"/>
          </a:xfrm>
          <a:custGeom xmlns:a="http://schemas.openxmlformats.org/drawingml/2006/main">
            <a:pathLst>
              <a:path w="13096875" h="657225">
                <a:moveTo>
                  <a:pt x="13096875" y="657225"/>
                </a:moveTo>
                <a:lnTo>
                  <a:pt x="13096875" y="0"/>
                </a:lnTo>
                <a:lnTo>
                  <a:pt x="66675" y="0"/>
                </a:lnTo>
                <a:lnTo>
                  <a:pt x="66675" y="657225"/>
                </a:lnTo>
                <a:lnTo>
                  <a:pt x="0" y="542925"/>
                </a:lnTo>
                <a:lnTo>
                  <a:pt x="66675" y="657225"/>
                </a:lnTo>
                <a:lnTo>
                  <a:pt x="133350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64748B"/>
            </a:solidFill>
          </a:ln>
        </p:spPr>
      </p:sp>
      <p:sp>
        <p:nvSpPr>
          <p:cNvPr id="33" name="rfid-141">
            <a:extLst xmlns:a="http://schemas.openxmlformats.org/drawingml/2006/main">
              <a:ext uri="{FF2B5EF4-FFF2-40B4-BE49-F238E27FC236}">
                <a16:creationId xmlns:a16="http://schemas.microsoft.com/office/drawing/2014/main" id="{C80F5F36-C14C-4654-8A33-36D7615F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LC = 0 และไม่พบเหตุเปิดกลับ</a:t>
            </a:r>
          </a:p>
        </p:txBody>
      </p:sp>
      <p:sp>
        <p:nvSpPr>
          <p:cNvPr id="34" name="orthogonal-142">
            <a:extLst xmlns:a="http://schemas.openxmlformats.org/drawingml/2006/main">
              <a:ext uri="{FF2B5EF4-FFF2-40B4-BE49-F238E27FC236}">
                <a16:creationId xmlns:a16="http://schemas.microsoft.com/office/drawing/2014/main" id="{E9541976-A0F7-4454-A5AA-974C355F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4248150"/>
            <a:ext cx="133350" cy="2609850"/>
          </a:xfrm>
          <a:custGeom xmlns:a="http://schemas.openxmlformats.org/drawingml/2006/main">
            <a:pathLst>
              <a:path w="133350" h="2609850">
                <a:moveTo>
                  <a:pt x="66675" y="0"/>
                </a:moveTo>
                <a:lnTo>
                  <a:pt x="66675" y="2609850"/>
                </a:lnTo>
                <a:lnTo>
                  <a:pt x="0" y="2495550"/>
                </a:lnTo>
                <a:lnTo>
                  <a:pt x="66675" y="2609850"/>
                </a:lnTo>
                <a:lnTo>
                  <a:pt x="133350" y="24955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35" name="rfid-143">
            <a:extLst xmlns:a="http://schemas.openxmlformats.org/drawingml/2006/main">
              <a:ext uri="{FF2B5EF4-FFF2-40B4-BE49-F238E27FC236}">
                <a16:creationId xmlns:a16="http://schemas.microsoft.com/office/drawing/2014/main" id="{542A47A8-E74C-4030-A3DA-7B4669BF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4943475"/>
            <a:ext cx="157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RFID = 0</a:t>
            </a:r>
          </a:p>
          <a:p xmlns:a="http://schemas.openxmlformats.org/drawingml/2006/main">
            <a:pPr algn="l">
              <a:defRPr sz="1575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หรือ OPEN_EVT</a:t>
            </a:r>
          </a:p>
        </p:txBody>
      </p:sp>
      <p:sp>
        <p:nvSpPr>
          <p:cNvPr id="36" name="orthogonal-144">
            <a:extLst xmlns:a="http://schemas.openxmlformats.org/drawingml/2006/main">
              <a:ext uri="{FF2B5EF4-FFF2-40B4-BE49-F238E27FC236}">
                <a16:creationId xmlns:a16="http://schemas.microsoft.com/office/drawing/2014/main" id="{931186C5-0625-4547-B648-0110EEFF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391400"/>
            <a:ext cx="1143000" cy="133350"/>
          </a:xfrm>
          <a:custGeom xmlns:a="http://schemas.openxmlformats.org/drawingml/2006/main">
            <a:pathLst>
              <a:path w="1143000" h="133350">
                <a:moveTo>
                  <a:pt x="1143000" y="66675"/>
                </a:moveTo>
                <a:lnTo>
                  <a:pt x="0" y="66675"/>
                </a:lnTo>
                <a:lnTo>
                  <a:pt x="114300" y="0"/>
                </a:lnTo>
                <a:lnTo>
                  <a:pt x="0" y="66675"/>
                </a:lnTo>
                <a:lnTo>
                  <a:pt x="114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37" name="rfid-145">
            <a:extLst xmlns:a="http://schemas.openxmlformats.org/drawingml/2006/main">
              <a:ext uri="{FF2B5EF4-FFF2-40B4-BE49-F238E27FC236}">
                <a16:creationId xmlns:a16="http://schemas.microsoft.com/office/drawing/2014/main" id="{4ECC928B-08FD-409B-B49F-595156EB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7972425"/>
            <a:ext cx="1533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ครบ 200 ms</a:t>
            </a:r>
          </a:p>
        </p:txBody>
      </p:sp>
      <p:sp>
        <p:nvSpPr>
          <p:cNvPr id="38" name="orthogonal-146">
            <a:extLst xmlns:a="http://schemas.openxmlformats.org/drawingml/2006/main">
              <a:ext uri="{FF2B5EF4-FFF2-40B4-BE49-F238E27FC236}">
                <a16:creationId xmlns:a16="http://schemas.microsoft.com/office/drawing/2014/main" id="{8E6E3194-5B2F-4874-BC18-C30C2BE5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391400"/>
            <a:ext cx="1143000" cy="133350"/>
          </a:xfrm>
          <a:custGeom xmlns:a="http://schemas.openxmlformats.org/drawingml/2006/main">
            <a:pathLst>
              <a:path w="1143000" h="133350">
                <a:moveTo>
                  <a:pt x="1143000" y="66675"/>
                </a:moveTo>
                <a:lnTo>
                  <a:pt x="0" y="66675"/>
                </a:lnTo>
                <a:lnTo>
                  <a:pt x="114300" y="0"/>
                </a:lnTo>
                <a:lnTo>
                  <a:pt x="0" y="66675"/>
                </a:lnTo>
                <a:lnTo>
                  <a:pt x="114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39" name="rfid-147">
            <a:extLst xmlns:a="http://schemas.openxmlformats.org/drawingml/2006/main">
              <a:ext uri="{FF2B5EF4-FFF2-40B4-BE49-F238E27FC236}">
                <a16:creationId xmlns:a16="http://schemas.microsoft.com/office/drawing/2014/main" id="{D33404CE-7F88-43ED-8B55-9D8D6E78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81915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LO = 0</a:t>
            </a:r>
          </a:p>
          <a:p xmlns:a="http://schemas.openxmlformats.org/drawingml/2006/main">
            <a:pPr algn="l">
              <a:defRPr sz="1575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rfid_seen = 1</a:t>
            </a:r>
          </a:p>
        </p:txBody>
      </p:sp>
      <p:sp>
        <p:nvSpPr>
          <p:cNvPr id="40" name="orthogonal-148">
            <a:extLst xmlns:a="http://schemas.openxmlformats.org/drawingml/2006/main">
              <a:ext uri="{FF2B5EF4-FFF2-40B4-BE49-F238E27FC236}">
                <a16:creationId xmlns:a16="http://schemas.microsoft.com/office/drawing/2014/main" id="{EA0B4949-12F5-438D-9800-0E135428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7972425" cy="2609850"/>
          </a:xfrm>
          <a:custGeom xmlns:a="http://schemas.openxmlformats.org/drawingml/2006/main">
            <a:pathLst>
              <a:path w="7972425" h="2609850">
                <a:moveTo>
                  <a:pt x="0" y="2609850"/>
                </a:moveTo>
                <a:lnTo>
                  <a:pt x="0" y="1009650"/>
                </a:lnTo>
                <a:lnTo>
                  <a:pt x="7905750" y="1009650"/>
                </a:lnTo>
                <a:lnTo>
                  <a:pt x="7905750" y="0"/>
                </a:lnTo>
                <a:lnTo>
                  <a:pt x="7839075" y="114300"/>
                </a:lnTo>
                <a:lnTo>
                  <a:pt x="7905750" y="0"/>
                </a:lnTo>
                <a:lnTo>
                  <a:pt x="7972425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369A1"/>
            </a:solidFill>
          </a:ln>
        </p:spPr>
      </p:sp>
      <p:sp>
        <p:nvSpPr>
          <p:cNvPr id="41" name="rfid-149">
            <a:extLst xmlns:a="http://schemas.openxmlformats.org/drawingml/2006/main">
              <a:ext uri="{FF2B5EF4-FFF2-40B4-BE49-F238E27FC236}">
                <a16:creationId xmlns:a16="http://schemas.microsoft.com/office/drawing/2014/main" id="{79984760-5F2F-4BEA-9EAF-8AB8E39D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CLOSE_EVT ใหม่</a:t>
            </a:r>
          </a:p>
          <a:p xmlns:a="http://schemas.openxmlformats.org/drawingml/2006/main">
            <a:pPr algn="ctr">
              <a:defRPr sz="16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RFID = 1 และปล่อยปุ่มเปิด</a:t>
            </a:r>
          </a:p>
        </p:txBody>
      </p:sp>
      <p:sp>
        <p:nvSpPr>
          <p:cNvPr id="42" name="orthogonal-150">
            <a:extLst xmlns:a="http://schemas.openxmlformats.org/drawingml/2006/main">
              <a:ext uri="{FF2B5EF4-FFF2-40B4-BE49-F238E27FC236}">
                <a16:creationId xmlns:a16="http://schemas.microsoft.com/office/drawing/2014/main" id="{FF23E8E6-41C6-4AEA-B8CA-F79DB5C9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248150"/>
            <a:ext cx="9525" cy="2609850"/>
          </a:xfrm>
          <a:custGeom xmlns:a="http://schemas.openxmlformats.org/drawingml/2006/main">
            <a:pathLst>
              <a:path w="9525" h="2609850">
                <a:moveTo>
                  <a:pt x="0" y="26098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FFFFF"/>
            </a:solidFill>
          </a:ln>
        </p:spPr>
      </p:sp>
      <p:sp>
        <p:nvSpPr>
          <p:cNvPr id="43" name="orthogonal-151">
            <a:extLst xmlns:a="http://schemas.openxmlformats.org/drawingml/2006/main">
              <a:ext uri="{FF2B5EF4-FFF2-40B4-BE49-F238E27FC236}">
                <a16:creationId xmlns:a16="http://schemas.microsoft.com/office/drawing/2014/main" id="{EE8D1BF3-18AC-4E28-8D20-955C2FF3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248150"/>
            <a:ext cx="9525" cy="2609850"/>
          </a:xfrm>
          <a:custGeom xmlns:a="http://schemas.openxmlformats.org/drawingml/2006/main">
            <a:pathLst>
              <a:path w="9525" h="2609850">
                <a:moveTo>
                  <a:pt x="0" y="26098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803D"/>
            </a:solidFill>
          </a:ln>
        </p:spPr>
      </p:sp>
      <p:sp>
        <p:nvSpPr>
          <p:cNvPr id="44" name="orthogonal-152">
            <a:extLst xmlns:a="http://schemas.openxmlformats.org/drawingml/2006/main">
              <a:ext uri="{FF2B5EF4-FFF2-40B4-BE49-F238E27FC236}">
                <a16:creationId xmlns:a16="http://schemas.microsoft.com/office/drawing/2014/main" id="{DDBA2A33-7F1B-4D8E-9A89-0E0454BF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248150"/>
            <a:ext cx="133350" cy="190500"/>
          </a:xfrm>
          <a:custGeom xmlns:a="http://schemas.openxmlformats.org/drawingml/2006/main">
            <a:pathLst>
              <a:path w="133350" h="190500">
                <a:moveTo>
                  <a:pt x="66675" y="190500"/>
                </a:moveTo>
                <a:lnTo>
                  <a:pt x="66675" y="0"/>
                </a:lnTo>
                <a:lnTo>
                  <a:pt x="0" y="114300"/>
                </a:lnTo>
                <a:lnTo>
                  <a:pt x="66675" y="0"/>
                </a:lnTo>
                <a:lnTo>
                  <a:pt x="13335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803D"/>
            </a:solidFill>
          </a:ln>
        </p:spPr>
      </p:sp>
      <p:sp>
        <p:nvSpPr>
          <p:cNvPr id="45" name="rfid-153">
            <a:extLst xmlns:a="http://schemas.openxmlformats.org/drawingml/2006/main">
              <a:ext uri="{FF2B5EF4-FFF2-40B4-BE49-F238E27FC236}">
                <a16:creationId xmlns:a16="http://schemas.microsoft.com/office/drawing/2014/main" id="{6585B0DB-E810-481E-B8A7-DCCC5170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800725"/>
            <a:ext cx="2181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803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5803D"/>
                </a:solidFill>
                <a:latin typeface="Tahoma"/>
                <a:ea typeface="Tahoma"/>
                <a:cs typeface="Tahoma"/>
              </a:rPr>
              <a:t>LO = 0</a:t>
            </a:r>
          </a:p>
          <a:p xmlns:a="http://schemas.openxmlformats.org/drawingml/2006/main">
            <a:pPr algn="l">
              <a:defRPr sz="1650" b="0">
                <a:solidFill>
                  <a:srgbClr val="15803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5803D"/>
                </a:solidFill>
                <a:latin typeface="Tahoma"/>
                <a:ea typeface="Tahoma"/>
                <a:cs typeface="Tahoma"/>
              </a:rPr>
              <a:t>rfid_seen = 0</a:t>
            </a:r>
          </a:p>
        </p:txBody>
      </p:sp>
      <p:sp>
        <p:nvSpPr>
          <p:cNvPr id="46" name="rfid-154">
            <a:extLst xmlns:a="http://schemas.openxmlformats.org/drawingml/2006/main">
              <a:ext uri="{FF2B5EF4-FFF2-40B4-BE49-F238E27FC236}">
                <a16:creationId xmlns:a16="http://schemas.microsoft.com/office/drawing/2014/main" id="{FD1A6F83-0C13-4CFF-AEE8-9FA879C2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96000"/>
            <a:ext cx="400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OPEN_EVT และ CLOSE_EVT</a:t>
            </a:r>
          </a:p>
          <a:p xmlns:a="http://schemas.openxmlformats.org/drawingml/2006/main">
            <a:pPr algn="l">
              <a:defRPr sz="17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คือการกดครั้งใหม่ หลังปล่อยปุ่ม</a:t>
            </a:r>
          </a:p>
          <a:p xmlns:a="http://schemas.openxmlformats.org/drawingml/2006/main">
            <a:pPr algn="l">
              <a:defRPr sz="172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และกรองสัญญาณ 20 ms</a:t>
            </a:r>
          </a:p>
        </p:txBody>
      </p:sp>
      <p:sp>
        <p:nvSpPr>
          <p:cNvPr id="47" name="rfid-155">
            <a:extLst xmlns:a="http://schemas.openxmlformats.org/drawingml/2006/main">
              <a:ext uri="{FF2B5EF4-FFF2-40B4-BE49-F238E27FC236}">
                <a16:creationId xmlns:a16="http://schemas.microsoft.com/office/drawing/2014/main" id="{EAFAE626-E39E-467B-BDC3-74865E81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82075"/>
            <a:ext cx="1557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ทุกสถานะ: E-stop ตัด EN โดยฮาร์ดแวร์   ลิมิตขัดแย้งหรือเดินทางเกิน 5 s ให้หยุดและรอรีเซ็ต</a:t>
            </a:r>
          </a:p>
        </p:txBody>
      </p:sp>
    </p:spTree>
    <p:extLst>
      <p:ext uri="{BB962C8B-B14F-4D97-AF65-F5344CB8AC3E}">
        <p14:creationId xmlns:p14="http://schemas.microsoft.com/office/powerpoint/2010/main" val="11360912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fid-156">
            <a:extLst xmlns:a="http://schemas.openxmlformats.org/drawingml/2006/main">
              <a:ext uri="{FF2B5EF4-FFF2-40B4-BE49-F238E27FC236}">
                <a16:creationId xmlns:a16="http://schemas.microsoft.com/office/drawing/2014/main" id="{038869E0-4589-4AAD-B61E-56D8603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ตารางเอาต์พุตของแต่ละสถานะ</a:t>
            </a:r>
          </a:p>
        </p:txBody>
      </p:sp>
      <p:sp>
        <p:nvSpPr>
          <p:cNvPr id="2" name="rfid-157">
            <a:extLst xmlns:a="http://schemas.openxmlformats.org/drawingml/2006/main">
              <a:ext uri="{FF2B5EF4-FFF2-40B4-BE49-F238E27FC236}">
                <a16:creationId xmlns:a16="http://schemas.microsoft.com/office/drawing/2014/main" id="{7D897D45-3B16-4FCD-9CF8-A3A7FC50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ค่า 0 และ 1 ในตารางคือระดับที่ขา P1 ส่วนไฟทุกดวงติดเมื่อขาเป็น 0</a:t>
            </a:r>
          </a:p>
        </p:txBody>
      </p:sp>
      <p:sp>
        <p:nvSpPr>
          <p:cNvPr id="3" name="rfid-158">
            <a:extLst xmlns:a="http://schemas.openxmlformats.org/drawingml/2006/main">
              <a:ext uri="{FF2B5EF4-FFF2-40B4-BE49-F238E27FC236}">
                <a16:creationId xmlns:a16="http://schemas.microsoft.com/office/drawing/2014/main" id="{52E827AB-0238-4268-92DF-01E43EB1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159">
            <a:extLst xmlns:a="http://schemas.openxmlformats.org/drawingml/2006/main">
              <a:ext uri="{FF2B5EF4-FFF2-40B4-BE49-F238E27FC236}">
                <a16:creationId xmlns:a16="http://schemas.microsoft.com/office/drawing/2014/main" id="{CFA19900-A6D5-43DB-9373-033A82B2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990600" y="2743200"/>
          <a:ext xmlns:a="http://schemas.openxmlformats.org/drawingml/2006/main" cx="16306800" cy="548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98936"/>
                <a:gridCol w="1820859"/>
                <a:gridCol w="1315065"/>
                <a:gridCol w="1315065"/>
                <a:gridCol w="1719700"/>
                <a:gridCol w="1689352"/>
                <a:gridCol w="1689352"/>
                <a:gridCol w="1689352"/>
                <a:gridCol w="1669120"/>
              </a:tblGrid>
              <a:tr h="6858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สถานะ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เพลา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IN1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IN2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RUN_N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RED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RFID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P1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</a:tr>
              <a:tr h="6858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STOP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ECH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OPENING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CW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D9H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OPEN_HOLD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STOP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DCH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CCW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EAH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REV_WAIT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Coast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REOPENING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CW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D9H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RFID_HOLD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STOP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BCH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fid-160">
            <a:extLst xmlns:a="http://schemas.openxmlformats.org/drawingml/2006/main">
              <a:ext uri="{FF2B5EF4-FFF2-40B4-BE49-F238E27FC236}">
                <a16:creationId xmlns:a16="http://schemas.microsoft.com/office/drawing/2014/main" id="{42AF12B0-FFED-4ECC-B7FE-38B31746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439150"/>
            <a:ext cx="7429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P1.3 = 1   P1.7 = 1</a:t>
            </a:r>
          </a:p>
        </p:txBody>
      </p:sp>
      <p:sp>
        <p:nvSpPr>
          <p:cNvPr id="7" name="rfid-161">
            <a:extLst xmlns:a="http://schemas.openxmlformats.org/drawingml/2006/main">
              <a:ext uri="{FF2B5EF4-FFF2-40B4-BE49-F238E27FC236}">
                <a16:creationId xmlns:a16="http://schemas.microsoft.com/office/drawing/2014/main" id="{51764764-038B-4152-AF51-57010713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439150"/>
            <a:ext cx="7715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STOP และ Coast ใช้ EN = 0</a:t>
            </a:r>
          </a:p>
        </p:txBody>
      </p:sp>
    </p:spTree>
    <p:extLst>
      <p:ext uri="{BB962C8B-B14F-4D97-AF65-F5344CB8AC3E}">
        <p14:creationId xmlns:p14="http://schemas.microsoft.com/office/powerpoint/2010/main" val="9833837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fid-162">
            <a:extLst xmlns:a="http://schemas.openxmlformats.org/drawingml/2006/main">
              <a:ext uri="{FF2B5EF4-FFF2-40B4-BE49-F238E27FC236}">
                <a16:creationId xmlns:a16="http://schemas.microsoft.com/office/drawing/2014/main" id="{3FA6B365-45CA-4503-A606-8C5E483F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เหตุการณ์และเงื่อนไขเปลี่ยนสถานะ</a:t>
            </a:r>
          </a:p>
        </p:txBody>
      </p:sp>
      <p:sp>
        <p:nvSpPr>
          <p:cNvPr id="2" name="rfid-163">
            <a:extLst xmlns:a="http://schemas.openxmlformats.org/drawingml/2006/main">
              <a:ext uri="{FF2B5EF4-FFF2-40B4-BE49-F238E27FC236}">
                <a16:creationId xmlns:a16="http://schemas.microsoft.com/office/drawing/2014/main" id="{92D20AA6-51A4-48C6-863D-0D8412BE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P2 เป็นอินพุต จึงไม่มีค่าคงที่หนึ่งไบต์ประจำสถานะ ต้องอ่านแต่ละบิตตามเงื่อนไข</a:t>
            </a:r>
          </a:p>
        </p:txBody>
      </p:sp>
      <p:sp>
        <p:nvSpPr>
          <p:cNvPr id="3" name="rfid-164">
            <a:extLst xmlns:a="http://schemas.openxmlformats.org/drawingml/2006/main">
              <a:ext uri="{FF2B5EF4-FFF2-40B4-BE49-F238E27FC236}">
                <a16:creationId xmlns:a16="http://schemas.microsoft.com/office/drawing/2014/main" id="{D9113214-FFD0-44E0-9F09-F863886C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165">
            <a:extLst xmlns:a="http://schemas.openxmlformats.org/drawingml/2006/main">
              <a:ext uri="{FF2B5EF4-FFF2-40B4-BE49-F238E27FC236}">
                <a16:creationId xmlns:a16="http://schemas.microsoft.com/office/drawing/2014/main" id="{869A431F-809D-4E32-AEB3-E9FED8AC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90600" y="2571750"/>
          <a:ext xmlns:a="http://schemas.openxmlformats.org/drawingml/2006/main" cx="1630680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8610600"/>
                <a:gridCol w="4171950"/>
              </a:tblGrid>
              <a:tr h="581025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สถานะเดิม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เหตุการณ์หรือ Guard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สถานะถัดไป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</a:tr>
              <a:tr h="581025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OPEN_EVT จาก P2.0 หรือ P2.1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OPENING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OPENING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LO = 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OPEN_HOLD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81025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OPEN_HOLD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CLOSE_EVT ใหม่ และ RFID_DET =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RFID_DET = 0 หรือ OPEN_EVT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REV_WAIT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81025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LC = 0 และไม่มีเหตุเปิดกลับ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REV_WAIT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เวลาพักครบอย่างน้อย 200 ms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REOPENING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81025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REOPENING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LO = 0 และ rfid_seen =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RFID_HOLD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REOPENING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LO = 0 และ rfid_seen = 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OPEN_HOLD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81025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RFID_HOLD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CLOSE_EVT ใหม่ และ RFID_DET =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fid-166">
            <a:extLst xmlns:a="http://schemas.openxmlformats.org/drawingml/2006/main">
              <a:ext uri="{FF2B5EF4-FFF2-40B4-BE49-F238E27FC236}">
                <a16:creationId xmlns:a16="http://schemas.microsoft.com/office/drawing/2014/main" id="{593D86AE-4323-4C85-95A7-8782171D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82075"/>
            <a:ext cx="1557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คำสั่งปิดยังต้องมี OPEN ทั้งสองปุ่มปล่อยอยู่ และระบบไม่อยู่ใน fault</a:t>
            </a:r>
          </a:p>
        </p:txBody>
      </p:sp>
    </p:spTree>
    <p:extLst>
      <p:ext uri="{BB962C8B-B14F-4D97-AF65-F5344CB8AC3E}">
        <p14:creationId xmlns:p14="http://schemas.microsoft.com/office/powerpoint/2010/main" val="1715759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fid-167">
            <a:extLst xmlns:a="http://schemas.openxmlformats.org/drawingml/2006/main">
              <a:ext uri="{FF2B5EF4-FFF2-40B4-BE49-F238E27FC236}">
                <a16:creationId xmlns:a16="http://schemas.microsoft.com/office/drawing/2014/main" id="{CACE3280-0F0E-448A-BCD2-B0BFD26C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เวลาควบคุมและการหยุดฉุกเฉิน</a:t>
            </a:r>
          </a:p>
        </p:txBody>
      </p:sp>
      <p:sp>
        <p:nvSpPr>
          <p:cNvPr id="2" name="rfid-168">
            <a:extLst xmlns:a="http://schemas.openxmlformats.org/drawingml/2006/main">
              <a:ext uri="{FF2B5EF4-FFF2-40B4-BE49-F238E27FC236}">
                <a16:creationId xmlns:a16="http://schemas.microsoft.com/office/drawing/2014/main" id="{1C54CF1B-5A1A-4408-BBEB-7D9B3B61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AT89S52 แบบ 12T ที่ 12.000 MHz มี machine cycle เท่ากับ 1.0 µs</a:t>
            </a:r>
          </a:p>
        </p:txBody>
      </p:sp>
      <p:sp>
        <p:nvSpPr>
          <p:cNvPr id="3" name="rfid-169">
            <a:extLst xmlns:a="http://schemas.openxmlformats.org/drawingml/2006/main">
              <a:ext uri="{FF2B5EF4-FFF2-40B4-BE49-F238E27FC236}">
                <a16:creationId xmlns:a16="http://schemas.microsoft.com/office/drawing/2014/main" id="{4D217F37-80FE-4558-836A-B565D8A1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170">
            <a:extLst xmlns:a="http://schemas.openxmlformats.org/drawingml/2006/main">
              <a:ext uri="{FF2B5EF4-FFF2-40B4-BE49-F238E27FC236}">
                <a16:creationId xmlns:a16="http://schemas.microsoft.com/office/drawing/2014/main" id="{C1C4FA83-1F5E-4934-807A-CCBA4DB6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5" name="rfid-171">
            <a:extLst xmlns:a="http://schemas.openxmlformats.org/drawingml/2006/main">
              <a:ext uri="{FF2B5EF4-FFF2-40B4-BE49-F238E27FC236}">
                <a16:creationId xmlns:a16="http://schemas.microsoft.com/office/drawing/2014/main" id="{B9133A50-301E-4D78-91F7-84AE06F8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4875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20 ms</a:t>
            </a:r>
          </a:p>
        </p:txBody>
      </p:sp>
      <p:sp>
        <p:nvSpPr>
          <p:cNvPr id="6" name="rfid-172">
            <a:extLst xmlns:a="http://schemas.openxmlformats.org/drawingml/2006/main">
              <a:ext uri="{FF2B5EF4-FFF2-40B4-BE49-F238E27FC236}">
                <a16:creationId xmlns:a16="http://schemas.microsoft.com/office/drawing/2014/main" id="{16DB6CC8-71F2-4307-B07B-5E43FB7D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338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กรองปุ่ม</a:t>
            </a:r>
          </a:p>
        </p:txBody>
      </p:sp>
      <p:sp>
        <p:nvSpPr>
          <p:cNvPr id="7" name="rfid-173">
            <a:extLst xmlns:a="http://schemas.openxmlformats.org/drawingml/2006/main">
              <a:ext uri="{FF2B5EF4-FFF2-40B4-BE49-F238E27FC236}">
                <a16:creationId xmlns:a16="http://schemas.microsoft.com/office/drawing/2014/main" id="{67A6B12B-26F4-41D6-A611-B8AB1623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นับเฉพาะระดับคงที่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สร้างเหตุการณ์หนึ่งครั้งต่อการกด</a:t>
            </a:r>
          </a:p>
        </p:txBody>
      </p:sp>
      <p:sp>
        <p:nvSpPr>
          <p:cNvPr id="8" name="rfid-174">
            <a:extLst xmlns:a="http://schemas.openxmlformats.org/drawingml/2006/main">
              <a:ext uri="{FF2B5EF4-FFF2-40B4-BE49-F238E27FC236}">
                <a16:creationId xmlns:a16="http://schemas.microsoft.com/office/drawing/2014/main" id="{129251A9-6B7C-45ED-944A-2DE666DE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4875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200 ms</a:t>
            </a:r>
          </a:p>
        </p:txBody>
      </p:sp>
      <p:sp>
        <p:nvSpPr>
          <p:cNvPr id="9" name="rfid-175">
            <a:extLst xmlns:a="http://schemas.openxmlformats.org/drawingml/2006/main">
              <a:ext uri="{FF2B5EF4-FFF2-40B4-BE49-F238E27FC236}">
                <a16:creationId xmlns:a16="http://schemas.microsoft.com/office/drawing/2014/main" id="{18DB88E3-2953-4FF5-8167-D46744E5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338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พักก่อนกลับทิศ</a:t>
            </a:r>
          </a:p>
        </p:txBody>
      </p:sp>
      <p:sp>
        <p:nvSpPr>
          <p:cNvPr id="10" name="rfid-176">
            <a:extLst xmlns:a="http://schemas.openxmlformats.org/drawingml/2006/main">
              <a:ext uri="{FF2B5EF4-FFF2-40B4-BE49-F238E27FC236}">
                <a16:creationId xmlns:a16="http://schemas.microsoft.com/office/drawing/2014/main" id="{F363FF2C-AF6A-446D-8EB2-7B9FB188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RUN_N = 1 ตลอดช่วงพัก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ยังอ่าน RFID และ E-stop</a:t>
            </a:r>
          </a:p>
        </p:txBody>
      </p:sp>
      <p:sp>
        <p:nvSpPr>
          <p:cNvPr id="11" name="rfid-177">
            <a:extLst xmlns:a="http://schemas.openxmlformats.org/drawingml/2006/main">
              <a:ext uri="{FF2B5EF4-FFF2-40B4-BE49-F238E27FC236}">
                <a16:creationId xmlns:a16="http://schemas.microsoft.com/office/drawing/2014/main" id="{5EA298C8-85F9-4B0F-9146-6D87E3B5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752725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4875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5 s</a:t>
            </a:r>
          </a:p>
        </p:txBody>
      </p:sp>
      <p:sp>
        <p:nvSpPr>
          <p:cNvPr id="12" name="rfid-178">
            <a:extLst xmlns:a="http://schemas.openxmlformats.org/drawingml/2006/main">
              <a:ext uri="{FF2B5EF4-FFF2-40B4-BE49-F238E27FC236}">
                <a16:creationId xmlns:a16="http://schemas.microsoft.com/office/drawing/2014/main" id="{10569C5F-A1DF-4EE2-A46D-312DBF4B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9338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จำกัดเวลาวิ่ง</a:t>
            </a:r>
          </a:p>
        </p:txBody>
      </p:sp>
      <p:sp>
        <p:nvSpPr>
          <p:cNvPr id="13" name="rfid-179">
            <a:extLst xmlns:a="http://schemas.openxmlformats.org/drawingml/2006/main">
              <a:ext uri="{FF2B5EF4-FFF2-40B4-BE49-F238E27FC236}">
                <a16:creationId xmlns:a16="http://schemas.microsoft.com/office/drawing/2014/main" id="{AAFA7901-9CC8-427D-A45A-6FD60A4E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70535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เกินเวลาแล้วตัดแรงขับ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รอคนตรวจและกดรีเซ็ต</a:t>
            </a:r>
          </a:p>
        </p:txBody>
      </p:sp>
      <p:sp>
        <p:nvSpPr>
          <p:cNvPr id="14" name="rfid-180">
            <a:extLst xmlns:a="http://schemas.openxmlformats.org/drawingml/2006/main">
              <a:ext uri="{FF2B5EF4-FFF2-40B4-BE49-F238E27FC236}">
                <a16:creationId xmlns:a16="http://schemas.microsoft.com/office/drawing/2014/main" id="{8D77E5B3-9BDA-44B6-A190-8782C7A7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81725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5" name="rfid-181">
            <a:extLst xmlns:a="http://schemas.openxmlformats.org/drawingml/2006/main">
              <a:ext uri="{FF2B5EF4-FFF2-40B4-BE49-F238E27FC236}">
                <a16:creationId xmlns:a16="http://schemas.microsoft.com/office/drawing/2014/main" id="{DC3FFC39-E65C-464C-90C2-87BAE691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96075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Timer 0 Mode 1</a:t>
            </a:r>
          </a:p>
        </p:txBody>
      </p:sp>
      <p:sp>
        <p:nvSpPr>
          <p:cNvPr id="16" name="rfid-182">
            <a:extLst xmlns:a="http://schemas.openxmlformats.org/drawingml/2006/main">
              <a:ext uri="{FF2B5EF4-FFF2-40B4-BE49-F238E27FC236}">
                <a16:creationId xmlns:a16="http://schemas.microsoft.com/office/drawing/2014/main" id="{B0C42FB2-F2E6-4573-AA37-71D63E7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39025"/>
            <a:ext cx="7239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225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65536 − 1000 = FC18H</a:t>
            </a:r>
          </a:p>
          <a:p xmlns:a="http://schemas.openxmlformats.org/drawingml/2006/main">
            <a:pPr algn="l">
              <a:defRPr sz="225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225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TH0 = FCH   TL0 = 18H</a:t>
            </a:r>
          </a:p>
        </p:txBody>
      </p:sp>
      <p:sp>
        <p:nvSpPr>
          <p:cNvPr id="17" name="rfid-183">
            <a:extLst xmlns:a="http://schemas.openxmlformats.org/drawingml/2006/main">
              <a:ext uri="{FF2B5EF4-FFF2-40B4-BE49-F238E27FC236}">
                <a16:creationId xmlns:a16="http://schemas.microsoft.com/office/drawing/2014/main" id="{39EB797C-C46F-4A48-B478-41EB67F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772275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E-stop มี 2 หน้าสัมผัส NC</a:t>
            </a:r>
          </a:p>
          <a:p xmlns:a="http://schemas.openxmlformats.org/drawingml/2006/main">
            <a:pPr algn="l">
              <a:defRPr sz="225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NC1 ตัด EN   NC2 แจ้ง P2.7</a:t>
            </a:r>
          </a:p>
          <a:p xmlns:a="http://schemas.openxmlformats.org/drawingml/2006/main">
            <a:pPr algn="l">
              <a:defRPr sz="225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ปลดปุ่มแล้วต้องรีเซ็ตด้วยมือ</a:t>
            </a:r>
          </a:p>
        </p:txBody>
      </p:sp>
      <p:sp>
        <p:nvSpPr>
          <p:cNvPr id="18" name="rfid-184">
            <a:extLst xmlns:a="http://schemas.openxmlformats.org/drawingml/2006/main">
              <a:ext uri="{FF2B5EF4-FFF2-40B4-BE49-F238E27FC236}">
                <a16:creationId xmlns:a16="http://schemas.microsoft.com/office/drawing/2014/main" id="{3B2278FE-27F7-4787-8936-E77283FB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82075"/>
            <a:ext cx="1557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ไม่มีตัวนับ 3 วินาทีเพื่อปิดประตู และ 200 ms ไม่ใช่ผลวัดว่าเพลาหยุดสนิท</a:t>
            </a:r>
          </a:p>
        </p:txBody>
      </p:sp>
    </p:spTree>
    <p:extLst>
      <p:ext uri="{BB962C8B-B14F-4D97-AF65-F5344CB8AC3E}">
        <p14:creationId xmlns:p14="http://schemas.microsoft.com/office/powerpoint/2010/main" val="8866370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fid-185">
            <a:extLst xmlns:a="http://schemas.openxmlformats.org/drawingml/2006/main">
              <a:ext uri="{FF2B5EF4-FFF2-40B4-BE49-F238E27FC236}">
                <a16:creationId xmlns:a16="http://schemas.microsoft.com/office/drawing/2014/main" id="{537864FD-08E3-4280-BFF2-0BBB4651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RFID_HOLD รับเฉพาะการกดปิดครั้งใหม่</a:t>
            </a:r>
          </a:p>
        </p:txBody>
      </p:sp>
      <p:sp>
        <p:nvSpPr>
          <p:cNvPr id="2" name="rfid-186">
            <a:extLst xmlns:a="http://schemas.openxmlformats.org/drawingml/2006/main">
              <a:ext uri="{FF2B5EF4-FFF2-40B4-BE49-F238E27FC236}">
                <a16:creationId xmlns:a16="http://schemas.microsoft.com/office/drawing/2014/main" id="{0967BE1D-E39D-44D5-8F4D-D556E481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ไฟส้มติดค้างจนคำสั่งปิดผ่านเงื่อนไขทั้งหมด</a:t>
            </a:r>
          </a:p>
        </p:txBody>
      </p:sp>
      <p:sp>
        <p:nvSpPr>
          <p:cNvPr id="3" name="rfid-187">
            <a:extLst xmlns:a="http://schemas.openxmlformats.org/drawingml/2006/main">
              <a:ext uri="{FF2B5EF4-FFF2-40B4-BE49-F238E27FC236}">
                <a16:creationId xmlns:a16="http://schemas.microsoft.com/office/drawing/2014/main" id="{58B9FE75-F367-49D5-8F45-BAF00A65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188">
            <a:extLst xmlns:a="http://schemas.openxmlformats.org/drawingml/2006/main">
              <a:ext uri="{FF2B5EF4-FFF2-40B4-BE49-F238E27FC236}">
                <a16:creationId xmlns:a16="http://schemas.microsoft.com/office/drawing/2014/main" id="{87189513-4F5F-4720-B79B-FD317DE8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5" name="rfid-189">
            <a:extLst xmlns:a="http://schemas.openxmlformats.org/drawingml/2006/main">
              <a:ext uri="{FF2B5EF4-FFF2-40B4-BE49-F238E27FC236}">
                <a16:creationId xmlns:a16="http://schemas.microsoft.com/office/drawing/2014/main" id="{EBCD3161-9A9D-48F1-93F7-CD254172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7429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1  เข้าสู่ RFID_HOLD</a:t>
            </a:r>
          </a:p>
        </p:txBody>
      </p:sp>
      <p:sp>
        <p:nvSpPr>
          <p:cNvPr id="6" name="rfid-190">
            <a:extLst xmlns:a="http://schemas.openxmlformats.org/drawingml/2006/main">
              <a:ext uri="{FF2B5EF4-FFF2-40B4-BE49-F238E27FC236}">
                <a16:creationId xmlns:a16="http://schemas.microsoft.com/office/drawing/2014/main" id="{111DE6FA-B0AF-4B34-B03E-583F77A8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742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เพลา STOP และไฟส้มติด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ล้างคำสั่งปิดที่เกิดก่อนหน้านี้</a:t>
            </a:r>
          </a:p>
        </p:txBody>
      </p:sp>
      <p:sp>
        <p:nvSpPr>
          <p:cNvPr id="7" name="rfid-191">
            <a:extLst xmlns:a="http://schemas.openxmlformats.org/drawingml/2006/main">
              <a:ext uri="{FF2B5EF4-FFF2-40B4-BE49-F238E27FC236}">
                <a16:creationId xmlns:a16="http://schemas.microsoft.com/office/drawing/2014/main" id="{15EA2DE2-10B9-4627-A769-867FAF8B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62250"/>
            <a:ext cx="773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2  ปล่อยปุ่มก่อน</a:t>
            </a:r>
          </a:p>
        </p:txBody>
      </p:sp>
      <p:sp>
        <p:nvSpPr>
          <p:cNvPr id="8" name="rfid-192">
            <a:extLst xmlns:a="http://schemas.openxmlformats.org/drawingml/2006/main">
              <a:ext uri="{FF2B5EF4-FFF2-40B4-BE49-F238E27FC236}">
                <a16:creationId xmlns:a16="http://schemas.microsoft.com/office/drawing/2014/main" id="{EECED6D6-BC45-4779-8269-F1C43444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71850"/>
            <a:ext cx="7734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PB_CLOSE = 1 คงที่อย่างน้อย 20 ms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จึงพร้อมรับการกดครั้งใหม่</a:t>
            </a:r>
          </a:p>
        </p:txBody>
      </p:sp>
      <p:sp>
        <p:nvSpPr>
          <p:cNvPr id="9" name="rfid-193">
            <a:extLst xmlns:a="http://schemas.openxmlformats.org/drawingml/2006/main">
              <a:ext uri="{FF2B5EF4-FFF2-40B4-BE49-F238E27FC236}">
                <a16:creationId xmlns:a16="http://schemas.microsoft.com/office/drawing/2014/main" id="{3E313930-CC32-43D2-AE6B-9CD960A4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3125"/>
            <a:ext cx="7429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3  คนตรวจทางผ่านแล้วกดใหม่</a:t>
            </a:r>
          </a:p>
        </p:txBody>
      </p:sp>
      <p:sp>
        <p:nvSpPr>
          <p:cNvPr id="10" name="rfid-194">
            <a:extLst xmlns:a="http://schemas.openxmlformats.org/drawingml/2006/main">
              <a:ext uri="{FF2B5EF4-FFF2-40B4-BE49-F238E27FC236}">
                <a16:creationId xmlns:a16="http://schemas.microsoft.com/office/drawing/2014/main" id="{0F30AB14-806A-4883-921A-C0BCD7EA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62725"/>
            <a:ext cx="742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PB_CLOSE = 0 คงที่ 20 ms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RFID_DET = 1 และปล่อยปุ่มเปิดทั้งสอง</a:t>
            </a:r>
          </a:p>
        </p:txBody>
      </p:sp>
      <p:sp>
        <p:nvSpPr>
          <p:cNvPr id="11" name="rfid-195">
            <a:extLst xmlns:a="http://schemas.openxmlformats.org/drawingml/2006/main">
              <a:ext uri="{FF2B5EF4-FFF2-40B4-BE49-F238E27FC236}">
                <a16:creationId xmlns:a16="http://schemas.microsoft.com/office/drawing/2014/main" id="{C7F857CD-2F56-4830-86BF-6BA7FEE6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953125"/>
            <a:ext cx="773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4  ยอมให้เข้าสู่ CLOSING</a:t>
            </a:r>
          </a:p>
        </p:txBody>
      </p:sp>
      <p:sp>
        <p:nvSpPr>
          <p:cNvPr id="12" name="rfid-196">
            <a:extLst xmlns:a="http://schemas.openxmlformats.org/drawingml/2006/main">
              <a:ext uri="{FF2B5EF4-FFF2-40B4-BE49-F238E27FC236}">
                <a16:creationId xmlns:a16="http://schemas.microsoft.com/office/drawing/2014/main" id="{99693AC3-5FFD-45A8-AA70-FDB007A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562725"/>
            <a:ext cx="7734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ไฟส้มดับ ไฟแดงติด เพลาหมุน CCW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พบแท็กอีกครั้งให้หยุดและเปิดกลับอีกครั้ง</a:t>
            </a:r>
          </a:p>
        </p:txBody>
      </p:sp>
      <p:sp>
        <p:nvSpPr>
          <p:cNvPr id="13" name="rfid-197">
            <a:extLst xmlns:a="http://schemas.openxmlformats.org/drawingml/2006/main">
              <a:ext uri="{FF2B5EF4-FFF2-40B4-BE49-F238E27FC236}">
                <a16:creationId xmlns:a16="http://schemas.microsoft.com/office/drawing/2014/main" id="{129A00C3-43C8-4D3D-A467-C8D07A4B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82075"/>
            <a:ext cx="1557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กดค้างไว้ตอนยังมีแท็ก แล้วแท็กหายไป: ประตูยังค้างเปิด</a:t>
            </a:r>
          </a:p>
        </p:txBody>
      </p:sp>
    </p:spTree>
    <p:extLst>
      <p:ext uri="{BB962C8B-B14F-4D97-AF65-F5344CB8AC3E}">
        <p14:creationId xmlns:p14="http://schemas.microsoft.com/office/powerpoint/2010/main" val="1160303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fid-198">
            <a:extLst xmlns:a="http://schemas.openxmlformats.org/drawingml/2006/main">
              <a:ext uri="{FF2B5EF4-FFF2-40B4-BE49-F238E27FC236}">
                <a16:creationId xmlns:a16="http://schemas.microsoft.com/office/drawing/2014/main" id="{1A2E9BE8-0232-42A9-AD87-B9666F93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ตัวอย่างลอจิก 8051 ขณะกำลังปิด</a:t>
            </a:r>
          </a:p>
        </p:txBody>
      </p:sp>
      <p:sp>
        <p:nvSpPr>
          <p:cNvPr id="2" name="rfid-199">
            <a:extLst xmlns:a="http://schemas.openxmlformats.org/drawingml/2006/main">
              <a:ext uri="{FF2B5EF4-FFF2-40B4-BE49-F238E27FC236}">
                <a16:creationId xmlns:a16="http://schemas.microsoft.com/office/drawing/2014/main" id="{1DFBF817-7E90-484B-ADF1-4517AB2D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ตัวอย่างส่วนตัดแรงขับ ไม่ใช่เฟิร์มแวร์ฉบับสมบูรณ์ที่ผ่านการจำลองแล้ว</a:t>
            </a:r>
          </a:p>
        </p:txBody>
      </p:sp>
      <p:sp>
        <p:nvSpPr>
          <p:cNvPr id="3" name="rfid-200">
            <a:extLst xmlns:a="http://schemas.openxmlformats.org/drawingml/2006/main">
              <a:ext uri="{FF2B5EF4-FFF2-40B4-BE49-F238E27FC236}">
                <a16:creationId xmlns:a16="http://schemas.microsoft.com/office/drawing/2014/main" id="{B27A5EB3-2A8D-4C39-9D88-7DA004A6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201">
            <a:extLst xmlns:a="http://schemas.openxmlformats.org/drawingml/2006/main">
              <a:ext uri="{FF2B5EF4-FFF2-40B4-BE49-F238E27FC236}">
                <a16:creationId xmlns:a16="http://schemas.microsoft.com/office/drawing/2014/main" id="{E5949B3A-7B07-404A-8C9F-EB9055F1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5" name="rfid-202">
            <a:extLst xmlns:a="http://schemas.openxmlformats.org/drawingml/2006/main">
              <a:ext uri="{FF2B5EF4-FFF2-40B4-BE49-F238E27FC236}">
                <a16:creationId xmlns:a16="http://schemas.microsoft.com/office/drawing/2014/main" id="{565E8449-628A-4E22-98C5-2E1CD4BF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533650"/>
            <a:ext cx="10334625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6" name="rfid-203">
            <a:extLst xmlns:a="http://schemas.openxmlformats.org/drawingml/2006/main">
              <a:ext uri="{FF2B5EF4-FFF2-40B4-BE49-F238E27FC236}">
                <a16:creationId xmlns:a16="http://schemas.microsoft.com/office/drawing/2014/main" id="{ECC88574-0E28-4FC9-B727-4276FCB0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52006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CLOSING</a:t>
            </a:r>
          </a:p>
          <a:p xmlns:a="http://schemas.openxmlformats.org/drawingml/2006/main">
            <a:pPr algn="l">
              <a:defRPr sz="27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P1 = EAH</a:t>
            </a:r>
          </a:p>
          <a:p xmlns:a="http://schemas.openxmlformats.org/drawingml/2006/main">
            <a:pPr algn="l">
              <a:defRPr sz="27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เพลา CCW</a:t>
            </a:r>
          </a:p>
        </p:txBody>
      </p:sp>
      <p:sp>
        <p:nvSpPr>
          <p:cNvPr id="7" name="rfid-204">
            <a:extLst xmlns:a="http://schemas.openxmlformats.org/drawingml/2006/main">
              <a:ext uri="{FF2B5EF4-FFF2-40B4-BE49-F238E27FC236}">
                <a16:creationId xmlns:a16="http://schemas.microsoft.com/office/drawing/2014/main" id="{01BE2AAD-D9EA-418B-98B9-60B84B1B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91125"/>
            <a:ext cx="522922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เมื่อ RFID_DET = 0</a:t>
            </a:r>
          </a:p>
          <a:p xmlns:a="http://schemas.openxmlformats.org/drawingml/2006/main">
            <a:pPr algn="l">
              <a:defRPr sz="22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ตัด EN ก่อนเปลี่ยนทิศทาง</a:t>
            </a:r>
          </a:p>
          <a:p xmlns:a="http://schemas.openxmlformats.org/drawingml/2006/main">
            <a:pPr algn="l">
              <a:defRPr sz="22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แล้วเข้าพัก REV_WAIT</a:t>
            </a:r>
          </a:p>
        </p:txBody>
      </p:sp>
      <p:sp>
        <p:nvSpPr>
          <p:cNvPr id="8" name="rfid-205">
            <a:extLst xmlns:a="http://schemas.openxmlformats.org/drawingml/2006/main">
              <a:ext uri="{FF2B5EF4-FFF2-40B4-BE49-F238E27FC236}">
                <a16:creationId xmlns:a16="http://schemas.microsoft.com/office/drawing/2014/main" id="{2B7737A4-9558-4A22-8E6F-C146BCFA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0"/>
            <a:ext cx="52292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REV_WAIT</a:t>
            </a:r>
          </a:p>
          <a:p xmlns:a="http://schemas.openxmlformats.org/drawingml/2006/main">
            <a:pPr algn="l">
              <a:defRPr sz="2475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P1 = FCH</a:t>
            </a:r>
          </a:p>
          <a:p xmlns:a="http://schemas.openxmlformats.org/drawingml/2006/main">
            <a:pPr algn="l">
              <a:defRPr sz="2475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เพลา Coast</a:t>
            </a:r>
          </a:p>
        </p:txBody>
      </p:sp>
      <p:sp>
        <p:nvSpPr>
          <p:cNvPr id="9" name="rfid-206">
            <a:extLst xmlns:a="http://schemas.openxmlformats.org/drawingml/2006/main">
              <a:ext uri="{FF2B5EF4-FFF2-40B4-BE49-F238E27FC236}">
                <a16:creationId xmlns:a16="http://schemas.microsoft.com/office/drawing/2014/main" id="{35A31DEA-7ACB-4C14-B126-0231C38E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38450"/>
            <a:ext cx="9525000" cy="547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ClosingLoop: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P2.2,CheckOpen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P1,#0FCH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RFID_SEEN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LCALL ENTER_REV_WAIT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SJMP 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CheckOpen: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LCALL CHECK_OPEN_EVENT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JC   REVERSE_MANUAL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P2.4,ENTER_CLOSED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SJMP MAIN</a:t>
            </a:r>
          </a:p>
        </p:txBody>
      </p:sp>
      <p:sp>
        <p:nvSpPr>
          <p:cNvPr id="10" name="rfid-207">
            <a:extLst xmlns:a="http://schemas.openxmlformats.org/drawingml/2006/main">
              <a:ext uri="{FF2B5EF4-FFF2-40B4-BE49-F238E27FC236}">
                <a16:creationId xmlns:a16="http://schemas.microsoft.com/office/drawing/2014/main" id="{FB5BE6F9-BCDF-432F-A4FE-2008B426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82075"/>
            <a:ext cx="1557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RFID_DET อ่านโดยไม่หน่วงกรอง 20 ms แบบปุ่ม ส่วนเวลาตอบสนองจริงรวมเวลาอ่าน RFID และลูปควบคุม</a:t>
            </a:r>
          </a:p>
        </p:txBody>
      </p:sp>
    </p:spTree>
    <p:extLst>
      <p:ext uri="{BB962C8B-B14F-4D97-AF65-F5344CB8AC3E}">
        <p14:creationId xmlns:p14="http://schemas.microsoft.com/office/powerpoint/2010/main" val="1577263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fid-208">
            <a:extLst xmlns:a="http://schemas.openxmlformats.org/drawingml/2006/main">
              <a:ext uri="{FF2B5EF4-FFF2-40B4-BE49-F238E27FC236}">
                <a16:creationId xmlns:a16="http://schemas.microsoft.com/office/drawing/2014/main" id="{040240AF-0CEB-4A01-9B89-16AAADF1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ผลตรวจลอจิกและแผนทดสอบชุดจริง</a:t>
            </a:r>
          </a:p>
        </p:txBody>
      </p:sp>
      <p:sp>
        <p:nvSpPr>
          <p:cNvPr id="2" name="rfid-209">
            <a:extLst xmlns:a="http://schemas.openxmlformats.org/drawingml/2006/main">
              <a:ext uri="{FF2B5EF4-FFF2-40B4-BE49-F238E27FC236}">
                <a16:creationId xmlns:a16="http://schemas.microsoft.com/office/drawing/2014/main" id="{59C67299-9CEE-414A-A8D0-D6EFCA19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ตรวจเหตุการณ์และค่าพอร์ตด้วยแบบจำลอง FSM ใน Python</a:t>
            </a:r>
          </a:p>
        </p:txBody>
      </p:sp>
      <p:sp>
        <p:nvSpPr>
          <p:cNvPr id="3" name="rfid-210">
            <a:extLst xmlns:a="http://schemas.openxmlformats.org/drawingml/2006/main">
              <a:ext uri="{FF2B5EF4-FFF2-40B4-BE49-F238E27FC236}">
                <a16:creationId xmlns:a16="http://schemas.microsoft.com/office/drawing/2014/main" id="{BE26089F-FF9E-4F9A-A712-FF2F4C2F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211">
            <a:extLst xmlns:a="http://schemas.openxmlformats.org/drawingml/2006/main">
              <a:ext uri="{FF2B5EF4-FFF2-40B4-BE49-F238E27FC236}">
                <a16:creationId xmlns:a16="http://schemas.microsoft.com/office/drawing/2014/main" id="{B06865FB-12FE-43D7-B7EF-C8E18335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5" name="rfid-212">
            <a:extLst xmlns:a="http://schemas.openxmlformats.org/drawingml/2006/main">
              <a:ext uri="{FF2B5EF4-FFF2-40B4-BE49-F238E27FC236}">
                <a16:creationId xmlns:a16="http://schemas.microsoft.com/office/drawing/2014/main" id="{F9644447-5831-45FD-8694-F2452447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571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5400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21 / 21</a:t>
            </a:r>
          </a:p>
        </p:txBody>
      </p:sp>
      <p:sp>
        <p:nvSpPr>
          <p:cNvPr id="6" name="rfid-213">
            <a:extLst xmlns:a="http://schemas.openxmlformats.org/drawingml/2006/main">
              <a:ext uri="{FF2B5EF4-FFF2-40B4-BE49-F238E27FC236}">
                <a16:creationId xmlns:a16="http://schemas.microsoft.com/office/drawing/2014/main" id="{FDB71FFD-63BC-42D4-8CCA-42EFF074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14775"/>
            <a:ext cx="609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กรณีตรวจลอจิกผ่าน</a:t>
            </a:r>
          </a:p>
        </p:txBody>
      </p:sp>
      <p:sp>
        <p:nvSpPr>
          <p:cNvPr id="7" name="rfid-214">
            <a:extLst xmlns:a="http://schemas.openxmlformats.org/drawingml/2006/main">
              <a:ext uri="{FF2B5EF4-FFF2-40B4-BE49-F238E27FC236}">
                <a16:creationId xmlns:a16="http://schemas.microsoft.com/office/drawing/2014/main" id="{8472AABA-803C-423D-B81E-2CAE4A12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29175"/>
            <a:ext cx="6381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ตรวจด้วย Python</a:t>
            </a:r>
          </a:p>
          <a:p xmlns:a="http://schemas.openxmlformats.org/drawingml/2006/main">
            <a:pPr algn="l">
              <a:defRPr sz="217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เวลาในแบบจำลองทีละ 1 ms</a:t>
            </a:r>
          </a:p>
          <a:p xmlns:a="http://schemas.openxmlformats.org/drawingml/2006/main">
            <a:pPr algn="l">
              <a:defRPr sz="2175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ยังไม่ใช่ผล EdSim51 หรือชุดจริง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943850" y="2714625"/>
          <a:ext xmlns:a="http://schemas.openxmlformats.org/drawingml/2006/main" cx="9353550" cy="542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90950"/>
                <a:gridCol w="5562600"/>
              </a:tblGrid>
              <a:tr h="66675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สิ่งที่ต้องทดสอบต่อ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1">
                          <a:solidFill>
                            <a:srgbClr val="0369A1"/>
                          </a:solidFill>
                          <a:latin typeface="Tahoma"/>
                          <a:ea typeface="Tahoma"/>
                          <a:cs typeface="Tahoma"/>
                        </a:rPr>
                        <a:t>วิธีตรวจ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</a:tr>
              <a:tr h="9525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การอ่านแท็ก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ทิศแท็ก ระยะและจุดอับตลอดช่อง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การตอบสนอง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วัด RFID_DET ถึง EN และระยะหยุด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9525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กลับทิศมอเตอร์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ยืนยันว่า 200 ms เพียงพอ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ภาคกำลัง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กระแสเริ่มหมุน ติดขัด และความร้อน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952500">
                <a:tc>
                  <a:txBody>
                    <a:bodyPr lIns="133350" tIns="95250" rIns="1333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เหตุขัดข้อง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Reader ดับ สายขาด และ E-stop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fid-215">
            <a:extLst xmlns:a="http://schemas.openxmlformats.org/drawingml/2006/main">
              <a:ext uri="{FF2B5EF4-FFF2-40B4-BE49-F238E27FC236}">
                <a16:creationId xmlns:a16="http://schemas.microsoft.com/office/drawing/2014/main" id="{756F85F2-16CB-49E1-93E6-E53C8D4D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82075"/>
            <a:ext cx="1557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รุ่น RFID ยังไม่เลือก และยังไม่มีผลทดสอบครอบคลุมพื้นที่ตรวจจับ</a:t>
            </a:r>
          </a:p>
        </p:txBody>
      </p:sp>
    </p:spTree>
    <p:extLst>
      <p:ext uri="{BB962C8B-B14F-4D97-AF65-F5344CB8AC3E}">
        <p14:creationId xmlns:p14="http://schemas.microsoft.com/office/powerpoint/2010/main" val="5872085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fid-216">
            <a:extLst xmlns:a="http://schemas.openxmlformats.org/drawingml/2006/main">
              <a:ext uri="{FF2B5EF4-FFF2-40B4-BE49-F238E27FC236}">
                <a16:creationId xmlns:a16="http://schemas.microsoft.com/office/drawing/2014/main" id="{063895F2-C660-4E77-BD01-C11A3BDE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6459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ขอบเขตที่ทำได้และสิ่งที่ต้องยืนยัน</a:t>
            </a:r>
          </a:p>
        </p:txBody>
      </p:sp>
      <p:sp>
        <p:nvSpPr>
          <p:cNvPr id="2" name="rfid-217">
            <a:extLst xmlns:a="http://schemas.openxmlformats.org/drawingml/2006/main">
              <a:ext uri="{FF2B5EF4-FFF2-40B4-BE49-F238E27FC236}">
                <a16:creationId xmlns:a16="http://schemas.microsoft.com/office/drawing/2014/main" id="{BF49B2B4-5CD5-4EE6-BA74-93BB8C9C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1645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RFID เป็นการตรวจแท็กที่กำหนด ไม่ใช่การตรวจสิ่งกีดขวางทุกชนิด</a:t>
            </a:r>
          </a:p>
        </p:txBody>
      </p:sp>
      <p:sp>
        <p:nvSpPr>
          <p:cNvPr id="3" name="rfid-218">
            <a:extLst xmlns:a="http://schemas.openxmlformats.org/drawingml/2006/main">
              <a:ext uri="{FF2B5EF4-FFF2-40B4-BE49-F238E27FC236}">
                <a16:creationId xmlns:a16="http://schemas.microsoft.com/office/drawing/2014/main" id="{62805B70-2BDC-4B94-A73A-567BE1DA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rfid-219">
            <a:extLst xmlns:a="http://schemas.openxmlformats.org/drawingml/2006/main">
              <a:ext uri="{FF2B5EF4-FFF2-40B4-BE49-F238E27FC236}">
                <a16:creationId xmlns:a16="http://schemas.microsoft.com/office/drawing/2014/main" id="{06F3A077-7CA0-4261-90BA-EDF726B1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4773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5" name="rfid-220">
            <a:extLst xmlns:a="http://schemas.openxmlformats.org/drawingml/2006/main">
              <a:ext uri="{FF2B5EF4-FFF2-40B4-BE49-F238E27FC236}">
                <a16:creationId xmlns:a16="http://schemas.microsoft.com/office/drawing/2014/main" id="{4AAB3A1A-259F-4917-AE06-ADED76CF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7677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แบบควบคุมที่กำหนดแล้ว</a:t>
            </a:r>
          </a:p>
        </p:txBody>
      </p:sp>
      <p:sp>
        <p:nvSpPr>
          <p:cNvPr id="6" name="rfid-221">
            <a:extLst xmlns:a="http://schemas.openxmlformats.org/drawingml/2006/main">
              <a:ext uri="{FF2B5EF4-FFF2-40B4-BE49-F238E27FC236}">
                <a16:creationId xmlns:a16="http://schemas.microsoft.com/office/drawing/2014/main" id="{8A87D878-A547-4274-A737-9DF47D85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7677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ปุ่มเปิดสองด้านและปุ่มปิดหนึ่งจุด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FSM 7 สถานะ พร้อมพอร์ตและเอาต์พุต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RFID_HOLD รอการกดปิดใหม่เสมอ</a:t>
            </a:r>
          </a:p>
        </p:txBody>
      </p:sp>
      <p:sp>
        <p:nvSpPr>
          <p:cNvPr id="7" name="rfid-222">
            <a:extLst xmlns:a="http://schemas.openxmlformats.org/drawingml/2006/main">
              <a:ext uri="{FF2B5EF4-FFF2-40B4-BE49-F238E27FC236}">
                <a16:creationId xmlns:a16="http://schemas.microsoft.com/office/drawing/2014/main" id="{09E6DD0A-F30B-446B-9B78-4EA82323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90825"/>
            <a:ext cx="773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สิ่งที่ยังต้องวัดกับอุปกรณ์</a:t>
            </a:r>
          </a:p>
        </p:txBody>
      </p:sp>
      <p:sp>
        <p:nvSpPr>
          <p:cNvPr id="8" name="rfid-223">
            <a:extLst xmlns:a="http://schemas.openxmlformats.org/drawingml/2006/main">
              <a:ext uri="{FF2B5EF4-FFF2-40B4-BE49-F238E27FC236}">
                <a16:creationId xmlns:a16="http://schemas.microsoft.com/office/drawing/2014/main" id="{99F1E08D-5CC4-4C03-BFCE-7905DC1F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00425"/>
            <a:ext cx="7734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พื้นที่อ่านและเวลาตอบสนอง RFID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ความเร็ว ระยะหยุด และกระแสมอเตอร์</a:t>
            </a:r>
          </a:p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กรณีแท็กอ่านไม่สำเร็จหรือเครื่องอ่านเสีย</a:t>
            </a:r>
          </a:p>
        </p:txBody>
      </p:sp>
      <p:sp>
        <p:nvSpPr>
          <p:cNvPr id="9" name="rfid-224">
            <a:extLst xmlns:a="http://schemas.openxmlformats.org/drawingml/2006/main">
              <a:ext uri="{FF2B5EF4-FFF2-40B4-BE49-F238E27FC236}">
                <a16:creationId xmlns:a16="http://schemas.microsoft.com/office/drawing/2014/main" id="{047B8F26-56AD-4CDB-9391-3E09614B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62625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rfid-225">
            <a:extLst xmlns:a="http://schemas.openxmlformats.org/drawingml/2006/main">
              <a:ext uri="{FF2B5EF4-FFF2-40B4-BE49-F238E27FC236}">
                <a16:creationId xmlns:a16="http://schemas.microsoft.com/office/drawing/2014/main" id="{0F27A8CE-0D5F-4D8B-A3A4-5DDECBF8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34125"/>
            <a:ext cx="1581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หลักการใช้งาน</a:t>
            </a:r>
          </a:p>
        </p:txBody>
      </p:sp>
      <p:sp>
        <p:nvSpPr>
          <p:cNvPr id="11" name="rfid-226">
            <a:extLst xmlns:a="http://schemas.openxmlformats.org/drawingml/2006/main">
              <a:ext uri="{FF2B5EF4-FFF2-40B4-BE49-F238E27FC236}">
                <a16:creationId xmlns:a16="http://schemas.microsoft.com/office/drawing/2014/main" id="{1976DB49-65A6-4559-B7D7-99D8C6F8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5887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ตรวจทางผ่านให้ปลอดภัย แล้วกดปิดเอง</a:t>
            </a:r>
          </a:p>
          <a:p xmlns:a="http://schemas.openxmlformats.org/drawingml/2006/main">
            <a:pPr algn="l">
              <a:defRPr sz="2850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การไม่พบแท็กเพียงอย่างเดียวไม่ยืนยันว่าทางผ่านว่าง</a:t>
            </a:r>
          </a:p>
        </p:txBody>
      </p:sp>
      <p:sp>
        <p:nvSpPr>
          <p:cNvPr id="12" name="rfid-227">
            <a:extLst xmlns:a="http://schemas.openxmlformats.org/drawingml/2006/main">
              <a:ext uri="{FF2B5EF4-FFF2-40B4-BE49-F238E27FC236}">
                <a16:creationId xmlns:a16="http://schemas.microsoft.com/office/drawing/2014/main" id="{F0221EE6-D700-4489-BBD6-C324DA4C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82075"/>
            <a:ext cx="1557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แบบเสนอสำหรับ Mini-Project ยังไม่มีผลรับรองความปลอดภัยของประตูใช้งานจริง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2054667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2026-09-25T03:08:16.8210000Z</dcterms:created>
  <dcterms:modified xsi:type="dcterms:W3CDTF">2026-09-25T03:08:16.8210000Z</dcterms:modified>
</coreProperties>
</file>