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457d48c574a5b" /><Relationship Type="http://schemas.openxmlformats.org/officeDocument/2006/relationships/extended-properties" Target="/docProps/app.xml" Id="R5d9b04b1a7cd4d03" /><Relationship Type="http://schemas.openxmlformats.org/officeDocument/2006/relationships/officeDocument" Target="/ppt/presentation.xml" Id="R946ac09caafe40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0159750aa4b43"/>
  </p:sldMasterIdLst>
  <p:notesMasterIdLst>
    <p:notesMasterId xmlns:r="http://schemas.openxmlformats.org/officeDocument/2006/relationships" r:id="Rb5b71d35dc024be7"/>
  </p:notesMasterIdLst>
  <p:sldIdLst>
    <p:sldId xmlns:r="http://schemas.openxmlformats.org/officeDocument/2006/relationships" id="256" r:id="R6c686b23c2ec49ca"/>
    <p:sldId xmlns:r="http://schemas.openxmlformats.org/officeDocument/2006/relationships" id="257" r:id="Ra356cc662f8344d2"/>
    <p:sldId xmlns:r="http://schemas.openxmlformats.org/officeDocument/2006/relationships" id="258" r:id="R02ce766d61bb4e03"/>
    <p:sldId xmlns:r="http://schemas.openxmlformats.org/officeDocument/2006/relationships" id="259" r:id="R7f5ba86d775e4690"/>
    <p:sldId xmlns:r="http://schemas.openxmlformats.org/officeDocument/2006/relationships" id="260" r:id="R081cd3b772a342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b5d88a31c409c" /><Relationship Type="http://schemas.openxmlformats.org/officeDocument/2006/relationships/slideMaster" Target="/ppt/slideMasters/slideMaster1.xml" Id="Rf370159750aa4b43" /><Relationship Type="http://schemas.openxmlformats.org/officeDocument/2006/relationships/notesMaster" Target="/ppt/notesMasters/notesMaster1.xml" Id="Rb5b71d35dc024be7" /><Relationship Type="http://schemas.openxmlformats.org/officeDocument/2006/relationships/presProps" Target="/ppt/presProps.xml" Id="Rf387124402ee4dba" /><Relationship Type="http://schemas.openxmlformats.org/officeDocument/2006/relationships/tableStyles" Target="/ppt/tableStyles.xml" Id="R0742b0077bca47be" /><Relationship Type="http://schemas.openxmlformats.org/officeDocument/2006/relationships/slide" Target="/ppt/slides/slide1.xml" Id="R6c686b23c2ec49ca" /><Relationship Type="http://schemas.openxmlformats.org/officeDocument/2006/relationships/slide" Target="/ppt/slides/slide2.xml" Id="Ra356cc662f8344d2" /><Relationship Type="http://schemas.openxmlformats.org/officeDocument/2006/relationships/slide" Target="/ppt/slides/slide3.xml" Id="R02ce766d61bb4e03" /><Relationship Type="http://schemas.openxmlformats.org/officeDocument/2006/relationships/slide" Target="/ppt/slides/slide4.xml" Id="R7f5ba86d775e4690" /><Relationship Type="http://schemas.openxmlformats.org/officeDocument/2006/relationships/slide" Target="/ppt/slides/slide5.xml" Id="R081cd3b772a342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eaabcf1ba4f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a9212f09b14b85" /><Relationship Type="http://schemas.openxmlformats.org/officeDocument/2006/relationships/notesMaster" Target="/ppt/notesMasters/notesMaster1.xml" Id="Rc61acd2e2a4548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16f272734a4090" /><Relationship Type="http://schemas.openxmlformats.org/officeDocument/2006/relationships/notesMaster" Target="/ppt/notesMasters/notesMaster1.xml" Id="R22a450885b234c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beea0abe88416b" /><Relationship Type="http://schemas.openxmlformats.org/officeDocument/2006/relationships/notesMaster" Target="/ppt/notesMasters/notesMaster1.xml" Id="R0e3f45baee2545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43a36c7b83407d" /><Relationship Type="http://schemas.openxmlformats.org/officeDocument/2006/relationships/notesMaster" Target="/ppt/notesMasters/notesMaster1.xml" Id="R67b146c2fb2840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f98cd3cbc43fd" /><Relationship Type="http://schemas.openxmlformats.org/officeDocument/2006/relationships/notesMaster" Target="/ppt/notesMasters/notesMaster1.xml" Id="R3e971c8adbe346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0:15 นาที</a:t>
            </a:r>
          </a:p>
          <a:p xmlns:a="http://schemas.openxmlformats.org/drawingml/2006/main">
            <a:r>
              <a:t>หัวข้อ Interrupt Mechanism อธิบายเส้นทางตั้งแต่เหตุการณ์จากอุปกรณ์จริง เข้าสู่ CPU ผ่าน ISR การเก็บ Context และการกลับไปทำ Main Program ต่อ</a:t>
            </a:r>
          </a:p>
          <a:p xmlns:a="http://schemas.openxmlformats.org/drawingml/2006/main">
            <a:r>
              <a:t>ภาพเป็น Arduino Uno Rev3 อย่างเป็นทางการ ซึ่งใช้ ATmega328P เป็นตัวอย่างไมโครคอนโทรลเลอร์ของสไลด์ชุดนี้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https://store.arduino.cc/products/arduino-uno-rev3</a:t>
            </a:r>
          </a:p>
          <a:p xmlns:a="http://schemas.openxmlformats.org/drawingml/2006/main">
            <a:r>
              <a:t>- https://store.arduino.cc/cdn/shop/files/A000066_03.front_1000x750.jpg?v=1727098250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0:30 นาที</a:t>
            </a:r>
          </a:p>
          <a:p xmlns:a="http://schemas.openxmlformats.org/drawingml/2006/main">
            <a:r>
              <a:t>Interrupt คือเหตุการณ์ที่ทำให้ CPU เปลี่ยนจาก Main Program ไปทำ Interrupt Service Routine หรือ ISR ชั่วคราว แล้วกลับมาทำงานต่อจากจุดเดิม</a:t>
            </a:r>
          </a:p>
          <a:p xmlns:a="http://schemas.openxmlformats.org/drawingml/2006/main">
            <a:r>
              <a:t>ภาพ Pinout เชื่อมแนวคิดกับฮาร์ดแวร์จริง: External Interrupt, Timer, Serial และ I/O เป็นแหล่ง Event ที่ตั้ง Request หรือ Flag ได้</a:t>
            </a:r>
          </a:p>
          <a:p xmlns:a="http://schemas.openxmlformats.org/drawingml/2006/main">
            <a:r>
              <a:t>ข้อดีสำคัญคือ CPU ไม่ต้อง Poll อุปกรณ์ตลอดเวลา แต่ยังตอบสนองเมื่อ Event เกิดขึ้น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https://store.arduino.cc/products/arduino-uno-rev3</a:t>
            </a:r>
          </a:p>
          <a:p xmlns:a="http://schemas.openxmlformats.org/drawingml/2006/main">
            <a:r>
              <a:t>- https://content.arduino.cc/assets/A000066-pinout.png</a:t>
            </a:r>
          </a:p>
          <a:p xmlns:a="http://schemas.openxmlformats.org/drawingml/2006/main">
            <a:r>
              <a:t>- https://books.google.com/books/about/The_AVR_Microcontroller_and_Embedded_Sys.html?id=C70BQgAACAAJ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https://users.ece.utexas.edu/~valvano/EE445L/ebook/index.htm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0:50 นาที</a:t>
            </a:r>
          </a:p>
          <a:p xmlns:a="http://schemas.openxmlformats.org/drawingml/2006/main">
            <a:r>
              <a:t>ลำดับเริ่มจาก Event ตั้ง Request หรือ Flag จากนั้น CPU จบ instruction ปัจจุบัน ตรวจ Enable และ Priority แล้วจึงยอมรับ Interrupt</a:t>
            </a:r>
          </a:p>
          <a:p xmlns:a="http://schemas.openxmlformats.org/drawingml/2006/main">
            <a:r>
              <a:t>CPU เก็บ Program Counter และ Context ลง Stack อ่าน Interrupt Vector เพื่อหา ISR address แล้วทำ ISR</a:t>
            </a:r>
          </a:p>
          <a:p xmlns:a="http://schemas.openxmlformats.org/drawingml/2006/main">
            <a:r>
              <a:t>ก่อนออกจาก ISR ต้องจัดการต้นเหตุของ Event และ Return from Interrupt จะ Restore Context เพื่อกลับ Main Program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https://books.google.com/books/about/The_Definitive_Guide_to_ARM_Cortex_M3_an.html?id=9YxqAAAAQBAJ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https://developer.arm.com/documentation/dui0552/a/the-cortex-m3-processor/exception-model/exception-entry-and-return</a:t>
            </a:r>
          </a:p>
          <a:p xmlns:a="http://schemas.openxmlformats.org/drawingml/2006/main">
            <a:r>
              <a:t>- https://developer.arm.com/community/arm-community-blogs/b/architectures-and-processors-blog/posts/beginner-guide-on-interrupt-latency-and-interrupt-latency-of-the-arm-cortex-m-processors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0:35 นาที</a:t>
            </a:r>
          </a:p>
          <a:p xmlns:a="http://schemas.openxmlformats.org/drawingml/2006/main">
            <a:r>
              <a:t>Context คือสถานะที่ต้องรักษาเพื่อให้ Main Program กลับมาทำงานต่อได้ถูกต้อง เช่น Program Counter และ Register ที่กำลังใช้งาน</a:t>
            </a:r>
          </a:p>
          <a:p xmlns:a="http://schemas.openxmlformats.org/drawingml/2006/main">
            <a:r>
              <a:t>ATmega328P ให้ Hardware เก็บ return address ส่วน SREG และ Register ที่ใช้มักจัดการโดย Compiler หรือ ISR prologue</a:t>
            </a:r>
          </a:p>
          <a:p xmlns:a="http://schemas.openxmlformats.org/drawingml/2006/main">
            <a:r>
              <a:t>Cortex-M สร้าง Basic Exception Stack Frame ด้วย Hardware โดยเก็บ R0-R3, R12, LR, Return Address และ RETPSR รวมอย่างน้อย 8 words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https://developer.arm.com/documentation/107706/0100/Exceptions-and-interrupts-overview/Stack-frames</a:t>
            </a:r>
          </a:p>
          <a:p xmlns:a="http://schemas.openxmlformats.org/drawingml/2006/main">
            <a:r>
              <a:t>- https://documentation-service.arm.com/static/64c7832738511951cb7a2452?token=</a:t>
            </a:r>
          </a:p>
          <a:p xmlns:a="http://schemas.openxmlformats.org/drawingml/2006/main">
            <a:r>
              <a:t>- https://developer.arm.com/documentation/dui0552/a/the-cortex-m3-processor/exception-model/exception-entry-and-return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https://books.google.com/books/about/The_Definitive_Guide_to_ARM_Cortex_M3_an.html?id=9YxqAAAAQBAJ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เวลาประมาณ 0:15 นาที</a:t>
            </a:r>
          </a:p>
          <a:p xmlns:a="http://schemas.openxmlformats.org/drawingml/2006/main">
            <a:r>
              <a:t>แหล่งอ้างอิงหลักประกอบด้วย textbook สองเล่ม เอกสารผู้ผลิต Microchip เอกสารสถาปัตยกรรม Arm และเอกสารฮาร์ดแวร์ Arduino</a:t>
            </a:r>
          </a:p>
          <a:p xmlns:a="http://schemas.openxmlformats.org/drawingml/2006/main">
            <a:r>
              <a:t>ชื่อแหล่งบนสไลด์เป็น Hyperlink ที่เปิดหน้าเอกสารจริงได้ และ URL เต็มรวมถึงแหล่งภาพปกหนังสืออยู่ด้านล่าง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https://books.google.com/books/about/The_AVR_Microcontroller_and_Embedded_Sys.html?id=C70BQgAACAAJ</a:t>
            </a:r>
          </a:p>
          <a:p xmlns:a="http://schemas.openxmlformats.org/drawingml/2006/main">
            <a:r>
              <a:t>- https://books.google.co.th/books/content?id=C70BQgAACAAJ&amp;printsec=frontcover&amp;img=1&amp;zoom=1&amp;imgtk=AFLRE70R7SUFAEnpk0R80CELQIhvoCOL8vW1Zs0Hn54du5kpR7l1ARldUxmOj6fDSAKYS95G0nCFg8wegCZ9mGbnUx-s6kuxxnhEs6ebVFUTtQWq-tOAyxDYEuQWQa9J98c1MK3IFqq-</a:t>
            </a:r>
          </a:p>
          <a:p xmlns:a="http://schemas.openxmlformats.org/drawingml/2006/main">
            <a:r>
              <a:t>- https://books.google.com/books/about/The_Definitive_Guide_to_ARM_Cortex_M3_an.html?id=9YxqAAAAQBAJ</a:t>
            </a:r>
          </a:p>
          <a:p xmlns:a="http://schemas.openxmlformats.org/drawingml/2006/main">
            <a:r>
              <a:t>- https://books.google.co.th/books/publisher/content?id=9YxqAAAAQBAJ&amp;printsec=frontcover&amp;img=1&amp;zoom=1&amp;edge=curl&amp;imgtk=AFLRE72LsJYa239w8DNG38HpqNuXiCIkUTIbIVCR5A0sKive78_sbprf6bHj7HjIGn0q5TEN0rUQRyWeasQq3hxaKS87IGkt6M7gVHCKrJ0_y2JVr6jmBSZQ01UlqwvryVYcLtrW5PoP</a:t>
            </a:r>
          </a:p>
          <a:p xmlns:a="http://schemas.openxmlformats.org/drawingml/2006/main">
            <a:r>
              <a:t>- https://ww1.microchip.com/downloads/en/DeviceDoc/Atmel-7810-Automotive-Microcontrollers-ATmega328P_Datasheet.pdf</a:t>
            </a:r>
          </a:p>
          <a:p xmlns:a="http://schemas.openxmlformats.org/drawingml/2006/main">
            <a:r>
              <a:t>- https://ww1.microchip.com/downloads/en/DeviceDoc/ATmega48A-PA-88A-PA-168A-PA-328-P-DS-DS40002061A.pdf</a:t>
            </a:r>
          </a:p>
          <a:p xmlns:a="http://schemas.openxmlformats.org/drawingml/2006/main">
            <a:r>
              <a:t>- https://developer.arm.com/documentation/dui0552/a/the-cortex-m3-processor/exception-model/exception-entry-and-return</a:t>
            </a:r>
          </a:p>
          <a:p xmlns:a="http://schemas.openxmlformats.org/drawingml/2006/main">
            <a:r>
              <a:t>- https://developer.arm.com/documentation/107706/0100/Exceptions-and-interrupts-overview/Stack-frames</a:t>
            </a:r>
          </a:p>
          <a:p xmlns:a="http://schemas.openxmlformats.org/drawingml/2006/main">
            <a:r>
              <a:t>- https://developer.arm.com/community/arm-community-blogs/b/architectures-and-processors-blog/posts/beginner-guide-on-interrupt-latency-and-interrupt-latency-of-the-arm-cortex-m-processors</a:t>
            </a:r>
          </a:p>
          <a:p xmlns:a="http://schemas.openxmlformats.org/drawingml/2006/main">
            <a:r>
              <a:t>- https://users.ece.utexas.edu/~valvano/EE445L/ebook/index.htm</a:t>
            </a:r>
          </a:p>
          <a:p xmlns:a="http://schemas.openxmlformats.org/drawingml/2006/main">
            <a:r>
              <a:t>- https://store.arduino.cc/products/arduino-uno-rev3</a:t>
            </a:r>
          </a:p>
          <a:p xmlns:a="http://schemas.openxmlformats.org/drawingml/2006/main">
            <a:r>
              <a:t>- https://content.arduino.cc/assets/A000066-pinout.png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3c1bb16904d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a9d5bc431c4d8c" /><Relationship Type="http://schemas.openxmlformats.org/officeDocument/2006/relationships/slideLayout" Target="/ppt/slideLayouts/slideLayout1.xml" Id="Rbe5fa98c78a2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5fa98c78a2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f6a745e4b481b" /><Relationship Type="http://schemas.openxmlformats.org/officeDocument/2006/relationships/image" Target="/ppt/media/image.png" Id="Rd43cc6413acf492a" /><Relationship Type="http://schemas.openxmlformats.org/officeDocument/2006/relationships/hyperlink" Target="https://store.arduino.cc/products/arduino-uno-rev3" TargetMode="External" Id="R163c3144511d4e92" /><Relationship Type="http://schemas.openxmlformats.org/officeDocument/2006/relationships/notesSlide" Target="/ppt/notesSlides/notesSlide1.xml" Id="Rbda34fbeadc040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34cc668964707" /><Relationship Type="http://schemas.openxmlformats.org/officeDocument/2006/relationships/image" Target="/ppt/media/image2.png" Id="Rd579dfa4ee4a4163" /><Relationship Type="http://schemas.openxmlformats.org/officeDocument/2006/relationships/hyperlink" Target="https://content.arduino.cc/assets/A000066-pinout.png" TargetMode="External" Id="R7c1c636d75b5498e" /><Relationship Type="http://schemas.openxmlformats.org/officeDocument/2006/relationships/notesSlide" Target="/ppt/notesSlides/notesSlide2.xml" Id="R7ed44c076fbd4b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5711336f64840" /><Relationship Type="http://schemas.openxmlformats.org/officeDocument/2006/relationships/hyperlink" Target="https://developer.arm.com/documentation/dui0552/a/the-cortex-m3-processor/exception-model/exception-entry-and-return" TargetMode="External" Id="R39287c2467874e63" /><Relationship Type="http://schemas.openxmlformats.org/officeDocument/2006/relationships/notesSlide" Target="/ppt/notesSlides/notesSlide3.xml" Id="Rdd0f57733d0a41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889a16c5a4028" /><Relationship Type="http://schemas.openxmlformats.org/officeDocument/2006/relationships/image" Target="/ppt/media/image3.png" Id="Rbbfa1f99add5494f" /><Relationship Type="http://schemas.openxmlformats.org/officeDocument/2006/relationships/hyperlink" Target="https://developer.arm.com/documentation/107706/0100/Exceptions-and-interrupts-overview/Stack-frames" TargetMode="External" Id="R4f9545fd09134335" /><Relationship Type="http://schemas.openxmlformats.org/officeDocument/2006/relationships/notesSlide" Target="/ppt/notesSlides/notesSlide4.xml" Id="R114afe34482e45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978bc02a94bde" /><Relationship Type="http://schemas.openxmlformats.org/officeDocument/2006/relationships/image" Target="/ppt/media/image.jpeg" Id="Recbf3c1e6b094d3f" /><Relationship Type="http://schemas.openxmlformats.org/officeDocument/2006/relationships/hyperlink" Target="https://books.google.com/books/about/The_AVR_Microcontroller_and_Embedded_Sys.html?id=C70BQgAACAAJ" TargetMode="External" Id="R79c0315310714923" /><Relationship Type="http://schemas.openxmlformats.org/officeDocument/2006/relationships/image" Target="/ppt/media/image2.jpeg" Id="R343e00236cd5442d" /><Relationship Type="http://schemas.openxmlformats.org/officeDocument/2006/relationships/hyperlink" Target="https://books.google.com/books/about/The_Definitive_Guide_to_ARM_Cortex_M3_an.html?id=9YxqAAAAQBAJ" TargetMode="External" Id="R47595923f94b49df" /><Relationship Type="http://schemas.openxmlformats.org/officeDocument/2006/relationships/hyperlink" Target="https://ww1.microchip.com/downloads/en/DeviceDoc/Atmel-7810-Automotive-Microcontrollers-ATmega328P_Datasheet.pdf" TargetMode="External" Id="R3b13686cae714f4d" /><Relationship Type="http://schemas.openxmlformats.org/officeDocument/2006/relationships/hyperlink" Target="https://ww1.microchip.com/downloads/en/DeviceDoc/Atmel-7810-Automotive-Microcontrollers-ATmega328P_Datasheet.pdf" TargetMode="External" Id="R8df15e0b3b0d42aa" /><Relationship Type="http://schemas.openxmlformats.org/officeDocument/2006/relationships/hyperlink" Target="https://developer.arm.com/documentation/dui0552/a/the-cortex-m3-processor/exception-model/exception-entry-and-return" TargetMode="External" Id="R95cb87f0cdc342bb" /><Relationship Type="http://schemas.openxmlformats.org/officeDocument/2006/relationships/hyperlink" Target="https://developer.arm.com/documentation/dui0552/a/the-cortex-m3-processor/exception-model/exception-entry-and-return" TargetMode="External" Id="Redea3a7f729342f2" /><Relationship Type="http://schemas.openxmlformats.org/officeDocument/2006/relationships/hyperlink" Target="https://developer.arm.com/documentation/107706/0100/Exceptions-and-interrupts-overview/Stack-frames" TargetMode="External" Id="Rb95e9f9737e948d0" /><Relationship Type="http://schemas.openxmlformats.org/officeDocument/2006/relationships/hyperlink" Target="https://developer.arm.com/documentation/107706/0100/Exceptions-and-interrupts-overview/Stack-frames" TargetMode="External" Id="Rff75f143c8ca4368" /><Relationship Type="http://schemas.openxmlformats.org/officeDocument/2006/relationships/hyperlink" Target="https://store.arduino.cc/products/arduino-uno-rev3" TargetMode="External" Id="R7b5a1ccc7828447f" /><Relationship Type="http://schemas.openxmlformats.org/officeDocument/2006/relationships/hyperlink" Target="https://store.arduino.cc/products/arduino-uno-rev3" TargetMode="External" Id="R475ed8c3f2154c5f" /><Relationship Type="http://schemas.openxmlformats.org/officeDocument/2006/relationships/hyperlink" Target="https://users.ece.utexas.edu/~valvano/EE445L/ebook/index.htm" TargetMode="External" Id="R4c08c723ae8346c0" /><Relationship Type="http://schemas.openxmlformats.org/officeDocument/2006/relationships/notesSlide" Target="/ppt/notesSlides/notesSlide5.xml" Id="Rb5a01638e44b47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9AD86-645D-4F00-A947-9124D3EE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CFE1F-0284-44F4-AD04-C2902C0D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8A996-7AA7-4755-9946-A830B391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NARESUAN UNIVERSITY  •  COMPUTER ENGINEERING  •  305341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99B22-6D4E-4F52-ADE0-42D1E12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Interrupt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Mechanism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04EC2-A70D-49E3-B4C7-3CE20E7A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2100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กลไกการขัดจังหวะใน Embedded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E6C11-C267-4152-BDD2-20DFE91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2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12FBE-3BE4-43CC-A3E3-4CF7FF96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ผู้นำเสนอ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6789A-2801-4067-B30F-F7BD3AC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ธีรภัทร ภู่ระย้า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9ED68-8838-4084-A279-412318B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รหัสนิสิต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EC9B2-ABE3-478E-A12C-072571B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66362416  •  Group 1  •  Sequence 4  •  Topic 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8AE73-A681-4D8C-8BBE-4284554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รายวิชา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3E1CB-6949-41CE-8596-863D37F9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24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Embedded System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E807F-FA53-4354-87D0-68DA3B05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62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A0E34-2769-4851-A8AA-D4418295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571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A61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4E4CB-C598-4711-AD12-220E6477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908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2DC9D-8E4D-4180-B796-2FB67932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CFEAF2"/>
                </a:solidFill>
                <a:latin typeface="Tahoma"/>
                <a:ea typeface="Tahoma"/>
                <a:cs typeface="Tahoma"/>
              </a:rPr>
              <a:t>Main → ISR → Resume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BBB81-7261-47AD-B7A1-1BAD1C44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857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6473A"/>
          </a:solidFill>
          <a:ln xmlns:a="http://schemas.openxmlformats.org/drawingml/2006/main" w="9525">
            <a:solidFill>
              <a:srgbClr val="C647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E3BFE-C9C6-4A10-AA59-2F744F89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IRQ</a:t>
            </a:r>
          </a:p>
        </p:txBody>
      </p:sp>
      <p:cxnSp>
        <p:nvCxnSpPr>
          <p:cNvPr id="114" name=""/>
          <p:cNvCxnSpPr>
            <a:stCxn xmlns:a="http://schemas.openxmlformats.org/drawingml/2006/main" id="1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191625" y="20383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9B3C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78D1D-46F4-4D69-B174-F3DFB0DE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133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9525">
            <a:solidFill>
              <a:srgbClr val="CFEA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868F5-3B87-44ED-98E0-82D170B6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STACK</a:t>
            </a:r>
          </a:p>
        </p:txBody>
      </p:sp>
      <p:cxnSp>
        <p:nvCxnSpPr>
          <p:cNvPr id="117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191625" y="37338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FEAF2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EB7ED-8A82-42AD-89E1-7D0D625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  •  Context  •  Vector  •  Return</a:t>
            </a:r>
          </a:p>
        </p:txBody>
      </p:sp>
      <p:sp>
        <p:nvSpPr>
          <p:cNvPr id="90" name="cover-photo-mask">
            <a:extLst xmlns:a="http://schemas.openxmlformats.org/drawingml/2006/main">
              <a:ext uri="{FF2B5EF4-FFF2-40B4-BE49-F238E27FC236}">
                <a16:creationId xmlns:a16="http://schemas.microsoft.com/office/drawing/2014/main" id="{4B771021-35B7-4A07-8B03-2CAF5AD1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28700"/>
            <a:ext cx="4762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91" name="cover-photo-frame">
            <a:extLst xmlns:a="http://schemas.openxmlformats.org/drawingml/2006/main">
              <a:ext uri="{FF2B5EF4-FFF2-40B4-BE49-F238E27FC236}">
                <a16:creationId xmlns:a16="http://schemas.microsoft.com/office/drawing/2014/main" id="{A916432A-6188-472D-914C-C29B9527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52550"/>
            <a:ext cx="40005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cc6413acf492a"/>
          <a:stretch xmlns:a="http://schemas.openxmlformats.org/drawingml/2006/main"/>
        </p:blipFill>
        <p:spPr>
          <a:xfrm xmlns:a="http://schemas.openxmlformats.org/drawingml/2006/main">
            <a:off x="7572375" y="1654969"/>
            <a:ext cx="3714750" cy="2786063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A8A5B62-4D1F-43BC-A2E3-E56D5219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C89B3C"/>
                </a:solidFill>
                <a:latin typeface="Tahoma"/>
                <a:ea typeface="Tahoma"/>
                <a:cs typeface="Tahoma"/>
              </a:rPr>
              <a:t>REAL HARDWARE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7C6FA83-E0FA-4D5E-87A1-D4102CC1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57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Arduino Uno Rev3 • ATmega328P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87C883-4C8A-43EE-BBB6-A153B6C8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0">
                <a:solidFill>
                  <a:srgbClr val="CFEAF2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CFEAF2"/>
                </a:solidFill>
                <a:latin typeface="Tahoma"/>
                <a:ea typeface="Tahoma"/>
                <a:cs typeface="Tahoma"/>
                <a:hlinkClick xmlns:r="http://schemas.openxmlformats.org/officeDocument/2006/relationships" r:id="R163c3144511d4e92"/>
              </a:rPr>
              <a:t>Photo: Arduino Official Store</a:t>
            </a:r>
          </a:p>
        </p:txBody>
      </p:sp>
    </p:spTree>
    <p:extLst>
      <p:ext uri="{BB962C8B-B14F-4D97-AF65-F5344CB8AC3E}">
        <p14:creationId xmlns:p14="http://schemas.microsoft.com/office/powerpoint/2010/main" val="1467542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C809A-829C-49D5-B9CD-4F0425F1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36BDC-8B09-4DDD-93F3-A10DF28D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MEANING • BACKGROUND 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3F06D-3743-4FF8-A3E7-0916974A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Interrupt คืออะไร 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34B2A-4D5B-4867-9D18-EA61E1C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72EA3-D50B-4105-A6D3-FE95C755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4C57C-21F2-4A84-9B35-616D1C8B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90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D7DC0-86E4-4563-92B4-59FA793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INTERRUPT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94D5E-C735-4CA5-9731-AA3ECA2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95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event → ISR → resume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69966-6075-4B15-AB55-14E6867F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F262B-CB9D-4222-B230-9BA4F76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DEFINITION </a:t>
            </a:r>
            <a:r>
              <a:rPr sz="12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2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5776B-3A12-47A3-9586-07794A71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CPU ไปทำ ISR เมื่อเกิด Event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แล้วกลับจุดเดิม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26A0A-8037-4955-B15E-4A8A8ED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ECCCE-7DC1-4280-A2B2-8EF0B3E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BACKGROUND </a:t>
            </a:r>
            <a:r>
              <a:rPr sz="12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 </a:t>
            </a:r>
            <a:r>
              <a:rPr sz="12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40D96-BF79-4744-BEB2-40E39E58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098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ลด Polling: CPU ทำงานหลักต่อ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จนเกิด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CB1FF-9532-4B6B-A719-168E715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706B0-EDDE-46CE-97EA-21C0F849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481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EVENT SOURCES </a:t>
            </a:r>
            <a:r>
              <a:rPr sz="12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 </a:t>
            </a:r>
            <a:r>
              <a:rPr sz="12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9F148-CA3D-4AFC-8F56-9D5ED26D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529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Peripheral • Timer • GPIO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Fault •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1D5AE-D494-4E22-B2AC-CA475104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66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C98CB-69B1-46F2-9743-CA67CC8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481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E7D5B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CORE IDEA </a:t>
            </a:r>
            <a:r>
              <a:rPr sz="12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 </a:t>
            </a:r>
            <a:r>
              <a:rPr sz="12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B2FB4-44BD-49BB-B819-62373591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529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Save state → Vector → ISR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Restore → Resume</a:t>
            </a:r>
          </a:p>
        </p:txBody>
      </p:sp>
      <p:cxnSp>
        <p:nvCxnSpPr>
          <p:cNvPr id="125" name=""/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524250" y="2257425"/>
            <a:ext cx="139065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A7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6" name=""/>
          <p:cNvCxnSpPr>
            <a:stCxn xmlns:a="http://schemas.openxmlformats.org/drawingml/2006/main" id="12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>
            <a:off x="7296150" y="2257425"/>
            <a:ext cx="137160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473A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7" name=""/>
          <p:cNvCxnSpPr>
            <a:stCxn xmlns:a="http://schemas.openxmlformats.org/drawingml/2006/main" id="1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3524250" y="3381375"/>
            <a:ext cx="139065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8" name=""/>
          <p:cNvCxnSpPr>
            <a:stCxn xmlns:a="http://schemas.openxmlformats.org/drawingml/2006/main" id="18" idx="1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7296150" y="3381375"/>
            <a:ext cx="137160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D5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F133B-8AA6-4E33-9FCB-05FD392A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แก่นสำคัญ: ตอบสนองต่อ Event โดยไม่สูญเสียความต่อเนื่องของ Main Program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DC627-07C5-4BB4-8615-117A589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65657-B7F5-4F21-A10B-1CE1796B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Sources: Mazidi et al. • Microchip ATmega328P • UT Austin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5C958-2F80-4987-9C64-1189C54E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• ธีรภัทร 66362416 • 02</a:t>
            </a:r>
          </a:p>
        </p:txBody>
      </p:sp>
      <p:sp>
        <p:nvSpPr>
          <p:cNvPr id="101" name="pinout-visual-frame">
            <a:extLst xmlns:a="http://schemas.openxmlformats.org/drawingml/2006/main">
              <a:ext uri="{FF2B5EF4-FFF2-40B4-BE49-F238E27FC236}">
                <a16:creationId xmlns:a16="http://schemas.microsoft.com/office/drawing/2014/main" id="{613861B2-5257-49CF-8259-EA1CC26C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81150"/>
            <a:ext cx="49339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9dfa4ee4a4163"/>
          <a:stretch xmlns:a="http://schemas.openxmlformats.org/drawingml/2006/main"/>
        </p:blipFill>
        <p:spPr>
          <a:xfrm xmlns:a="http://schemas.openxmlformats.org/drawingml/2006/main">
            <a:off x="4169872" y="1714500"/>
            <a:ext cx="3871307" cy="35433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9AD09B5-6680-41FF-99AE-7E3BC1B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1677A7"/>
                </a:solidFill>
                <a:latin typeface="Tahoma"/>
                <a:ea typeface="Tahoma"/>
                <a:cs typeface="Tahoma"/>
              </a:rPr>
              <a:t>Official Arduino Uno Rev3 pinout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445BC4-D8D7-4C19-8B98-08537C71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524500"/>
            <a:ext cx="411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75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7c1c636d75b5498e"/>
              </a:rPr>
              <a:t>content.arduino.cc/assets/A000066-pinout.png</a:t>
            </a:r>
          </a:p>
        </p:txBody>
      </p:sp>
    </p:spTree>
    <p:extLst>
      <p:ext uri="{BB962C8B-B14F-4D97-AF65-F5344CB8AC3E}">
        <p14:creationId xmlns:p14="http://schemas.microsoft.com/office/powerpoint/2010/main" val="126222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C69CDA-8F42-45E4-8EBC-D4404B8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FA52B-7336-4E6C-8E26-97BC45A6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MECHANISM • OPERATION 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03F68-60CB-482A-9518-248E256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Interrupt Processing Path 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6541D-C030-4F21-A0AF-602CC31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86133-4834-4C17-BE8F-23C5941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6ECDA-D159-4818-B762-BACFE7B3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937C4-1D2B-4403-835A-1C815F45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A7"/>
          </a:solidFill>
          <a:ln xmlns:a="http://schemas.openxmlformats.org/drawingml/2006/main" w="9525">
            <a:solidFill>
              <a:srgbClr val="1677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9DD05-AF1A-4ACF-B8DA-E0B72CB2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FA57A-FC4B-44FE-8CFB-B778AAF5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FAB22-273A-455C-B038-25B844E4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Request หรือ Flag ถูกตั้ง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CF6D8-D6DA-450C-B046-440C178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0B2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5C325-8259-4C5F-B69D-ED4C0B79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5887E-6C72-4BAE-9A85-D80CE0EF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05B99-F84A-470B-8773-FB8CCBF0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ACCEPT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05711-518E-4ABC-BA40-D8F072AA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จบ instruction ปัจจุบัน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ตรวจ Enable + Priority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3D15B-C019-4309-89A2-14CD2B6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8BDEE-2CF6-471D-A617-0FCA218D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E54AF-A368-4617-AA26-98F5FB70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787F1-E052-4213-A2C7-AA04662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E7D5B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2E7D5B"/>
                </a:solidFill>
                <a:latin typeface="Tahoma"/>
                <a:ea typeface="Tahoma"/>
                <a:cs typeface="Tahoma"/>
              </a:rP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08D69-9BAF-44DA-9864-CF5F3EFE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เก็บ PC และ Context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ลง Stack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71424-8C9A-4194-822A-90720CE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52999-F059-4422-8E80-F643CEB4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AD2C2-ED20-4CA9-B2B1-8ED66F0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AE249-54D1-4996-B01E-4760FBA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VECTOR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D8F46-D157-487B-8BFC-D07FA914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อ่าน Vector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โหลด ISR address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97FAE-8ADD-4581-94E7-7F89BA8A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F9F0B-66C2-4C32-979C-BBC7072B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473A"/>
          </a:solidFill>
          <a:ln xmlns:a="http://schemas.openxmlformats.org/drawingml/2006/main" w="9525">
            <a:solidFill>
              <a:srgbClr val="C647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F0AC4-BFA4-480B-9DF7-508E5B6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05BC1-277B-47F6-8605-1F3C616C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EXECUTE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58B77-A97A-4BB8-8D1D-12947018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ทำ ISR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จัดการต้นเหตุของ Event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0DB14-870C-48AA-A6B4-79910971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52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57D21-8C1E-4D94-85E6-47BADB97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A7"/>
          </a:solidFill>
          <a:ln xmlns:a="http://schemas.openxmlformats.org/drawingml/2006/main" w="9525">
            <a:solidFill>
              <a:srgbClr val="167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56B649-81E3-4A90-995D-4A8AD9BE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A9093D-A1E3-4B7A-AECB-AD5F8BD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8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5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RETURN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EEAB03-17F1-4FE9-A31F-08B99D14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Restore + RETI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กลับ Main Program</a:t>
            </a:r>
          </a:p>
        </p:txBody>
      </p:sp>
      <p:cxnSp>
        <p:nvCxnSpPr>
          <p:cNvPr id="201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29050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2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43800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3" name=""/>
          <p:cNvCxnSpPr>
            <a:stCxn xmlns:a="http://schemas.openxmlformats.org/drawingml/2006/main" id="1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782175" y="31051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4" name=""/>
          <p:cNvCxnSpPr>
            <a:stCxn xmlns:a="http://schemas.openxmlformats.org/drawingml/2006/main" id="21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7543800" y="4743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5" name=""/>
          <p:cNvCxnSpPr>
            <a:stCxn xmlns:a="http://schemas.openxmlformats.org/drawingml/2006/main" id="26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3829050" y="4743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B7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2296AB-04E1-49B8-B4F9-44C9AA3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Resume main program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1DFBC6-882E-4CE6-8040-BDD732E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4483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A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E7D618-6BBA-4255-A30D-202A3CE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BB370A-0C1D-457D-AB5C-AAB5125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39287c2467874e63"/>
              </a:rPr>
              <a:t>Sources: Yiu • Microchip ATmega328P • Arm Exception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C1E0A8-1AE0-4875-95DB-344F023C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03</a:t>
            </a:r>
          </a:p>
        </p:txBody>
      </p:sp>
    </p:spTree>
    <p:extLst>
      <p:ext uri="{BB962C8B-B14F-4D97-AF65-F5344CB8AC3E}">
        <p14:creationId xmlns:p14="http://schemas.microsoft.com/office/powerpoint/2010/main" val="2090534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3C8EEC-BCC2-4A27-929D-FDAE04F6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147DC-E1C8-43B1-ACF8-708BCAC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CONTEXT • STACK 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B6AD0-E6E4-4BB7-8022-E7741CA5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Context Saving 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5645F-9A6C-4564-BDCD-2EF20294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EBDC5-5013-44A6-89F1-2B36157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4E650-6D40-4CBD-9843-26CB8DF8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8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AVR ATmega328P </a:t>
            </a:r>
            <a:r>
              <a:rPr sz="180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DC46-B691-4EF5-BFA8-B755F852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62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8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ARM Cortex‑M basic frame </a:t>
            </a:r>
            <a:r>
              <a:rPr sz="18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 </a:t>
            </a:r>
            <a:r>
              <a:rPr sz="1800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356E8-328A-4645-B457-1ACBF262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3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43695-D024-4EDF-91FD-27C469F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336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Main stack / local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A79EE-3ADF-4D80-BCD1-199D7DA3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7426C-E5B3-4F26-A770-8798796F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PC return address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5F628-8A0A-4F56-92F8-67983734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30079-F89F-43E3-A84A-BA32F271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SREG + used registers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A8DB1-A0A8-4C82-81AE-9145219D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3429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3ED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FAC67-ED84-488B-AB12-CDB1CB71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35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ISR local 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30DDA-7E2A-4C92-87F3-C11698CA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Hardware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0B590-FAAB-4CA0-87DC-1DA8207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25" b="1" i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Compiler /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69130-BEA8-422F-8EC2-DD1123C4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19974-B4E8-46FF-AAB4-657E33FF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51D29-889F-4DE3-A888-1327A251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36F72-48B6-42BC-BB84-7154FE19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xPSR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0A28A-31D3-4A1D-B681-1AC850A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6B821-9B65-4472-A9E7-1906149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76BE6-6482-433A-BF8A-778453A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ED1E3-21FB-4EF2-ACC0-1C7A5C9A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LR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6448BB-F598-411A-BE4A-E55901D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AE8"/>
          </a:solidFill>
          <a:ln xmlns:a="http://schemas.openxmlformats.org/drawingml/2006/main" w="19050">
            <a:solidFill>
              <a:srgbClr val="C647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9DB18-5B53-4538-94EE-7B1EBBF6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9075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81482-ABE8-42E0-AC60-EC76BFFA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3E48CF-A3F2-469C-81BA-815CCF4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57E44-58BC-463A-ABD5-EFB6083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9B011D-AD19-4345-9D73-20D877D4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8C636-29BF-43BA-B828-37F91557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D947FD-CCEF-4EA6-903A-1952F27A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218717-4C4C-459B-B768-1B47F6EF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86100"/>
            <a:ext cx="914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4F8"/>
          </a:solidFill>
          <a:ln xmlns:a="http://schemas.openxmlformats.org/drawingml/2006/main" w="19050">
            <a:solidFill>
              <a:srgbClr val="1677A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FE5977-C2D8-47BD-95E7-DE179C93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86100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R0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20C48-E633-40B7-9507-9B1C8ABE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575" b="1" i="0">
                <a:solidFill>
                  <a:srgbClr val="C6473A"/>
                </a:solidFill>
                <a:latin typeface="Tahoma"/>
                <a:ea typeface="Tahoma"/>
                <a:cs typeface="Tahoma"/>
              </a:rPr>
              <a:t>8 registers × 32 bit = 32 bytes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2E6DB-C26A-404B-8B3D-30864858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1275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Hardware stacking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F9B3F8-CBFB-4353-8A4F-3006D14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287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D26B6F-20E8-4C2C-8940-8D7623C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Context ที่ต้องรักษา = สถานะที่ทำให้ Main Program กลับมาทำงานต่อได้อย่างถูกต้อง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93E151-0DED-4005-81EA-91C9EFAE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25B9BC-0659-4993-9861-19CF7E4C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Sources: Yiu • Microchip ATmega328P • Arm Stack Frames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996964-9410-4F90-A4A5-2563742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04</a:t>
            </a:r>
          </a:p>
        </p:txBody>
      </p:sp>
      <p:sp>
        <p:nvSpPr>
          <p:cNvPr id="44" name="arm-stack-visual-mask">
            <a:extLst xmlns:a="http://schemas.openxmlformats.org/drawingml/2006/main">
              <a:ext uri="{FF2B5EF4-FFF2-40B4-BE49-F238E27FC236}">
                <a16:creationId xmlns:a16="http://schemas.microsoft.com/office/drawing/2014/main" id="{FA3B2439-9E8F-458B-A9A5-738BEA20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762500" cy="3857625"/>
          </a:xfrm>
          <a:prstGeom xmlns:a="http://schemas.openxmlformats.org/drawingml/2006/main" prst="roundRect">
            <a:avLst>
              <a:gd name="adj" fmla="val 3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FA2EF6-D9A2-4F0C-962D-3291EFDC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C6473A"/>
                </a:solidFill>
                <a:latin typeface="Tahoma"/>
                <a:ea typeface="Tahoma"/>
                <a:cs typeface="Tahoma"/>
              </a:rPr>
              <a:t>ARM Cortex-M Hardware Stack Frame</a:t>
            </a:r>
          </a:p>
        </p:txBody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a1f99add5494f"/>
          <a:stretch xmlns:a="http://schemas.openxmlformats.org/drawingml/2006/main"/>
        </p:blipFill>
        <p:spPr>
          <a:xfrm xmlns:a="http://schemas.openxmlformats.org/drawingml/2006/main">
            <a:off x="7797502" y="1847850"/>
            <a:ext cx="2311997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F8B065-9B9E-4E0C-B397-0B6D7F39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38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C6473A"/>
                </a:solidFill>
                <a:latin typeface="Tahoma"/>
                <a:ea typeface="Tahoma"/>
                <a:cs typeface="Tahoma"/>
              </a:rPr>
              <a:t>Arm Basic Exception Stack Frame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7A1CA0-C2D8-4846-AB20-E0CB575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67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75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4f9545fd09134335"/>
              </a:rPr>
              <a:t>developer.arm.com • Stack frames</a:t>
            </a:r>
          </a:p>
        </p:txBody>
      </p:sp>
    </p:spTree>
    <p:extLst>
      <p:ext uri="{BB962C8B-B14F-4D97-AF65-F5344CB8AC3E}">
        <p14:creationId xmlns:p14="http://schemas.microsoft.com/office/powerpoint/2010/main" val="1602941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E31CAA-E771-4307-8612-DBBB50A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9525">
            <a:solidFill>
              <a:srgbClr val="C89B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0DDE6-408D-45DC-9010-057B4E5C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 i="0">
                <a:solidFill>
                  <a:srgbClr val="1677A7"/>
                </a:solidFill>
                <a:latin typeface="Tahoma"/>
                <a:ea typeface="Tahoma"/>
                <a:cs typeface="Tahoma"/>
              </a:rPr>
              <a:t>REFERENCES • เอกสารอ้างอิง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43DBB-CE3E-46C2-8B65-138571B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2850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Textbooks, datasheets, and primary documentation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8E2C-E698-44E8-8C0E-20DE06A5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00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0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8641-CA8D-405E-90FA-52FF3644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FB089-F611-4779-A965-6F7717B4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F7D80-B0AC-4AD2-AFDC-29EECE17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Mazidi, Naimi &amp; Naimi (2011)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C202B-64CD-46DC-91C3-0DF1265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The AVR Microcontroller and Embedded Systems. Prentice Hall.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E03C6-8122-4635-8947-469E1E6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4442A-97A6-465D-9CAF-CB7D618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70750-1FA9-400F-AFAF-6FCB593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Yiu, J. (2013)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45258-BBD3-4DE5-8563-840F9EB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The Definitive Guide to ARM Cortex-M3/M4, 3rd ed. Newnes.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D7C6C-0810-4EC6-B0AE-7DE35CD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89622-5342-49F6-BE9F-59AD6ED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4A201-064F-4FEA-8254-69C36A2C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Microchip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8C396-79C1-435B-A910-8DCE3755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ATmega328P Datasheet, Atmel-7810 — Interrupts &amp; Vector Table.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8AD56-BDBE-42F1-B76C-E102CB98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5416E-2E49-4CF1-85F9-C3230CD7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F6D57-59D1-4F31-9B27-32BC4EE8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Microchip Technology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ABCEB-FF48-4993-BB85-1A0D2A53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ATmega48A/PA/.../328/P Datasheet.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B52FA-CC2E-4D4A-91B4-2A116D21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7DBF1-5248-47A7-B224-215FBFC6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15ABD-63EE-420D-ABE9-5E37EE6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62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99182-9E7E-42D4-AE9C-2F1FD5D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431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Cortex-M3 Devices Generic User Guide — Exception Entry &amp; Return.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E29A0-08A3-4028-B62E-D0DF88A0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74572-4F2D-4B51-9A1A-1C8635F7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D8B45-3779-4808-B01E-1EA73B45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ED0DA-4662-48BC-89C9-7C31BD84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Exceptions and Interrupts Overview — Stack Frames.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6B447-BADD-4706-AE1E-863C84E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DBF27-9BA2-4C54-A871-5EBCFB5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18809-7650-47D4-992D-8614669A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Arm (2016)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F885F-1F15-4668-9B10-0D0C391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767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Beginner Guide to Interrupt Latency on Cortex-M Processors.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9723A-9D05-4AB7-915F-EDB6B440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75F997-8888-40F9-AC04-05F8127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350" b="1" i="0">
                <a:solidFill>
                  <a:srgbClr val="C89B3C"/>
                </a:solidFill>
                <a:latin typeface="Tahoma"/>
                <a:ea typeface="Tahoma"/>
                <a:cs typeface="Tahoma"/>
              </a:rPr>
              <a:t>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0510C-B221-4A04-B9DD-6C39DBED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62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425" b="1" i="0">
                <a:solidFill>
                  <a:srgbClr val="0B2A4A"/>
                </a:solidFill>
                <a:latin typeface="Tahoma"/>
                <a:ea typeface="Tahoma"/>
                <a:cs typeface="Tahoma"/>
              </a:rPr>
              <a:t>Valvano, McDermott &amp; Bard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62094-786A-4275-ABDB-417A038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435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17212B"/>
                </a:solidFill>
                <a:latin typeface="Tahoma"/>
                <a:ea typeface="Tahoma"/>
                <a:cs typeface="Tahoma"/>
              </a:defRPr>
            </a:pPr>
            <a:r>
              <a:rPr sz="1200" b="0" i="0">
                <a:solidFill>
                  <a:srgbClr val="17212B"/>
                </a:solidFill>
                <a:latin typeface="Tahoma"/>
                <a:ea typeface="Tahoma"/>
                <a:cs typeface="Tahoma"/>
              </a:rPr>
              <a:t>Real-Time Interfacing — UT Austin ebook.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09BB09-95CD-415D-BC88-5C6EFAC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150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E3BEC7-4177-4773-ADCE-F908454C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62650"/>
            <a:ext cx="9334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9525">
            <a:solidFill>
              <a:srgbClr val="0B2A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DA1DE4-A742-4BD5-AD33-4FFD9987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6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Click source titles to open official pages • Full URLs are in Speaker Notes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AF3899-9F20-4209-8564-46E55810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A7E45A-C488-4BCA-B220-20CB2D30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Accessed 6 Aug 2026 • Official sources and textbook records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15ADFB-E855-4923-B5FE-782CBAA2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750" b="0" i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305341 Embedded System 1  •  ธีรภัทร ภู่ระย้า 66362416  •  05</a:t>
            </a:r>
          </a:p>
        </p:txBody>
      </p:sp>
      <p:sp>
        <p:nvSpPr>
          <p:cNvPr id="44" name="reference-content-mask">
            <a:extLst xmlns:a="http://schemas.openxmlformats.org/drawingml/2006/main">
              <a:ext uri="{FF2B5EF4-FFF2-40B4-BE49-F238E27FC236}">
                <a16:creationId xmlns:a16="http://schemas.microsoft.com/office/drawing/2014/main" id="{B5DEA449-1DCA-42EF-AC53-E71BEC26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6D7C08-B577-477A-8E7D-590F705A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677A7"/>
                </a:solidFill>
                <a:latin typeface="Tahoma"/>
                <a:ea typeface="Tahoma"/>
                <a:cs typeface="Tahoma"/>
              </a:rPr>
              <a:t>TEXTBOOKS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7E1297-AEBD-477B-9E88-C70FE836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677A7"/>
                </a:solidFill>
                <a:latin typeface="Tahoma"/>
                <a:ea typeface="Tahoma"/>
                <a:cs typeface="Tahoma"/>
              </a:rPr>
              <a:t>PRIMARY DOCUMENTATION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f3c1e6b094d3f"/>
          <a:stretch xmlns:a="http://schemas.openxmlformats.org/drawingml/2006/main"/>
        </p:blipFill>
        <p:spPr>
          <a:xfrm xmlns:a="http://schemas.openxmlformats.org/drawingml/2006/main">
            <a:off x="857250" y="1945481"/>
            <a:ext cx="1066800" cy="1366838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432090-5AA6-472F-94B0-C5F9BE5E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52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B2A4A"/>
                </a:solidFill>
                <a:latin typeface="Tahoma"/>
                <a:ea typeface="Tahoma"/>
                <a:cs typeface="Tahoma"/>
                <a:hlinkClick xmlns:r="http://schemas.openxmlformats.org/officeDocument/2006/relationships" r:id="R79c0315310714923"/>
              </a:rPr>
              <a:t>The AVR Microcontroller and Embedded Systems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886233-1666-4513-860C-047EE31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146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Mazidi, Naimi &amp; Naimi • Prentice Hall, 2011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books.google.com • ISBN 9780138003319</a:t>
            </a:r>
          </a:p>
        </p:txBody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e00236cd5442d"/>
          <a:stretch xmlns:a="http://schemas.openxmlformats.org/drawingml/2006/main"/>
        </p:blipFill>
        <p:spPr>
          <a:xfrm xmlns:a="http://schemas.openxmlformats.org/drawingml/2006/main">
            <a:off x="857250" y="3742134"/>
            <a:ext cx="1066800" cy="1316831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7F2B08-0B9A-43D1-9F9F-4C3CF334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147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0B2A4A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B2A4A"/>
                </a:solidFill>
                <a:latin typeface="Tahoma"/>
                <a:ea typeface="Tahoma"/>
                <a:cs typeface="Tahoma"/>
                <a:hlinkClick xmlns:r="http://schemas.openxmlformats.org/officeDocument/2006/relationships" r:id="R47595923f94b49df"/>
              </a:rPr>
              <a:t>The Definitive Guide to ARM Cortex-M3 and Cortex-M4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3DC8E1-C2C2-403F-BF82-3AD0A4EB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053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Joseph Yiu • Newnes, 3rd ed., 2013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books.google.com • ISBN 9780124080829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38C0CC-293B-466A-AC63-5343EDD8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2405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02BCFE-2EA2-474A-8B6D-B6FD7702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882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677A7"/>
                </a:solidFill>
                <a:latin typeface="Tahoma"/>
                <a:ea typeface="Tahoma"/>
                <a:cs typeface="Tahoma"/>
                <a:hlinkClick xmlns:r="http://schemas.openxmlformats.org/officeDocument/2006/relationships" r:id="R3b13686cae714f4d"/>
              </a:rPr>
              <a:t>Microchip — ATmega328P Datasheet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E40F54-738E-4FF5-A074-1E7A3C8F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8df15e0b3b0d42aa"/>
              </a:rPr>
              <a:t>ww1.microchip.com • Interrupts &amp; Vector Table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CAE7D7-5D0D-40F5-B448-CFD579AA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09DCF3-8DE3-4C34-9E24-793C45F5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8607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C6473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6473A"/>
                </a:solidFill>
                <a:latin typeface="Tahoma"/>
                <a:ea typeface="Tahoma"/>
                <a:cs typeface="Tahoma"/>
                <a:hlinkClick xmlns:r="http://schemas.openxmlformats.org/officeDocument/2006/relationships" r:id="R95cb87f0cdc342bb"/>
              </a:rPr>
              <a:t>Arm — Exception Entry &amp; Return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328040-E5B6-4D59-8E98-EFFBEAD4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edea3a7f729342f2"/>
              </a:rPr>
              <a:t>developer.arm.com • Cortex-M3 Generic User Guide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65BC49-1041-4FE0-92E3-70D0F97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C10B32-FD32-4276-8ADB-9C839DF4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4332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2E7D5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E7D5B"/>
                </a:solidFill>
                <a:latin typeface="Tahoma"/>
                <a:ea typeface="Tahoma"/>
                <a:cs typeface="Tahoma"/>
                <a:hlinkClick xmlns:r="http://schemas.openxmlformats.org/officeDocument/2006/relationships" r:id="Rb95e9f9737e948d0"/>
              </a:rPr>
              <a:t>Arm — Stack Frames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89831C-596A-4BBE-B3F7-36CE40E7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ff75f143c8ca4368"/>
              </a:rPr>
              <a:t>developer.arm.com • Armv8-M Exception Model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DFA7A0-EA9E-4928-BD6B-A82A843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533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5F3DFF-6C6C-43E9-A3AE-002A314B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00575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C89B3C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9B3C"/>
                </a:solidFill>
                <a:latin typeface="Tahoma"/>
                <a:ea typeface="Tahoma"/>
                <a:cs typeface="Tahoma"/>
                <a:hlinkClick xmlns:r="http://schemas.openxmlformats.org/officeDocument/2006/relationships" r:id="R7b5a1ccc7828447f"/>
              </a:rPr>
              <a:t>Arduino — Uno Rev3 Product &amp; Pinout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20D97B-8C14-49AF-A889-67B9B4EB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958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D6B78"/>
                </a:solidFill>
                <a:latin typeface="Tahoma"/>
                <a:ea typeface="Tahoma"/>
                <a:cs typeface="Tahoma"/>
                <a:hlinkClick xmlns:r="http://schemas.openxmlformats.org/officeDocument/2006/relationships" r:id="R475ed8c3f2154c5f"/>
              </a:rPr>
              <a:t>store.arduino.cc • content.arduino.cc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47B842-15F6-4E98-A856-99C4C722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30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1677A7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677A7"/>
                </a:solidFill>
                <a:latin typeface="Tahoma"/>
                <a:ea typeface="Tahoma"/>
                <a:cs typeface="Tahoma"/>
                <a:hlinkClick xmlns:r="http://schemas.openxmlformats.org/officeDocument/2006/relationships" r:id="R4c08c723ae8346c0"/>
              </a:rPr>
              <a:t>Additional open textbook: UT Austin — Real-Time Interfacing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D4E45B4-B56B-474A-AA55-2C544319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1030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25" b="0">
                <a:solidFill>
                  <a:srgbClr val="5D6B78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5D6B78"/>
                </a:solidFill>
                <a:latin typeface="Tahoma"/>
                <a:ea typeface="Tahoma"/>
                <a:cs typeface="Tahoma"/>
              </a:rPr>
              <a:t>All source titles above are clickable • Full exact URLs and image sources are recorded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449474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2026-08-06T08:06:27.9170000Z</dcterms:created>
  <dcterms:modified xsi:type="dcterms:W3CDTF">2026-08-06T08:06:27.9170000Z</dcterms:modified>
</coreProperties>
</file>