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fonts/font4.dat" ContentType="application/x-fontdata"/>
  <Override PartName="/ppt/fonts/font5.dat" ContentType="application/x-fontdata"/>
  <Override PartName="/ppt/fonts/font6.dat" ContentType="application/x-fontdata"/>
  <Override PartName="/ppt/fonts/font7.dat" ContentType="application/x-fontdata"/>
  <Override PartName="/ppt/fonts/font8.dat" ContentType="application/x-fontdata"/>
  <Override PartName="/ppt/fonts/font9.dat" ContentType="application/x-fontdata"/>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59e43764bcff452f" Type="http://schemas.openxmlformats.org/officeDocument/2006/relationships/extended-properties" Target="docProps/app.xml"/><Relationship Id="R993b1ac57ba44520" Type="http://schemas.openxmlformats.org/package/2006/relationships/metadata/core-properties" Target="docProps/core.xml"/><Relationship Id="Rb028b0fb8aa547f1" Type="http://schemas.openxmlformats.org/officeDocument/2006/relationships/officeDocument" Target="ppt/presentation.xml"/></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6b6aaf0c4914823"/>
  </p:sldMasterIdLst>
  <p:notesMasterIdLst>
    <p:notesMasterId xmlns:r="http://schemas.openxmlformats.org/officeDocument/2006/relationships" r:id="Rd397a76fe08d45a5"/>
  </p:notesMasterIdLst>
  <p:sldIdLst>
    <p:sldId xmlns:r="http://schemas.openxmlformats.org/officeDocument/2006/relationships" id="256" r:id="Rd177594be9984030"/>
    <p:sldId xmlns:r="http://schemas.openxmlformats.org/officeDocument/2006/relationships" id="257" r:id="R2b6eb2d9d6a24f6d"/>
    <p:sldId xmlns:r="http://schemas.openxmlformats.org/officeDocument/2006/relationships" id="258" r:id="Rd7ed5e5360124dd8"/>
    <p:sldId xmlns:r="http://schemas.openxmlformats.org/officeDocument/2006/relationships" id="259" r:id="Rdf8da42b6b3546ec"/>
    <p:sldId xmlns:r="http://schemas.openxmlformats.org/officeDocument/2006/relationships" id="260" r:id="R75617786a40544f3"/>
  </p:sldIdLst>
  <p:sldSz cx="12192000" cy="6858000"/>
  <p:notesSz cx="6858000" cy="9144000"/>
  <p:embeddedFontLst>
    <p:embeddedFont>
      <p:font typeface="Inter"/>
      <p:regular xmlns:r="http://schemas.openxmlformats.org/officeDocument/2006/relationships" r:id="R62fdf87bc43b46a1"/>
      <p:bold xmlns:r="http://schemas.openxmlformats.org/officeDocument/2006/relationships" r:id="R1e8b2a654c444b1a"/>
    </p:embeddedFont>
    <p:embeddedFont>
      <p:font typeface="Inter Medium"/>
      <p:regular xmlns:r="http://schemas.openxmlformats.org/officeDocument/2006/relationships" r:id="Rc949d1a8978d403b"/>
    </p:embeddedFont>
    <p:embeddedFont>
      <p:font typeface="Inter SemiBold"/>
      <p:regular xmlns:r="http://schemas.openxmlformats.org/officeDocument/2006/relationships" r:id="Rf853156f7eb8490a"/>
      <p:bold xmlns:r="http://schemas.openxmlformats.org/officeDocument/2006/relationships" r:id="R37e25bd0b5864589"/>
    </p:embeddedFont>
    <p:embeddedFont>
      <p:font typeface="OpenAI Sans"/>
      <p:regular xmlns:r="http://schemas.openxmlformats.org/officeDocument/2006/relationships" r:id="R9d971c3d105b41e5"/>
      <p:bold xmlns:r="http://schemas.openxmlformats.org/officeDocument/2006/relationships" r:id="Rff64be689e2e4363"/>
      <p:italic xmlns:r="http://schemas.openxmlformats.org/officeDocument/2006/relationships" r:id="R56cbd5131c5d4468"/>
      <p:boldItalic xmlns:r="http://schemas.openxmlformats.org/officeDocument/2006/relationships" r:id="R054e1ff8d92d41b3"/>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54e1ff8d92d41b3" Type="http://schemas.openxmlformats.org/officeDocument/2006/relationships/font" Target="fonts/font9.dat"/><Relationship Id="R1e8b2a654c444b1a" Type="http://schemas.openxmlformats.org/officeDocument/2006/relationships/font" Target="fonts/font2.dat"/><Relationship Id="R2288a0c82803414c" Type="http://schemas.openxmlformats.org/officeDocument/2006/relationships/tableStyles" Target="tableStyles.xml"/><Relationship Id="R2b6eb2d9d6a24f6d" Type="http://schemas.openxmlformats.org/officeDocument/2006/relationships/slide" Target="slides/slide2.xml"/><Relationship Id="R37e25bd0b5864589" Type="http://schemas.openxmlformats.org/officeDocument/2006/relationships/font" Target="fonts/font5.dat"/><Relationship Id="R56cbd5131c5d4468" Type="http://schemas.openxmlformats.org/officeDocument/2006/relationships/font" Target="fonts/font8.dat"/><Relationship Id="R62fdf87bc43b46a1" Type="http://schemas.openxmlformats.org/officeDocument/2006/relationships/font" Target="fonts/font.dat"/><Relationship Id="R71d91bad10584775" Type="http://schemas.openxmlformats.org/officeDocument/2006/relationships/theme" Target="theme/theme1.xml"/><Relationship Id="R73a5fd147048458a" Type="http://schemas.openxmlformats.org/officeDocument/2006/relationships/viewProps" Target="viewProps.xml"/><Relationship Id="R75617786a40544f3" Type="http://schemas.openxmlformats.org/officeDocument/2006/relationships/slide" Target="slides/slide5.xml"/><Relationship Id="R76b6aaf0c4914823" Type="http://schemas.openxmlformats.org/officeDocument/2006/relationships/slideMaster" Target="slideMasters/slideMaster1.xml"/><Relationship Id="R9d971c3d105b41e5" Type="http://schemas.openxmlformats.org/officeDocument/2006/relationships/font" Target="fonts/font6.dat"/><Relationship Id="Rb6a8852aa89f4606" Type="http://schemas.openxmlformats.org/officeDocument/2006/relationships/presProps" Target="presProps.xml"/><Relationship Id="Rc949d1a8978d403b" Type="http://schemas.openxmlformats.org/officeDocument/2006/relationships/font" Target="fonts/font3.dat"/><Relationship Id="Rd177594be9984030" Type="http://schemas.openxmlformats.org/officeDocument/2006/relationships/slide" Target="slides/slide1.xml"/><Relationship Id="Rd397a76fe08d45a5" Type="http://schemas.openxmlformats.org/officeDocument/2006/relationships/notesMaster" Target="notesMasters/notesMaster1.xml"/><Relationship Id="Rd7ed5e5360124dd8" Type="http://schemas.openxmlformats.org/officeDocument/2006/relationships/slide" Target="slides/slide3.xml"/><Relationship Id="Rdf8da42b6b3546ec" Type="http://schemas.openxmlformats.org/officeDocument/2006/relationships/slide" Target="slides/slide4.xml"/><Relationship Id="Rf853156f7eb8490a" Type="http://schemas.openxmlformats.org/officeDocument/2006/relationships/font" Target="fonts/font4.dat"/><Relationship Id="Rff64be689e2e4363" Type="http://schemas.openxmlformats.org/officeDocument/2006/relationships/font" Target="fonts/font7.dat"/></Relationships>
</file>

<file path=ppt/notesMasters/_rels/notesMaster1.xml.rels><?xml version='1.0' encoding='UTF-8' standalone='yes'?>
<Relationships xmlns="http://schemas.openxmlformats.org/package/2006/relationships"><Relationship Id="R02d42af3635f4d5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fd97a9b12104595" Type="http://schemas.openxmlformats.org/officeDocument/2006/relationships/slide" Target="../slides/slide1.xml"/><Relationship Id="R8a8b83b7667d4536"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57cb24f433fb4853" Type="http://schemas.openxmlformats.org/officeDocument/2006/relationships/notesMaster" Target="../notesMasters/notesMaster1.xml"/><Relationship Id="Rdd88af8fc3a74dad"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39a6a7baf72c4776" Type="http://schemas.openxmlformats.org/officeDocument/2006/relationships/notesMaster" Target="../notesMasters/notesMaster1.xml"/><Relationship Id="R40c4f9a45dfa4b4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6ab0cee1cb0d400c" Type="http://schemas.openxmlformats.org/officeDocument/2006/relationships/notesMaster" Target="../notesMasters/notesMaster1.xml"/><Relationship Id="Rf8dab19d073e42e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5f4f64f8ab0c48ae" Type="http://schemas.openxmlformats.org/officeDocument/2006/relationships/slide" Target="../slides/slide5.xml"/><Relationship Id="Rc50105b639624e77"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0:00–0:15</a:t>
            </a:r>
            <a:endParaRPr/>
          </a:p>
          <a:p xmlns:a="http://schemas.openxmlformats.org/drawingml/2006/main">
            <a:r>
              <a:t>สวัสดีครับ ผมธีรภัทร ภู่ระย้า รหัส 66362416 หัวข้อที่ 41 Interrupt Mechanism วันนี้จะอธิบายว่า CPU รับคำขอขัดจังหวะ เปลี่ยนไปทำ ISR และกลับมาทำงานเดิมอย่างถูกต้องได้อย่างไร</a:t>
            </a:r>
            <a:endParaRPr/>
          </a:p>
          <a:p xmlns:a="http://schemas.openxmlformats.org/drawingml/2006/main">
            <a:r>
              <a:t/>
            </a:r>
            <a:endParaRPr/>
          </a:p>
          <a:p xmlns:a="http://schemas.openxmlformats.org/drawingml/2006/main">
            <a:r>
              <a:t>[Sources]</a:t>
            </a:r>
            <a:endParaRPr/>
          </a:p>
          <a:p xmlns:a="http://schemas.openxmlformats.org/drawingml/2006/main">
            <a:r>
              <a:t>- /Users/3rapat/student/internship/CODEFIN/project/vahalla-wealth/private-docs/other-project/uni-work/embedded-system/1/info/student-course-enrollment.md</a:t>
            </a:r>
            <a:endParaRPr/>
          </a:p>
          <a:p xmlns:a="http://schemas.openxmlformats.org/drawingml/2006/main">
            <a:r>
              <a:t>- /Users/3rapat/student/internship/CODEFIN/project/vahalla-wealth/private-docs/other-project/uni-work/embedded-system/1/personal-presentation/assignment/Topic-lists.md</a:t>
            </a:r>
            <a:endParaRPr/>
          </a:p>
          <a:p xmlns:a="http://schemas.openxmlformats.org/drawingml/2006/main">
            <a:r>
              <a:t>- /Users/3rapat/student/internship/CODEFIN/project/vahalla-wealth/private-docs/other-project/uni-work/embedded-system/1/personal-presentation/assignment/Course Work.pdf, pp. 3, 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บทบรรยาย 0:15–0:48</a:t>
            </a:r>
            <a:endParaRPr/>
          </a:p>
          <a:p xmlns:a="http://schemas.openxmlformats.org/drawingml/2006/main">
            <a:pPr marL="0" lvl="0" indent="0" algn="l">
              <a:spcBef>
                <a:spcPts val="0"/>
              </a:spcBef>
              <a:spcAft>
                <a:spcPts val="0"/>
              </a:spcAft>
              <a:buNone/>
            </a:pPr>
            <a:r>
              <a:t>Interrupt คือกลไกถ่ายโอนการควบคุมจากโปรแกรมปัจจุบันไปยัง Interrupt Service Routine เมื่อมีคำขอที่ผ่านเงื่อนไข จุดสำคัญคือคำขอเกิดได้แบบอะซิงโครนัส ระบบต้องเก็บสถานะที่จำเป็น ใช้ Vector ระบุตำแหน่ง Handler และใช้ Enable, Mask กับ Priority กำกับการตอบรับ ในการอธิบายด้วยวาจา เราอาจเทียบสั้น ๆ ว่า CPU ไม่จำเป็นต้องวนตรวจสถานะอุปกรณ์ทุกจังหวะเหมือน polling แต่ความเปรียบเทียบนี้ไม่ใช่แกนเนื้อหาบนสไลด์</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[1] /Users/3rapat/student/internship/CODEFIN/project/vahalla-wealth/private-docs/other-project/uni-work/embedded-system/1/textbook/avr-microcontroller-and-embedded-systems-by-ali-mazidi.pdf, pp. 375–376</a:t>
            </a:r>
            <a:endParaRPr/>
          </a:p>
          <a:p xmlns:a="http://schemas.openxmlformats.org/drawingml/2006/main">
            <a:pPr marL="0" lvl="0" indent="0" algn="l">
              <a:spcBef>
                <a:spcPts val="0"/>
              </a:spcBef>
              <a:spcAft>
                <a:spcPts val="0"/>
              </a:spcAft>
              <a:buNone/>
            </a:pPr>
            <a:r>
              <a:t>- [2] /Users/3rapat/student/internship/CODEFIN/project/vahalla-wealth/private-docs/other-project/uni-work/embedded-system/1/textbook/Microchip-Technology(2018)_ATmega328P 8-bit_AVR_Microcontroller.pdf, pp. 33–34</a:t>
            </a:r>
            <a:endParaRPr/>
          </a:p>
          <a:p xmlns:a="http://schemas.openxmlformats.org/drawingml/2006/main">
            <a:r>
              <a:t>[ภาพประกอบเพิ่มเติม] ตาราง interrupt vector ของ 8051 มุมล่างซ้าย วาดขึ้นเองจากเนื้อหา Lecture 3 (SFR/vector) และ Intel MCS-51 Family User's Manual ไม่ใช่ภาพคัดลอกจากตำรา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0:48–1:34</a:t>
            </a:r>
          </a:p>
          <a:p xmlns:a="http://schemas.openxmlformats.org/drawingml/2006/main">
            <a:r>
              <a:t>กระบวนการแบ่งเป็นสามระยะ ระยะแรก Request: Event หรือ Flag สร้างคำขอและอาจค้างในสถานะ Pending ระยะที่สอง Entry: วงจรควบคุมตรวจ Enable, Mask และ Priority จากนั้นเก็บบริบทที่สถาปัตยกรรมกำหนด และอ่าน Vector เพื่อเริ่ม Handler ระยะที่สาม Service and Return: ISR จัดการเหตุ Acknowledge หรือ Clear แหล่งคำขอ แล้วใช้กลไก Return เพื่อคืนสถานะและ Resume โปรแกรมเดิม ลำดับนี้เป็นแบบจำลองร่วม ส่วนรายละเอียดการเก็บ Register และคำสั่ง Return ขึ้นกับสถาปัตยกรรม</a:t>
            </a:r>
          </a:p>
          <a:p xmlns:a="http://schemas.openxmlformats.org/drawingml/2006/main">
            <a:r>
              <a:t/>
            </a:r>
          </a:p>
          <a:p xmlns:a="http://schemas.openxmlformats.org/drawingml/2006/main">
            <a:r>
              <a:t>[Sources]</a:t>
            </a:r>
          </a:p>
          <a:p xmlns:a="http://schemas.openxmlformats.org/drawingml/2006/main">
            <a:r>
              <a:t>- [1] /Users/3rapat/student/internship/CODEFIN/project/vahalla-wealth/private-docs/other-project/uni-work/embedded-system/1/textbook/avr-microcontroller-and-embedded-systems-by-ali-mazidi.pdf, p. 376</a:t>
            </a:r>
          </a:p>
          <a:p xmlns:a="http://schemas.openxmlformats.org/drawingml/2006/main">
            <a:r>
              <a:t>- [2] /Users/3rapat/student/internship/CODEFIN/project/vahalla-wealth/private-docs/other-project/uni-work/embedded-system/1/textbook/Microchip-Technology(2018)_ATmega328P 8-bit_AVR_Microcontroller.pdf, pp. 33–34</a:t>
            </a:r>
          </a:p>
          <a:p xmlns:a="http://schemas.openxmlformats.org/drawingml/2006/main">
            <a:r>
              <a:t>- [3] /Users/3rapat/student/internship/CODEFIN/project/vahalla-wealth/private-docs/other-project/uni-work/embedded-system/1/textbook/THE_DEFINITIVE_GUIDE_TO_THE_ARM_CORTEX-МЗ_Stellaris_MCU_9000Series_TEINSTRUMENTS_ARM_SECOND_EDITION.pdf, pp. 172–175</a:t>
            </a:r>
          </a:p>
          <a:p xmlns:a="http://schemas.openxmlformats.org/drawingml/2006/main">
            <a:r>
              <a:t>- [4] https://developer.arm.com/documentation/dui0552/a/the-cortex-m3-processor/exception-model/exception-entry-and-return</a:t>
            </a:r>
          </a:p>
          <a:p xmlns:a="http://schemas.openxmlformats.org/drawingml/2006/main">
            <a:r>
              <a:t>[ภาพประกอบเพิ่มเติม] แผนภาพลำดับเหตุการณ์ (causal chain) วาดขึ้นเองจาก Lecture 3-4 และ Mazidi AVR ch.10 สรุปเส้นทาง request -&gt; flag -&gt; enable/mask/priority -&gt; vector -&gt; ISR -&gt; RETI -&gt; resume ไม่ใช่ภาพคัดลอกจากตำรา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บทบรรยาย 1:34–2:12</a:t>
            </a:r>
            <a:endParaRPr/>
          </a:p>
          <a:p xmlns:a="http://schemas.openxmlformats.org/drawingml/2006/main">
            <a:pPr marL="0" lvl="0" indent="0" algn="l">
              <a:spcBef>
                <a:spcPts val="0"/>
              </a:spcBef>
              <a:spcAft>
                <a:spcPts val="0"/>
              </a:spcAft>
              <a:buNone/>
            </a:pPr>
            <a:r>
              <a:t>ความถูกต้องมีสามเงื่อนไข หนึ่ง คำขอต้องผ่านกฎ Enable, Mask และ Priority เพื่อไม่ให้ Control Flow เปลี่ยนผิดจังหวะ สอง ต้องรักษา Context Integrity โดย Hardware เก็บเฉพาะสถานะที่สถาปัตยกรรมกำหนด ส่วนสถานะเพิ่มเติมที่ ISR แก้ไขต้องเป็นไปตาม ABI และ Compiler สาม ISR ต้อง Acknowledge แหล่งคำขอและทำเฉพาะงานจำเป็นให้เสร็จเร็ว เพราะช่วงเวลาที่ Interrupt ถูกปิดหรือ ISR ทำงานนานจะเพิ่ม Latency และ Jitter ของเหตุการณ์อื่น</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[2] /Users/3rapat/student/internship/CODEFIN/project/vahalla-wealth/private-docs/other-project/uni-work/embedded-system/1/textbook/Microchip-Technology(2018)_ATmega328P 8-bit_AVR_Microcontroller.pdf, pp. 33–34</a:t>
            </a:r>
            <a:endParaRPr/>
          </a:p>
          <a:p xmlns:a="http://schemas.openxmlformats.org/drawingml/2006/main">
            <a:pPr marL="0" lvl="0" indent="0" algn="l">
              <a:spcBef>
                <a:spcPts val="0"/>
              </a:spcBef>
              <a:spcAft>
                <a:spcPts val="0"/>
              </a:spcAft>
              <a:buNone/>
            </a:pPr>
            <a:r>
              <a:t>- [3] /Users/3rapat/student/internship/CODEFIN/project/vahalla-wealth/private-docs/other-project/uni-work/embedded-system/1/textbook/THE_DEFINITIVE_GUIDE_TO_THE_ARM_CORTEX-МЗ_Stellaris_MCU_9000Series_TEINSTRUMENTS_ARM_SECOND_EDITION.pdf, pp. 172–175</a:t>
            </a:r>
            <a:endParaRPr/>
          </a:p>
          <a:p xmlns:a="http://schemas.openxmlformats.org/drawingml/2006/main">
            <a:pPr marL="0" lvl="0" indent="0" algn="l">
              <a:spcBef>
                <a:spcPts val="0"/>
              </a:spcBef>
              <a:spcAft>
                <a:spcPts val="0"/>
              </a:spcAft>
              <a:buNone/>
            </a:pPr>
            <a:r>
              <a:t>- [4] https://developer.arm.com/documentation/dui0552/a/the-cortex-m3-processor/exception-model/exception-entry-and-return</a:t>
            </a:r>
            <a:endParaRPr/>
          </a:p>
          <a:p xmlns:a="http://schemas.openxmlformats.org/drawingml/2006/main">
            <a:r>
              <a:t>[ภาพประกอบเพิ่มเติม] แผนภาพเปรียบเทียบ RET กับ RETI วาดขึ้นเองจาก Lecture 4 (หน้า 28) เพื่อประกอบเงื่อนไข COMPLETE ไม่ใช่ภาพคัดลอกจากตำรา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2:12–2:25</a:t>
            </a:r>
          </a:p>
          <a:p xmlns:a="http://schemas.openxmlformats.org/drawingml/2006/main">
            <a:r>
              <a:t>สรุปคือ Interrupt ไม่ใช่เพียงการกระโดดไปยังฟังก์ชัน แต่เป็นลำดับทางสถาปัตยกรรมที่ต้องควบคุมการตอบรับ รักษาสถานะ จัดการแหล่งคำขอ และคืนการทำงานเดิมอย่างมีขอบเขตเวลา เอกสารหลักที่ใช้คือหนังสือ AVR, Datasheet ของ Microchip, ตำรา Cortex-M3 และเอกสารทางการของ Arm ขอบคุณครับ</a:t>
            </a:r>
          </a:p>
          <a:p xmlns:a="http://schemas.openxmlformats.org/drawingml/2006/main">
            <a:r>
              <a:t/>
            </a:r>
          </a:p>
          <a:p xmlns:a="http://schemas.openxmlformats.org/drawingml/2006/main">
            <a:r>
              <a:t>[Sources]</a:t>
            </a:r>
          </a:p>
          <a:p xmlns:a="http://schemas.openxmlformats.org/drawingml/2006/main">
            <a:r>
              <a:t>- [1] Mazidi, M. A., Naimi, S., and Naimi, S. (2011). The AVR Microcontroller and Embedded Systems. pp. 375–376, Prentice Hall.</a:t>
            </a:r>
          </a:p>
          <a:p xmlns:a="http://schemas.openxmlformats.org/drawingml/2006/main">
            <a:r>
              <a:t>- [2] Microchip Technology Inc. (2018). ATmega328/P Datasheet Complete. pp. 33–34, Microchip Technology Inc.</a:t>
            </a:r>
          </a:p>
          <a:p xmlns:a="http://schemas.openxmlformats.org/drawingml/2006/main">
            <a:r>
              <a:t>- [3] Yiu, J. (2010). The Definitive Guide to the ARM Cortex-M3. 2nd ed. pp. 172–175, Newnes.</a:t>
            </a:r>
          </a:p>
          <a:p xmlns:a="http://schemas.openxmlformats.org/drawingml/2006/main">
            <a:r>
              <a:t>- [4] Arm Ltd. (2010). Cortex-M3 Devices Generic User Guide, ARM DUI 0552A. pp. 2-26–2-27, Arm Ltd.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46ef71bb6cc450b"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56825167e604436d"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b19ad083f744565"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3acd41d2ab46490c"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5b9022aad4fe4956"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5b2fa8920bda430e"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0b2493bf9d1d4d9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222e511f1b3f4485"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f50f40b09084cba" Type="http://schemas.openxmlformats.org/officeDocument/2006/relationships/slideLayout" Target="../slideLayouts/slideLayout7.xml"/><Relationship Id="R266eb619894d4240" Type="http://schemas.openxmlformats.org/officeDocument/2006/relationships/slideLayout" Target="../slideLayouts/slideLayout5.xml"/><Relationship Id="R41118432070c45a5" Type="http://schemas.openxmlformats.org/officeDocument/2006/relationships/theme" Target="theme/theme2.xml"/><Relationship Id="R433a8062bd9847a5" Type="http://schemas.openxmlformats.org/officeDocument/2006/relationships/slideLayout" Target="../slideLayouts/slideLayout8.xml"/><Relationship Id="R5a8c9d3aa71a427b" Type="http://schemas.openxmlformats.org/officeDocument/2006/relationships/slideLayout" Target="../slideLayouts/slideLayout6.xml"/><Relationship Id="R6c6689054ff44d62" Type="http://schemas.openxmlformats.org/officeDocument/2006/relationships/slideLayout" Target="../slideLayouts/slideLayout3.xml"/><Relationship Id="Ra892fe6e00eb4e31" Type="http://schemas.openxmlformats.org/officeDocument/2006/relationships/slideLayout" Target="../slideLayouts/slideLayout1.xml"/><Relationship Id="Rb66bd13edb5441e1" Type="http://schemas.openxmlformats.org/officeDocument/2006/relationships/slideLayout" Target="../slideLayouts/slideLayout2.xml"/><Relationship Id="Rcb28140ef3764f34" Type="http://schemas.openxmlformats.org/officeDocument/2006/relationships/slideLayout" Target="../slideLayouts/slideLayout4.xml"/></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a892fe6e00eb4e31"/>
    <p:sldLayoutId xmlns:r="http://schemas.openxmlformats.org/officeDocument/2006/relationships" id="2147483650" r:id="Rb66bd13edb5441e1"/>
    <p:sldLayoutId xmlns:r="http://schemas.openxmlformats.org/officeDocument/2006/relationships" id="2147483651" r:id="R6c6689054ff44d62"/>
    <p:sldLayoutId xmlns:r="http://schemas.openxmlformats.org/officeDocument/2006/relationships" id="2147483652" r:id="Rcb28140ef3764f34"/>
    <p:sldLayoutId xmlns:r="http://schemas.openxmlformats.org/officeDocument/2006/relationships" id="2147483653" r:id="R266eb619894d4240"/>
    <p:sldLayoutId xmlns:r="http://schemas.openxmlformats.org/officeDocument/2006/relationships" id="2147483654" r:id="R5a8c9d3aa71a427b"/>
    <p:sldLayoutId xmlns:r="http://schemas.openxmlformats.org/officeDocument/2006/relationships" id="2147483655" r:id="R1f50f40b09084cba"/>
    <p:sldLayoutId xmlns:r="http://schemas.openxmlformats.org/officeDocument/2006/relationships" id="2147483656" r:id="R433a8062bd9847a5"/>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372f3a280d24e5b" Type="http://schemas.openxmlformats.org/officeDocument/2006/relationships/slideLayout" Target="../slideLayouts/slideLayout1.xml"/><Relationship Id="Rd680052a63424f9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2bca4cb626bc4131" Type="http://schemas.openxmlformats.org/officeDocument/2006/relationships/notesSlide" Target="../notesSlides/notesSlide2.xml"/><Relationship Id="R99edc962254a4cb9" Type="http://schemas.openxmlformats.org/officeDocument/2006/relationships/slideLayout" Target="../slideLayouts/slideLayout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1662453dd11844b9" Type="http://schemas.openxmlformats.org/officeDocument/2006/relationships/slideLayout" Target="../slideLayouts/slideLayout6.xml"/><Relationship Id="R62e62b5604ff49dc"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b7761201cb394dfa" Type="http://schemas.openxmlformats.org/officeDocument/2006/relationships/slideLayout" Target="../slideLayouts/slideLayout6.xml"/><Relationship Id="Rbaf3043b172b4091"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047dab8da030485c" Type="http://schemas.openxmlformats.org/officeDocument/2006/relationships/notesSlide" Target="../notesSlides/notesSlide5.xml"/><Relationship Id="R3c436a964ec14791"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chor="ctr">
            <a:normAutofit fontScale="100000"/>
          </a:bodyPr>
          <a:lstStyle xmlns:a="http://schemas.openxmlformats.org/drawingml/2006/main"/>
          <a:p xmlns:a="http://schemas.openxmlformats.org/drawingml/2006/main">
            <a:pPr algn="ctr">
              <a:buNone/>
              <a:defRPr sz="4950" b="1">
                <a:solidFill>
                  <a:srgbClr val="7DD3FC"/>
                </a:solidFill>
                <a:latin typeface="Tahoma"/>
                <a:ea typeface="Tahoma"/>
                <a:cs typeface="Tahoma"/>
              </a:defRPr>
            </a:pPr>
            <a:r>
              <a:rPr sz="4950" b="1">
                <a:solidFill>
                  <a:srgbClr val="7DD3FC"/>
                </a:solidFill>
                <a:latin typeface="Tahoma"/>
                <a:ea typeface="Tahoma"/>
                <a:cs typeface="Tahoma"/>
              </a:rPr>
              <a:t>41  Interrupt</a:t>
            </a:r>
          </a:p>
          <a:p xmlns:a="http://schemas.openxmlformats.org/drawingml/2006/main">
            <a:pPr algn="ctr">
              <a:buNone/>
              <a:defRPr sz="4950" b="1">
                <a:solidFill>
                  <a:srgbClr val="7DD3FC"/>
                </a:solidFill>
                <a:latin typeface="Tahoma"/>
                <a:ea typeface="Tahoma"/>
                <a:cs typeface="Tahoma"/>
              </a:defRPr>
            </a:pPr>
            <a:r>
              <a:rPr sz="4950" b="1">
                <a:solidFill>
                  <a:srgbClr val="7DD3FC"/>
                </a:solidFill>
                <a:latin typeface="Tahoma"/>
                <a:ea typeface="Tahoma"/>
                <a:cs typeface="Tahoma"/>
              </a:rPr>
              <a:t>Mechanism</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defRPr sz="1725">
                <a:solidFill>
                  <a:srgbClr val="F4F8FC"/>
                </a:solidFill>
                <a:latin typeface="Tahoma"/>
                <a:ea typeface="Tahoma"/>
                <a:cs typeface="Tahoma"/>
              </a:defRPr>
            </a:pPr>
            <a:r>
              <a:rPr sz="1725">
                <a:solidFill>
                  <a:srgbClr val="F4F8FC"/>
                </a:solidFill>
                <a:latin typeface="Tahoma"/>
                <a:ea typeface="Tahoma"/>
                <a:cs typeface="Tahoma"/>
              </a:rPr>
              <a:t>นายธีรภัทร ภู่ระย้า  •  66362416  •  กลุ่ม 1  •  ลำดับ 4</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rgbClr val="173B5E"/>
          </a:solidFill>
          <a:ln xmlns:a="http://schemas.openxmlformats.org/drawingml/2006/main" w="9525">
            <a:solidFill>
              <a:srgbClr val="335B7A"/>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normAutofit fontScale="100000"/>
          </a:bodyPr>
          <a:lstStyle xmlns:a="http://schemas.openxmlformats.org/drawingml/2006/main"/>
          <a:p xmlns:a="http://schemas.openxmlformats.org/drawingml/2006/main">
            <a:pPr algn="ctr">
              <a:buNone/>
              <a:defRPr sz="938" b="1">
                <a:solidFill>
                  <a:srgbClr val="F4F8FC"/>
                </a:solidFill>
                <a:latin typeface="Tahoma"/>
                <a:ea typeface="Tahoma"/>
                <a:cs typeface="Tahoma"/>
              </a:defRPr>
            </a:pPr>
            <a:r>
              <a:rPr sz="938" b="1">
                <a:solidFill>
                  <a:srgbClr val="F4F8FC"/>
                </a:solidFill>
                <a:latin typeface="Tahoma"/>
                <a:ea typeface="Tahoma"/>
                <a:cs typeface="Tahoma"/>
              </a:rPr>
              <a:t>305341  •  EMBEDDED SYSTEM 1</a:t>
            </a:r>
          </a:p>
        </p:txBody>
      </p:sp>
    </p:spTree>
    <p:extLst>
      <p:ext uri="{BB962C8B-B14F-4D97-AF65-F5344CB8AC3E}">
        <p14:creationId xmlns:p14="http://schemas.microsoft.com/office/powerpoint/2010/main" val="3507737165"/>
      </p:ext>
    </p:extLst>
  </p:cSld>
  <p:transition spd="med">
    <p:fade/>
  </p:transition>
</p:sld>
</file>

<file path=ppt/slides/slide2.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E2598689-54C9-18A7-3A19-ED76AA08988F}" type="slidenum">
              <a:rPr sz="1000">
                <a:solidFill>
                  <a:srgbClr val="B8C7D9"/>
                </a:solidFill>
                <a:latin typeface="Tahoma"/>
                <a:ea typeface="Tahoma"/>
                <a:cs typeface="Tahoma"/>
              </a:rPr>
              <a:t>2</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lgn="l">
              <a:defRPr sz="2775" b="1">
                <a:solidFill>
                  <a:srgbClr val="F4F8FC"/>
                </a:solidFill>
                <a:latin typeface="Tahoma"/>
                <a:ea typeface="Tahoma"/>
                <a:cs typeface="Tahoma"/>
              </a:defRPr>
            </a:pPr>
            <a:r>
              <a:rPr sz="2775" b="1">
                <a:solidFill>
                  <a:srgbClr val="F4F8FC"/>
                </a:solidFill>
                <a:latin typeface="Tahoma"/>
                <a:ea typeface="Tahoma"/>
                <a:cs typeface="Tahoma"/>
              </a:rPr>
              <a:t>Interrupt คือการถ่ายโอนการควบคุมตามเหตุการณ์ [1][2]</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เหตุการณ์สร้างคำขอแบบอะซิงโครนัส</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EVENT-DRIVEN</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เก็บสถานะที่จำเป็นก่อนเปลี่ยนเส้นทาง</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STATE-PRESERVING</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Vector table ระบุตำแหน่งของ handler</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VECTORED</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63">
                <a:solidFill>
                  <a:srgbClr val="F4F8FC"/>
                </a:solidFill>
                <a:latin typeface="Tahoma"/>
                <a:ea typeface="Tahoma"/>
                <a:cs typeface="Tahoma"/>
              </a:defRPr>
            </a:pPr>
            <a:r>
              <a:rPr sz="1463">
                <a:solidFill>
                  <a:srgbClr val="F4F8FC"/>
                </a:solidFill>
                <a:latin typeface="Tahoma"/>
                <a:ea typeface="Tahoma"/>
                <a:cs typeface="Tahoma"/>
              </a:rPr>
              <a:t>Enable, mask และ priority กำกับการตอบรับ</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00000"/>
              </a:lnSpc>
              <a:spcBef>
                <a:spcPts val="1300"/>
              </a:spcBef>
              <a:spcAft>
                <a:spcPts val="1300"/>
              </a:spcAft>
              <a:buFontTx/>
              <a:buNone/>
              <a:defRPr sz="1425" b="1">
                <a:solidFill>
                  <a:srgbClr val="7DD3FC"/>
                </a:solidFill>
                <a:latin typeface="Tahoma"/>
                <a:ea typeface="Tahoma"/>
                <a:cs typeface="Tahoma"/>
              </a:defRPr>
            </a:pPr>
            <a:r>
              <a:rPr sz="1425" b="1">
                <a:solidFill>
                  <a:srgbClr val="7DD3FC"/>
                </a:solidFill>
                <a:latin typeface="Tahoma"/>
                <a:ea typeface="Tahoma"/>
                <a:cs typeface="Tahoma"/>
              </a:rPr>
              <a:t>PRIORITY-AWARE</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ctr">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2025">
                <a:solidFill>
                  <a:srgbClr val="F4F8FC"/>
                </a:solidFill>
                <a:latin typeface="Tahoma"/>
                <a:ea typeface="Tahoma"/>
                <a:cs typeface="Tahoma"/>
              </a:defRPr>
            </a:pPr>
            <a:r>
              <a:rPr sz="2025">
                <a:solidFill>
                  <a:srgbClr val="F4F8FC"/>
                </a:solidFill>
                <a:latin typeface="Tahoma"/>
                <a:ea typeface="Tahoma"/>
                <a:cs typeface="Tahoma"/>
              </a:rPr>
              <a:t>กลไกที่ทำให้ CPU เปลี่ยนจากโปรแกรมปัจจุบันไปยัง ISR เมื่อคำขอผ่านเงื่อนไขการตอบรับ จากนั้นคืนบริบทและดำเนินงานต่อ ณ ตำแหน่งเดิม</a:t>
            </a:r>
          </a:p>
        </p:txBody>
      </p:sp>
      <p:pic xmlns:a="http://schemas.openxmlformats.org/drawingml/2006/main" xmlns:r="http://schemas.openxmlformats.org/officeDocument/2006/relationships">
        <p:nvPicPr>
          <p:cNvPr id="534" name="Picture 533" descr="icon-event.png"/>
          <p:cNvPicPr>
            <a:picLocks noChangeAspect="1"/>
          </p:cNvPicPr>
          <p:nvPr/>
        </p:nvPicPr>
        <p:blipFill>
          <a:blip r:embed="rId3"/>
          <a:stretch>
            <a:fillRect/>
          </a:stretch>
        </p:blipFill>
        <p:spPr>
          <a:xfrm>
            <a:off x="4278884" y="2570735"/>
            <a:ext cx="256032" cy="256032"/>
          </a:xfrm>
          <a:prstGeom prst="rect">
            <a:avLst/>
          </a:prstGeom>
        </p:spPr>
      </p:pic>
      <p:pic xmlns:a="http://schemas.openxmlformats.org/drawingml/2006/main" xmlns:r="http://schemas.openxmlformats.org/officeDocument/2006/relationships">
        <p:nvPicPr>
          <p:cNvPr id="535" name="Picture 534" descr="icon-state.png"/>
          <p:cNvPicPr>
            <a:picLocks noChangeAspect="1"/>
          </p:cNvPicPr>
          <p:nvPr/>
        </p:nvPicPr>
        <p:blipFill>
          <a:blip r:embed="rId4"/>
          <a:stretch>
            <a:fillRect/>
          </a:stretch>
        </p:blipFill>
        <p:spPr>
          <a:xfrm>
            <a:off x="4278884" y="3561335"/>
            <a:ext cx="256032" cy="256032"/>
          </a:xfrm>
          <a:prstGeom prst="rect">
            <a:avLst/>
          </a:prstGeom>
        </p:spPr>
      </p:pic>
      <p:pic xmlns:a="http://schemas.openxmlformats.org/drawingml/2006/main" xmlns:r="http://schemas.openxmlformats.org/officeDocument/2006/relationships">
        <p:nvPicPr>
          <p:cNvPr id="536" name="Picture 535" descr="icon-vector.png"/>
          <p:cNvPicPr>
            <a:picLocks noChangeAspect="1"/>
          </p:cNvPicPr>
          <p:nvPr/>
        </p:nvPicPr>
        <p:blipFill>
          <a:blip r:embed="rId5"/>
          <a:stretch>
            <a:fillRect/>
          </a:stretch>
        </p:blipFill>
        <p:spPr>
          <a:xfrm>
            <a:off x="4278884" y="4551935"/>
            <a:ext cx="256032" cy="256032"/>
          </a:xfrm>
          <a:prstGeom prst="rect">
            <a:avLst/>
          </a:prstGeom>
        </p:spPr>
      </p:pic>
      <p:pic xmlns:a="http://schemas.openxmlformats.org/drawingml/2006/main" xmlns:r="http://schemas.openxmlformats.org/officeDocument/2006/relationships">
        <p:nvPicPr>
          <p:cNvPr id="537" name="Picture 536" descr="icon-priority.png"/>
          <p:cNvPicPr>
            <a:picLocks noChangeAspect="1"/>
          </p:cNvPicPr>
          <p:nvPr/>
        </p:nvPicPr>
        <p:blipFill>
          <a:blip r:embed="rId6"/>
          <a:stretch>
            <a:fillRect/>
          </a:stretch>
        </p:blipFill>
        <p:spPr>
          <a:xfrm>
            <a:off x="4278884" y="5555235"/>
            <a:ext cx="256032" cy="256032"/>
          </a:xfrm>
          <a:prstGeom prst="rect">
            <a:avLst/>
          </a:prstGeom>
        </p:spPr>
      </p:pic>
      <p:pic xmlns:a="http://schemas.openxmlformats.org/drawingml/2006/main" xmlns:r="http://schemas.openxmlformats.org/officeDocument/2006/relationships">
        <p:nvPicPr>
          <p:cNvPr id="538" name="Picture 537" descr="card-vector-table.png"/>
          <p:cNvPicPr>
            <a:picLocks noChangeAspect="1"/>
          </p:cNvPicPr>
          <p:nvPr/>
        </p:nvPicPr>
        <p:blipFill>
          <a:blip r:embed="rId7"/>
          <a:stretch>
            <a:fillRect/>
          </a:stretch>
        </p:blipFill>
        <p:spPr>
          <a:xfrm>
            <a:off x="1113764" y="5500000"/>
            <a:ext cx="2128571" cy="700000"/>
          </a:xfrm>
          <a:prstGeom prst="rect">
            <a:avLst/>
          </a:prstGeom>
        </p:spPr>
      </p:pic>
    </p:spTree>
    <p:extLst>
      <p:ext uri="{BB962C8B-B14F-4D97-AF65-F5344CB8AC3E}">
        <p14:creationId xmlns:p14="http://schemas.microsoft.com/office/powerpoint/2010/main" val="676116957"/>
      </p:ext>
    </p:extLst>
  </p:cSld>
  <p:transition spd="med">
    <p:fade/>
  </p:transition>
</p:sld>
</file>

<file path=ppt/slides/slide3.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102A43"/>
          </a:solidFill>
          <a:ln xmlns:a="http://schemas.openxmlformats.org/drawingml/2006/main" w="9525">
            <a:solidFill>
              <a:srgbClr val="335B7A"/>
            </a:solidFill>
            <a:prstDash val="solid"/>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202359C0-8A7A-196E-DD58-8E6569619F09}" type="slidenum">
              <a:rPr sz="1000">
                <a:solidFill>
                  <a:srgbClr val="B8C7D9"/>
                </a:solidFill>
                <a:latin typeface="Tahoma"/>
                <a:ea typeface="Tahoma"/>
                <a:cs typeface="Tahoma"/>
              </a:rPr>
              <a:t>3</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lgn="l">
              <a:defRPr sz="2775" b="1">
                <a:solidFill>
                  <a:srgbClr val="F4F8FC"/>
                </a:solidFill>
                <a:latin typeface="Tahoma"/>
                <a:ea typeface="Tahoma"/>
                <a:cs typeface="Tahoma"/>
              </a:defRPr>
            </a:pPr>
            <a:r>
              <a:rPr sz="2775" b="1">
                <a:solidFill>
                  <a:srgbClr val="F4F8FC"/>
                </a:solidFill>
                <a:latin typeface="Tahoma"/>
                <a:ea typeface="Tahoma"/>
                <a:cs typeface="Tahoma"/>
              </a:rPr>
              <a:t>การตอบสนองแบ่งเป็น 3 ระยะต่อเนื่อง [1][2][3][4]</a:t>
            </a:r>
          </a:p>
        </p:txBody>
      </p:sp>
      <p:cxnSp>
        <p:nvCxnSpPr>
          <p:cNvPr id="28"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9050" cap="flat">
            <a:solidFill>
              <a:srgbClr val="60A5FA"/>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7DD3FC"/>
          </a:solidFill>
          <a:ln xmlns:a="http://schemas.openxmlformats.org/drawingml/2006/main" w="9525">
            <a:solidFill>
              <a:srgbClr val="7DD3FC"/>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7DD3FC"/>
          </a:solidFill>
          <a:ln xmlns:a="http://schemas.openxmlformats.org/drawingml/2006/main" w="9525">
            <a:solidFill>
              <a:srgbClr val="7DD3FC"/>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7DD3FC"/>
          </a:solidFill>
          <a:ln xmlns:a="http://schemas.openxmlformats.org/drawingml/2006/main" w="9525">
            <a:solidFill>
              <a:srgbClr val="7DD3FC"/>
            </a:solidFill>
            <a:prstDash val="solid"/>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PHASE 01</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PHASE 02</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PHASE 03</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b="1">
                <a:solidFill>
                  <a:srgbClr val="F4F8FC"/>
                </a:solidFill>
                <a:latin typeface="Tahoma"/>
                <a:ea typeface="Tahoma"/>
                <a:cs typeface="Tahoma"/>
              </a:rPr>
              <a:t>ENTRY</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2–4  Qualify → Save → Vector</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ก่อนเริ่ม handler</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b="1">
                <a:solidFill>
                  <a:srgbClr val="F4F8FC"/>
                </a:solidFill>
                <a:latin typeface="Tahoma"/>
                <a:ea typeface="Tahoma"/>
                <a:cs typeface="Tahoma"/>
              </a:rPr>
              <a:t>REQUEST</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1  Event / flag สร้างคำขอ</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และเข้าสถานะ Pending</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b="1">
                <a:solidFill>
                  <a:srgbClr val="F4F8FC"/>
                </a:solidFill>
                <a:latin typeface="Tahoma"/>
                <a:ea typeface="Tahoma"/>
                <a:cs typeface="Tahoma"/>
              </a:rPr>
              <a:t>SERVICE / RETURN</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5–6  ISR / acknowledge → restore</a:t>
            </a:r>
          </a:p>
          <a:p xmlns:a="http://schemas.openxmlformats.org/drawingml/2006/main">
            <a:pPr marL="0" indent="0" algn="l">
              <a:lnSpc>
                <a:spcPct val="114000"/>
              </a:lnSpc>
              <a:spcBef>
                <a:spcPts val="0"/>
              </a:spcBef>
              <a:spcAft>
                <a:spcPts val="800"/>
              </a:spcAft>
              <a:buFont typeface="Arial"/>
              <a:buNone/>
              <a:defRPr sz="1350">
                <a:solidFill>
                  <a:srgbClr val="B8C7D9"/>
                </a:solidFill>
                <a:latin typeface="Tahoma"/>
                <a:ea typeface="Tahoma"/>
                <a:cs typeface="Tahoma"/>
              </a:defRPr>
            </a:pPr>
            <a:r>
              <a:rPr sz="1350">
                <a:solidFill>
                  <a:srgbClr val="B8C7D9"/>
                </a:solidFill>
                <a:latin typeface="Tahoma"/>
                <a:ea typeface="Tahoma"/>
                <a:cs typeface="Tahoma"/>
              </a:rPr>
              <a:t>แล้ว resume โปรแกรมเดิม</a:t>
            </a:r>
          </a:p>
        </p:txBody>
      </p:sp>
      <p:pic xmlns:a="http://schemas.openxmlformats.org/drawingml/2006/main" xmlns:r="http://schemas.openxmlformats.org/officeDocument/2006/relationships">
        <p:nvPicPr>
          <p:cNvPr id="29" name="Picture 28" descr="card-causal-chain.png"/>
          <p:cNvPicPr>
            <a:picLocks noChangeAspect="1"/>
          </p:cNvPicPr>
          <p:nvPr/>
        </p:nvPicPr>
        <p:blipFill>
          <a:blip r:embed="rId3"/>
          <a:stretch>
            <a:fillRect/>
          </a:stretch>
        </p:blipFill>
        <p:spPr>
          <a:xfrm>
            <a:off x="4199016" y="5490000"/>
            <a:ext cx="3793968" cy="740000"/>
          </a:xfrm>
          <a:prstGeom prst="rect">
            <a:avLst/>
          </a:prstGeom>
        </p:spPr>
      </p:pic>
    </p:spTree>
    <p:extLst>
      <p:ext uri="{BB962C8B-B14F-4D97-AF65-F5344CB8AC3E}">
        <p14:creationId xmlns:p14="http://schemas.microsoft.com/office/powerpoint/2010/main" val="3446338916"/>
      </p:ext>
    </p:extLst>
  </p:cSld>
  <p:transition spd="med">
    <p:fade/>
  </p:transition>
</p:sld>
</file>

<file path=ppt/slides/slide4.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EFD6AB9A-5F9E-5F59-51AB-3C8734130965}" type="slidenum">
              <a:rPr sz="1000">
                <a:solidFill>
                  <a:srgbClr val="B8C7D9"/>
                </a:solidFill>
                <a:latin typeface="Tahoma"/>
                <a:ea typeface="Tahoma"/>
                <a:cs typeface="Tahoma"/>
              </a:rPr>
              <a:t>4</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a:xfrm xmlns:a="http://schemas.openxmlformats.org/drawingml/2006/main">
            <a:off x="393668" y="419100"/>
            <a:ext cx="11404568" cy="914400"/>
          </a:xfr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algn="l">
              <a:defRPr sz="2625" b="1">
                <a:solidFill>
                  <a:srgbClr val="F4F8FC"/>
                </a:solidFill>
                <a:latin typeface="Tahoma"/>
                <a:ea typeface="Tahoma"/>
                <a:cs typeface="Tahoma"/>
              </a:defRPr>
            </a:pPr>
            <a:r>
              <a:rPr sz="2625" b="1">
                <a:solidFill>
                  <a:srgbClr val="F4F8FC"/>
                </a:solidFill>
                <a:latin typeface="Tahoma"/>
                <a:ea typeface="Tahoma"/>
                <a:cs typeface="Tahoma"/>
              </a:rPr>
              <a:t>ความถูกต้องของ Interrupt ขึ้นกับ State และ Latency [2][3][4]</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rmAutofit fontScale="100000"/>
          </a:bodyPr>
          <a:lstStyle xmlns:a="http://schemas.openxmlformats.org/drawingml/2006/main"/>
          <a:p xmlns:a="http://schemas.openxmlformats.org/drawingml/2006/main">
            <a:pPr marL="0" indent="0" algn="l">
              <a:lnSpc>
                <a:spcPct val="114000"/>
              </a:lnSpc>
              <a:spcBef>
                <a:spcPts val="0"/>
              </a:spcBef>
              <a:spcAft>
                <a:spcPts val="800"/>
              </a:spcAft>
              <a:buNone/>
              <a:defRPr sz="1350">
                <a:solidFill>
                  <a:srgbClr val="B8C7D9"/>
                </a:solidFill>
                <a:latin typeface="Tahoma"/>
                <a:ea typeface="Tahoma"/>
                <a:cs typeface="Tahoma"/>
              </a:defRPr>
            </a:pPr>
            <a:r>
              <a:rPr sz="1350" b="1">
                <a:solidFill>
                  <a:srgbClr val="F4F8FC"/>
                </a:solidFill>
                <a:latin typeface="Tahoma"/>
                <a:ea typeface="Tahoma"/>
                <a:cs typeface="Tahoma"/>
              </a:rPr>
              <a:t>ENABLE / MASK / PRIORITY</a:t>
            </a:r>
            <a:endParaRPr sz="1800" b="1">
              <a:latin typeface="Inter SemiBold"/>
              <a:ea typeface="Inter SemiBold"/>
              <a:cs typeface="Inter SemiBold"/>
            </a:endParaRPr>
          </a:p>
          <a:p xmlns:a="http://schemas.openxmlformats.org/drawingml/2006/main">
            <a:pPr marL="0" indent="0" algn="l">
              <a:lnSpc>
                <a:spcPct val="114000"/>
              </a:lnSpc>
              <a:spcBef>
                <a:spcPts val="0"/>
              </a:spcBef>
              <a:spcAft>
                <a:spcPts val="800"/>
              </a:spcAft>
              <a:buNone/>
              <a:defRPr sz="1350">
                <a:solidFill>
                  <a:srgbClr val="B8C7D9"/>
                </a:solidFill>
                <a:latin typeface="Tahoma"/>
                <a:ea typeface="Tahoma"/>
                <a:cs typeface="Tahoma"/>
              </a:defRPr>
            </a:pPr>
            <a:r>
              <a:rPr sz="1350">
                <a:solidFill>
                  <a:srgbClr val="B8C7D9"/>
                </a:solidFill>
                <a:latin typeface="Tahoma"/>
                <a:ea typeface="Tahoma"/>
                <a:cs typeface="Tahoma"/>
              </a:rPr>
              <a:t>คำขอต้องผ่านเงื่อนไขการตอบรับก่อนเปลี่ยน control flow</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350">
                <a:solidFill>
                  <a:srgbClr val="B8C7D9"/>
                </a:solidFill>
                <a:latin typeface="Tahoma"/>
                <a:ea typeface="Tahoma"/>
                <a:cs typeface="Tahoma"/>
              </a:defRPr>
            </a:pPr>
            <a:r>
              <a:rPr sz="1350" b="1">
                <a:solidFill>
                  <a:srgbClr val="F4F8FC"/>
                </a:solidFill>
                <a:latin typeface="Tahoma"/>
                <a:ea typeface="Tahoma"/>
                <a:cs typeface="Tahoma"/>
              </a:rPr>
              <a:t>BOUNDED ISR</a:t>
            </a:r>
          </a:p>
          <a:p xmlns:a="http://schemas.openxmlformats.org/drawingml/2006/main">
            <a:pPr marL="0" marR="0" lvl="0" indent="0" algn="l" defTabSz="914400">
              <a:lnSpc>
                <a:spcPct val="114000"/>
              </a:lnSpc>
              <a:spcBef>
                <a:spcPts val="0"/>
              </a:spcBef>
              <a:spcAft>
                <a:spcPts val="800"/>
              </a:spcAft>
              <a:buClrTx/>
              <a:buSzTx/>
              <a:buFont typeface="Arial"/>
              <a:buNone/>
              <a:defRPr sz="1350">
                <a:solidFill>
                  <a:srgbClr val="B8C7D9"/>
                </a:solidFill>
                <a:latin typeface="Tahoma"/>
                <a:ea typeface="Tahoma"/>
                <a:cs typeface="Tahoma"/>
              </a:defRPr>
            </a:pPr>
            <a:r>
              <a:rPr sz="1350" b="0" i="0" u="none" cap="none">
                <a:ln>
                  <a:noFill/>
                </a:ln>
                <a:solidFill>
                  <a:srgbClr val="B8C7D9"/>
                </a:solidFill>
                <a:latin typeface="Tahoma"/>
                <a:ea typeface="Tahoma"/>
                <a:cs typeface="Tahoma"/>
              </a:rPr>
              <a:t>Acknowledge แหล่งคำขอ และทำเฉพาะงานจำเป็นเพื่อลด latency และ jitter</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350">
                <a:solidFill>
                  <a:srgbClr val="B8C7D9"/>
                </a:solidFill>
                <a:latin typeface="Tahoma"/>
                <a:ea typeface="Tahoma"/>
                <a:cs typeface="Tahoma"/>
              </a:defRPr>
            </a:pPr>
            <a:r>
              <a:rPr sz="1350" b="1">
                <a:solidFill>
                  <a:srgbClr val="F4F8FC"/>
                </a:solidFill>
                <a:latin typeface="Tahoma"/>
                <a:ea typeface="Tahoma"/>
                <a:cs typeface="Tahoma"/>
              </a:rPr>
              <a:t>CONTEXT INTEGRITY</a:t>
            </a:r>
          </a:p>
          <a:p xmlns:a="http://schemas.openxmlformats.org/drawingml/2006/main">
            <a:pPr marL="0" marR="0" lvl="0" indent="0" algn="l" defTabSz="914400">
              <a:lnSpc>
                <a:spcPct val="114000"/>
              </a:lnSpc>
              <a:spcBef>
                <a:spcPts val="0"/>
              </a:spcBef>
              <a:spcAft>
                <a:spcPts val="800"/>
              </a:spcAft>
              <a:buClrTx/>
              <a:buSzTx/>
              <a:buFont typeface="Arial"/>
              <a:buNone/>
              <a:defRPr sz="1350">
                <a:solidFill>
                  <a:srgbClr val="B8C7D9"/>
                </a:solidFill>
                <a:latin typeface="Tahoma"/>
                <a:ea typeface="Tahoma"/>
                <a:cs typeface="Tahoma"/>
              </a:defRPr>
            </a:pPr>
            <a:r>
              <a:rPr sz="1350" b="0" i="0" u="none" cap="none">
                <a:ln>
                  <a:noFill/>
                </a:ln>
                <a:solidFill>
                  <a:srgbClr val="B8C7D9"/>
                </a:solidFill>
                <a:latin typeface="Tahoma"/>
                <a:ea typeface="Tahoma"/>
                <a:cs typeface="Tahoma"/>
              </a:rPr>
              <a:t>ขอบเขตการ Save / Restore กำหนดโดยสถาปัตยกรรมและ ABI</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01  •  QUALIFY</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02  •  PRESERVE</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chor="ctr">
            <a:normAutofit fontScale="100000"/>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75" b="1">
                <a:solidFill>
                  <a:srgbClr val="7DD3FC"/>
                </a:solidFill>
                <a:latin typeface="Tahoma"/>
                <a:ea typeface="Tahoma"/>
                <a:cs typeface="Tahoma"/>
              </a:defRPr>
            </a:pPr>
            <a:r>
              <a:rPr sz="1275" b="1">
                <a:solidFill>
                  <a:srgbClr val="7DD3FC"/>
                </a:solidFill>
                <a:latin typeface="Tahoma"/>
                <a:ea typeface="Tahoma"/>
                <a:cs typeface="Tahoma"/>
              </a:rPr>
              <a:t>03  •  COMPLETE</a:t>
            </a:r>
          </a:p>
        </p:txBody>
      </p:sp>
      <p:pic xmlns:a="http://schemas.openxmlformats.org/drawingml/2006/main" xmlns:r="http://schemas.openxmlformats.org/officeDocument/2006/relationships">
        <p:nvPicPr>
          <p:cNvPr id="535" name="Picture 534" descr="card-ret-reti.png"/>
          <p:cNvPicPr>
            <a:picLocks noChangeAspect="1"/>
          </p:cNvPicPr>
          <p:nvPr/>
        </p:nvPicPr>
        <p:blipFill>
          <a:blip r:embed="rId3"/>
          <a:stretch>
            <a:fillRect/>
          </a:stretch>
        </p:blipFill>
        <p:spPr>
          <a:xfrm>
            <a:off x="8513950" y="5380000"/>
            <a:ext cx="3000000" cy="503105"/>
          </a:xfrm>
          <a:prstGeom prst="rect">
            <a:avLst/>
          </a:prstGeom>
        </p:spPr>
      </p:pic>
    </p:spTree>
    <p:extLst>
      <p:ext uri="{BB962C8B-B14F-4D97-AF65-F5344CB8AC3E}">
        <p14:creationId xmlns:p14="http://schemas.microsoft.com/office/powerpoint/2010/main" val="1393456992"/>
      </p:ext>
    </p:extLst>
  </p:cSld>
  <p:transition spd="med">
    <p:fade/>
  </p:transition>
</p:sld>
</file>

<file path=ppt/slides/slide5.xml><?xml version="1.0" encoding="utf-8"?>
<p:sld xmlns:p="http://schemas.openxmlformats.org/presentationml/2006/main">
  <p:cSld>
    <p:bg>
      <p:bgPr>
        <a:solidFill xmlns:a="http://schemas.openxmlformats.org/drawingml/2006/main">
          <a:srgbClr val="071A2C"/>
        </a:solidFill>
      </p:bgPr>
    </p:bg>
    <p:spTree>
      <p:nvGrpSpPr>
        <p:cNvPr id="1" name=""/>
        <p:cNvGrpSpPr/>
        <p:nvPr/>
      </p:nvGrpSpPr>
      <p:grpSpPr>
        <a:xfrm xmlns:a="http://schemas.openxmlformats.org/drawingml/2006/main"/>
      </p:grpSpPr>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chor="b">
            <a:normAutofit fontScale="100000"/>
          </a:bodyPr>
          <a:lstStyle xmlns:a="http://schemas.openxmlformats.org/drawingml/2006/main"/>
          <a:p xmlns:a="http://schemas.openxmlformats.org/drawingml/2006/main">
            <a:pPr algn="r">
              <a:defRPr sz="1000">
                <a:solidFill>
                  <a:srgbClr val="B8C7D9"/>
                </a:solidFill>
                <a:latin typeface="Tahoma"/>
                <a:ea typeface="Tahoma"/>
                <a:cs typeface="Tahoma"/>
              </a:defRPr>
            </a:pPr>
            <a:fld id="{EE5B3003-2C54-13C6-9832-7637201064DE}" type="slidenum">
              <a:rPr sz="1000">
                <a:solidFill>
                  <a:srgbClr val="B8C7D9"/>
                </a:solidFill>
                <a:latin typeface="Tahoma"/>
                <a:ea typeface="Tahoma"/>
                <a:cs typeface="Tahoma"/>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chor="t">
            <a:normAutofit fontScale="100000"/>
          </a:bodyPr>
          <a:lstStyle xmlns:a="http://schemas.openxmlformats.org/drawingml/2006/main"/>
          <a:p xmlns:a="http://schemas.openxmlformats.org/drawingml/2006/main">
            <a:pPr algn="l">
              <a:defRPr sz="2900" b="1">
                <a:solidFill>
                  <a:srgbClr val="F4F8FC"/>
                </a:solidFill>
                <a:latin typeface="Tahoma"/>
                <a:ea typeface="Tahoma"/>
                <a:cs typeface="Tahoma"/>
              </a:defRPr>
            </a:pPr>
            <a:r>
              <a:rPr sz="2900" b="1">
                <a:solidFill>
                  <a:srgbClr val="F4F8FC"/>
                </a:solidFill>
                <a:latin typeface="Tahoma"/>
                <a:ea typeface="Tahoma"/>
                <a:cs typeface="Tahoma"/>
              </a:rPr>
              <a:t>เอกสารอ้างอิง</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238">
                <a:solidFill>
                  <a:srgbClr val="F4F8FC"/>
                </a:solidFill>
                <a:latin typeface="Tahoma"/>
                <a:ea typeface="Tahoma"/>
                <a:cs typeface="Tahoma"/>
              </a:defRPr>
            </a:pPr>
            <a:r>
              <a:rPr sz="1238" b="1">
                <a:solidFill>
                  <a:srgbClr val="7DD3FC"/>
                </a:solidFill>
                <a:latin typeface="Tahoma"/>
                <a:ea typeface="Tahoma"/>
                <a:cs typeface="Tahoma"/>
              </a:rPr>
              <a:t>[1]  Mazidi et al. (2011).</a:t>
            </a:r>
          </a:p>
          <a:p xmlns:a="http://schemas.openxmlformats.org/drawingml/2006/main">
            <a:pPr marL="0" marR="0" lvl="0" indent="0" algn="l" defTabSz="914400">
              <a:lnSpc>
                <a:spcPct val="100000"/>
              </a:lnSpc>
              <a:spcBef>
                <a:spcPts val="1300"/>
              </a:spcBef>
              <a:spcAft>
                <a:spcPts val="1300"/>
              </a:spcAft>
              <a:buClrTx/>
              <a:buSzTx/>
              <a:buFontTx/>
              <a:buNone/>
              <a:defRPr sz="1238">
                <a:solidFill>
                  <a:srgbClr val="F4F8FC"/>
                </a:solidFill>
                <a:latin typeface="Tahoma"/>
                <a:ea typeface="Tahoma"/>
                <a:cs typeface="Tahoma"/>
              </a:defRPr>
            </a:pPr>
            <a:r>
              <a:rPr sz="1238" b="0" i="0" u="none" cap="none">
                <a:ln>
                  <a:noFill/>
                </a:ln>
                <a:solidFill>
                  <a:srgbClr val="F4F8FC"/>
                </a:solidFill>
                <a:latin typeface="Tahoma"/>
                <a:ea typeface="Tahoma"/>
                <a:cs typeface="Tahoma"/>
              </a:rPr>
              <a:t>M. A. Mazidi, S. Naimi และ S. Naimi. The AVR Microcontroller and Embedded Systems. หน้า 375–376, Prentice Hall.</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chor="t">
            <a:normAutofit fontScale="100000"/>
          </a:bodyPr>
          <a:lstStyle xmlns:a="http://schemas.openxmlformats.org/drawingml/2006/main"/>
          <a:p xmlns:a="http://schemas.openxmlformats.org/drawingml/2006/main">
            <a:pPr marL="0" marR="0" lvl="0" indent="0" algn="l">
              <a:lnSpc>
                <a:spcPct val="114000"/>
              </a:lnSpc>
              <a:spcBef>
                <a:spcPts val="0"/>
              </a:spcBef>
              <a:spcAft>
                <a:spcPts val="800"/>
              </a:spcAft>
              <a:buClrTx/>
              <a:buSzTx/>
              <a:buNone/>
              <a:defRPr sz="1238">
                <a:solidFill>
                  <a:srgbClr val="F4F8FC"/>
                </a:solidFill>
                <a:latin typeface="Tahoma"/>
                <a:ea typeface="Tahoma"/>
                <a:cs typeface="Tahoma"/>
              </a:defRPr>
            </a:pPr>
            <a:r>
              <a:rPr sz="1238" b="1">
                <a:solidFill>
                  <a:srgbClr val="7DD3FC"/>
                </a:solidFill>
                <a:latin typeface="Tahoma"/>
                <a:ea typeface="Tahoma"/>
                <a:cs typeface="Tahoma"/>
              </a:rPr>
              <a:t>[2]  Microchip Technology Inc. (2018).</a:t>
            </a:r>
          </a:p>
          <a:p xmlns:a="http://schemas.openxmlformats.org/drawingml/2006/main">
            <a:pPr marL="0" marR="0" lvl="0" indent="0" algn="l" defTabSz="914400">
              <a:lnSpc>
                <a:spcPct val="100000"/>
              </a:lnSpc>
              <a:spcBef>
                <a:spcPts val="1300"/>
              </a:spcBef>
              <a:spcAft>
                <a:spcPts val="1300"/>
              </a:spcAft>
              <a:buClrTx/>
              <a:buSzTx/>
              <a:buFontTx/>
              <a:buNone/>
              <a:defRPr sz="1238">
                <a:solidFill>
                  <a:srgbClr val="F4F8FC"/>
                </a:solidFill>
                <a:latin typeface="Tahoma"/>
                <a:ea typeface="Tahoma"/>
                <a:cs typeface="Tahoma"/>
              </a:defRPr>
            </a:pPr>
            <a:r>
              <a:rPr sz="1238" b="0" i="0" u="none" cap="none">
                <a:ln>
                  <a:noFill/>
                </a:ln>
                <a:solidFill>
                  <a:srgbClr val="F4F8FC"/>
                </a:solidFill>
                <a:latin typeface="Tahoma"/>
                <a:ea typeface="Tahoma"/>
                <a:cs typeface="Tahoma"/>
              </a:rPr>
              <a:t>ATmega328/P AVR Microcontroller Datasheet Complete. หน้า 33–34, Microchip Technology.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38">
                <a:solidFill>
                  <a:srgbClr val="F4F8FC"/>
                </a:solidFill>
                <a:latin typeface="Tahoma"/>
                <a:ea typeface="Tahoma"/>
                <a:cs typeface="Tahoma"/>
              </a:defRPr>
            </a:pPr>
            <a:r>
              <a:rPr sz="1238" b="1">
                <a:solidFill>
                  <a:srgbClr val="7DD3FC"/>
                </a:solidFill>
                <a:latin typeface="Tahoma"/>
                <a:ea typeface="Tahoma"/>
                <a:cs typeface="Tahoma"/>
              </a:rPr>
              <a:t>[3]  Yiu, J. (2010).</a:t>
            </a:r>
          </a:p>
          <a:p xmlns:a="http://schemas.openxmlformats.org/drawingml/2006/main">
            <a:pPr marL="0" indent="0" algn="l">
              <a:lnSpc>
                <a:spcPct val="100000"/>
              </a:lnSpc>
              <a:spcBef>
                <a:spcPts val="1300"/>
              </a:spcBef>
              <a:spcAft>
                <a:spcPts val="1300"/>
              </a:spcAft>
              <a:buFontTx/>
              <a:buNone/>
              <a:defRPr sz="1238">
                <a:solidFill>
                  <a:srgbClr val="F4F8FC"/>
                </a:solidFill>
                <a:latin typeface="Tahoma"/>
                <a:ea typeface="Tahoma"/>
                <a:cs typeface="Tahoma"/>
              </a:defRPr>
            </a:pPr>
            <a:r>
              <a:rPr sz="1238">
                <a:solidFill>
                  <a:srgbClr val="F4F8FC"/>
                </a:solidFill>
                <a:latin typeface="Tahoma"/>
                <a:ea typeface="Tahoma"/>
                <a:cs typeface="Tahoma"/>
              </a:rPr>
              <a:t>The Definitive Guide to the ARM Cortex-M3. 2nd ed. หน้า 172–175, Newnes.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chor="t">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l">
              <a:lnSpc>
                <a:spcPct val="114000"/>
              </a:lnSpc>
              <a:spcBef>
                <a:spcPts val="0"/>
              </a:spcBef>
              <a:spcAft>
                <a:spcPts val="800"/>
              </a:spcAft>
              <a:buNone/>
              <a:defRPr sz="1238">
                <a:solidFill>
                  <a:srgbClr val="F4F8FC"/>
                </a:solidFill>
                <a:latin typeface="Tahoma"/>
                <a:ea typeface="Tahoma"/>
                <a:cs typeface="Tahoma"/>
              </a:defRPr>
            </a:pPr>
            <a:r>
              <a:rPr sz="1238" b="1">
                <a:solidFill>
                  <a:srgbClr val="7DD3FC"/>
                </a:solidFill>
                <a:latin typeface="Tahoma"/>
                <a:ea typeface="Tahoma"/>
                <a:cs typeface="Tahoma"/>
              </a:rPr>
              <a:t>[4]  Arm Ltd. (2010).</a:t>
            </a:r>
          </a:p>
          <a:p xmlns:a="http://schemas.openxmlformats.org/drawingml/2006/main">
            <a:pPr marL="0" indent="0" algn="l">
              <a:lnSpc>
                <a:spcPct val="100000"/>
              </a:lnSpc>
              <a:spcBef>
                <a:spcPts val="1300"/>
              </a:spcBef>
              <a:spcAft>
                <a:spcPts val="1300"/>
              </a:spcAft>
              <a:buFontTx/>
              <a:buNone/>
              <a:defRPr sz="1238">
                <a:solidFill>
                  <a:srgbClr val="F4F8FC"/>
                </a:solidFill>
                <a:latin typeface="Tahoma"/>
                <a:ea typeface="Tahoma"/>
                <a:cs typeface="Tahoma"/>
              </a:defRPr>
            </a:pPr>
            <a:r>
              <a:rPr sz="1238">
                <a:solidFill>
                  <a:srgbClr val="F4F8FC"/>
                </a:solidFill>
                <a:latin typeface="Tahoma"/>
                <a:ea typeface="Tahoma"/>
                <a:cs typeface="Tahoma"/>
              </a:rPr>
              <a:t>Cortex-M3 Devices Generic User Guide (ออนไลน์). สืบค้นจาก https://developer.arm.com/documentation/dui0552/a [10 สิงหาคม 2569]</a:t>
            </a:r>
          </a:p>
        </p:txBody>
      </p:sp>
    </p:spTree>
    <p:extLst>
      <p:ext uri="{BB962C8B-B14F-4D97-AF65-F5344CB8AC3E}">
        <p14:creationId xmlns:p14="http://schemas.microsoft.com/office/powerpoint/2010/main" val="360145486"/>
      </p:ext>
    </p:extLst>
  </p:cSld>
  <p:transition spd="med">
    <p:fade/>
  </p:transition>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2026-08-09T22:18:48.5440000Z</dcterms:created>
  <dcterms:modified xsi:type="dcterms:W3CDTF">2026-08-09T22:18:48.5440000Z</dcterms:modified>
</coreProperties>
</file>