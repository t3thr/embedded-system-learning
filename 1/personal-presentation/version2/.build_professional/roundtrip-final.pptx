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3b1ac57ba44520" /><Relationship Type="http://schemas.openxmlformats.org/officeDocument/2006/relationships/extended-properties" Target="/docProps/app.xml" Id="R59e43764bcff452f" /><Relationship Type="http://schemas.openxmlformats.org/officeDocument/2006/relationships/officeDocument" Target="/ppt/presentation.xml" Id="Rb028b0fb8aa547f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6b6aaf0c4914823"/>
  </p:sldMasterIdLst>
  <p:notesMasterIdLst>
    <p:notesMasterId xmlns:r="http://schemas.openxmlformats.org/officeDocument/2006/relationships" r:id="Rd397a76fe08d45a5"/>
  </p:notesMasterIdLst>
  <p:sldIdLst>
    <p:sldId xmlns:r="http://schemas.openxmlformats.org/officeDocument/2006/relationships" id="256" r:id="Rd177594be9984030"/>
    <p:sldId xmlns:r="http://schemas.openxmlformats.org/officeDocument/2006/relationships" id="257" r:id="R2b6eb2d9d6a24f6d"/>
    <p:sldId xmlns:r="http://schemas.openxmlformats.org/officeDocument/2006/relationships" id="258" r:id="Rd7ed5e5360124dd8"/>
    <p:sldId xmlns:r="http://schemas.openxmlformats.org/officeDocument/2006/relationships" id="259" r:id="Rdf8da42b6b3546ec"/>
    <p:sldId xmlns:r="http://schemas.openxmlformats.org/officeDocument/2006/relationships" id="260" r:id="R75617786a40544f3"/>
  </p:sldIdLst>
  <p:sldSz cx="12192000" cy="6858000"/>
  <p:notesSz cx="6858000" cy="9144000"/>
  <p:embeddedFontLst>
    <p:embeddedFont>
      <p:font typeface="Inter"/>
      <p:regular xmlns:r="http://schemas.openxmlformats.org/officeDocument/2006/relationships" r:id="R62fdf87bc43b46a1"/>
      <p:bold xmlns:r="http://schemas.openxmlformats.org/officeDocument/2006/relationships" r:id="R1e8b2a654c444b1a"/>
    </p:embeddedFont>
    <p:embeddedFont>
      <p:font typeface="Inter Medium"/>
      <p:regular xmlns:r="http://schemas.openxmlformats.org/officeDocument/2006/relationships" r:id="Rc949d1a8978d403b"/>
    </p:embeddedFont>
    <p:embeddedFont>
      <p:font typeface="Inter SemiBold"/>
      <p:regular xmlns:r="http://schemas.openxmlformats.org/officeDocument/2006/relationships" r:id="Rf853156f7eb8490a"/>
      <p:bold xmlns:r="http://schemas.openxmlformats.org/officeDocument/2006/relationships" r:id="R37e25bd0b5864589"/>
    </p:embeddedFont>
    <p:embeddedFont>
      <p:font typeface="OpenAI Sans"/>
      <p:regular xmlns:r="http://schemas.openxmlformats.org/officeDocument/2006/relationships" r:id="R9d971c3d105b41e5"/>
      <p:bold xmlns:r="http://schemas.openxmlformats.org/officeDocument/2006/relationships" r:id="Rff64be689e2e4363"/>
      <p:italic xmlns:r="http://schemas.openxmlformats.org/officeDocument/2006/relationships" r:id="R56cbd5131c5d4468"/>
      <p:boldItalic xmlns:r="http://schemas.openxmlformats.org/officeDocument/2006/relationships" r:id="R054e1ff8d92d41b3"/>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1d91bad10584775" /><Relationship Type="http://schemas.openxmlformats.org/officeDocument/2006/relationships/slideMaster" Target="/ppt/slideMasters/slideMaster1.xml" Id="R76b6aaf0c4914823" /><Relationship Type="http://schemas.openxmlformats.org/officeDocument/2006/relationships/notesMaster" Target="/ppt/notesMasters/notesMaster1.xml" Id="Rd397a76fe08d45a5" /><Relationship Type="http://schemas.openxmlformats.org/officeDocument/2006/relationships/presProps" Target="/ppt/presProps.xml" Id="Rb6a8852aa89f4606" /><Relationship Type="http://schemas.openxmlformats.org/officeDocument/2006/relationships/viewProps" Target="/ppt/viewProps.xml" Id="R73a5fd147048458a" /><Relationship Type="http://schemas.openxmlformats.org/officeDocument/2006/relationships/tableStyles" Target="/ppt/tableStyles.xml" Id="R2288a0c82803414c" /><Relationship Type="http://schemas.openxmlformats.org/officeDocument/2006/relationships/font" Target="/ppt/fonts/font.dat" Id="R62fdf87bc43b46a1" /><Relationship Type="http://schemas.openxmlformats.org/officeDocument/2006/relationships/font" Target="/ppt/fonts/font2.dat" Id="R1e8b2a654c444b1a" /><Relationship Type="http://schemas.openxmlformats.org/officeDocument/2006/relationships/font" Target="/ppt/fonts/font3.dat" Id="Rc949d1a8978d403b" /><Relationship Type="http://schemas.openxmlformats.org/officeDocument/2006/relationships/font" Target="/ppt/fonts/font4.dat" Id="Rf853156f7eb8490a" /><Relationship Type="http://schemas.openxmlformats.org/officeDocument/2006/relationships/font" Target="/ppt/fonts/font5.dat" Id="R37e25bd0b5864589" /><Relationship Type="http://schemas.openxmlformats.org/officeDocument/2006/relationships/font" Target="/ppt/fonts/font6.dat" Id="R9d971c3d105b41e5" /><Relationship Type="http://schemas.openxmlformats.org/officeDocument/2006/relationships/font" Target="/ppt/fonts/font7.dat" Id="Rff64be689e2e4363" /><Relationship Type="http://schemas.openxmlformats.org/officeDocument/2006/relationships/font" Target="/ppt/fonts/font8.dat" Id="R56cbd5131c5d4468" /><Relationship Type="http://schemas.openxmlformats.org/officeDocument/2006/relationships/font" Target="/ppt/fonts/font9.dat" Id="R054e1ff8d92d41b3" /><Relationship Type="http://schemas.openxmlformats.org/officeDocument/2006/relationships/slide" Target="/ppt/slides/slide1.xml" Id="Rd177594be9984030" /><Relationship Type="http://schemas.openxmlformats.org/officeDocument/2006/relationships/slide" Target="/ppt/slides/slide2.xml" Id="R2b6eb2d9d6a24f6d" /><Relationship Type="http://schemas.openxmlformats.org/officeDocument/2006/relationships/slide" Target="/ppt/slides/slide3.xml" Id="Rd7ed5e5360124dd8" /><Relationship Type="http://schemas.openxmlformats.org/officeDocument/2006/relationships/slide" Target="/ppt/slides/slide4.xml" Id="Rdf8da42b6b3546ec" /><Relationship Type="http://schemas.openxmlformats.org/officeDocument/2006/relationships/slide" Target="/ppt/slides/slide5.xml" Id="R75617786a40544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d42af3635f4d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d97a9b12104595" /><Relationship Type="http://schemas.openxmlformats.org/officeDocument/2006/relationships/notesMaster" Target="/ppt/notesMasters/notesMaster1.xml" Id="R8a8b83b7667d45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88af8fc3a74dad" /><Relationship Type="http://schemas.openxmlformats.org/officeDocument/2006/relationships/notesMaster" Target="/ppt/notesMasters/notesMaster1.xml" Id="R57cb24f433fb48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c4f9a45dfa4b4e" /><Relationship Type="http://schemas.openxmlformats.org/officeDocument/2006/relationships/notesMaster" Target="/ppt/notesMasters/notesMaster1.xml" Id="R39a6a7baf72c47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dab19d073e42ee" /><Relationship Type="http://schemas.openxmlformats.org/officeDocument/2006/relationships/notesMaster" Target="/ppt/notesMasters/notesMaster1.xml" Id="R6ab0cee1cb0d40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4f64f8ab0c48ae" /><Relationship Type="http://schemas.openxmlformats.org/officeDocument/2006/relationships/notesMaster" Target="/ppt/notesMasters/notesMaster1.xml" Id="Rc50105b639624e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บทบรรยาย 0:00–0:15</a:t>
            </a:r>
            <a:endParaRPr/>
          </a:p>
          <a:p xmlns:a="http://schemas.openxmlformats.org/drawingml/2006/main">
            <a:r>
              <a:t>สวัสดีครับ ผมธีรภัทร ภู่ระย้า รหัส 66362416 หัวข้อที่ 41 Interrupt Mechanism วันนี้จะอธิบายว่า CPU รับคำขอขัดจังหวะ เปลี่ยนไปทำ ISR และกลับมาทำงานเดิมอย่างถูกต้องได้อย่างไร</a:t>
            </a:r>
            <a:endParaRPr/>
          </a:p>
          <a:p xmlns:a="http://schemas.openxmlformats.org/drawingml/2006/main">
            <a:r>
              <a:t/>
            </a:r>
            <a:endParaRPr/>
          </a:p>
          <a:p xmlns:a="http://schemas.openxmlformats.org/drawingml/2006/main">
            <a:r>
              <a:t>[Sources]</a:t>
            </a:r>
            <a:endParaRPr/>
          </a:p>
          <a:p xmlns:a="http://schemas.openxmlformats.org/drawingml/2006/main">
            <a:r>
              <a:t>- /Users/3rapat/student/internship/CODEFIN/project/vahalla-wealth/private-docs/other-project/uni-work/embedded-system/1/info/student-course-enrollment.md</a:t>
            </a:r>
            <a:endParaRPr/>
          </a:p>
          <a:p xmlns:a="http://schemas.openxmlformats.org/drawingml/2006/main">
            <a:r>
              <a:t>- /Users/3rapat/student/internship/CODEFIN/project/vahalla-wealth/private-docs/other-project/uni-work/embedded-system/1/personal-presentation/assignment/Topic-lists.md</a:t>
            </a:r>
            <a:endParaRPr/>
          </a:p>
          <a:p xmlns:a="http://schemas.openxmlformats.org/drawingml/2006/main">
            <a:r>
              <a:t>- /Users/3rapat/student/internship/CODEFIN/project/vahalla-wealth/private-docs/other-project/uni-work/embedded-system/1/personal-presentation/assignment/Course Work.pdf, pp. 3, 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บทบรรยาย 0:15–0:48</a:t>
            </a:r>
            <a:endParaRPr/>
          </a:p>
          <a:p xmlns:a="http://schemas.openxmlformats.org/drawingml/2006/main">
            <a:pPr marL="0" lvl="0" indent="0" algn="l">
              <a:spcBef>
                <a:spcPts val="0"/>
              </a:spcBef>
              <a:spcAft>
                <a:spcPts val="0"/>
              </a:spcAft>
              <a:buNone/>
            </a:pPr>
            <a:r>
              <a:t>Interrupt คือกลไกถ่ายโอนการควบคุมจากโปรแกรมปัจจุบันไปยัง Interrupt Service Routine เมื่อมีคำขอที่ผ่านเงื่อนไข จุดสำคัญคือคำขอเกิดได้แบบอะซิงโครนัส ระบบต้องเก็บสถานะที่จำเป็น ใช้ Vector ระบุตำแหน่ง Handler และใช้ Enable, Mask กับ Priority กำกับการตอบรับ ในการอธิบายด้วยวาจา เราอาจเทียบสั้น ๆ ว่า CPU ไม่จำเป็นต้องวนตรวจสถานะอุปกรณ์ทุกจังหวะเหมือน polling แต่ความเปรียบเทียบนี้ไม่ใช่แกนเนื้อหาบนสไลด์</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[1] /Users/3rapat/student/internship/CODEFIN/project/vahalla-wealth/private-docs/other-project/uni-work/embedded-system/1/textbook/avr-microcontroller-and-embedded-systems-by-ali-mazidi.pdf, pp. 375–376</a:t>
            </a:r>
            <a:endParaRPr/>
          </a:p>
          <a:p xmlns:a="http://schemas.openxmlformats.org/drawingml/2006/main">
            <a:pPr marL="0" lvl="0" indent="0" algn="l">
              <a:spcBef>
                <a:spcPts val="0"/>
              </a:spcBef>
              <a:spcAft>
                <a:spcPts val="0"/>
              </a:spcAft>
              <a:buNone/>
            </a:pPr>
            <a:r>
              <a:t>- [2] /Users/3rapat/student/internship/CODEFIN/project/vahalla-wealth/private-docs/other-project/uni-work/embedded-system/1/textbook/Microchip-Technology(2018)_ATmega328P 8-bit_AVR_Microcontroller.pdf, pp. 33–34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บทบรรยาย 0:48–1:34</a:t>
            </a:r>
          </a:p>
          <a:p xmlns:a="http://schemas.openxmlformats.org/drawingml/2006/main">
            <a:r>
              <a:t>กระบวนการแบ่งเป็นสามระยะ ระยะแรก Request: Event หรือ Flag สร้างคำขอและอาจค้างในสถานะ Pending ระยะที่สอง Entry: วงจรควบคุมตรวจ Enable, Mask และ Priority จากนั้นเก็บบริบทที่สถาปัตยกรรมกำหนด และอ่าน Vector เพื่อเริ่ม Handler ระยะที่สาม Service and Return: ISR จัดการเหตุ Acknowledge หรือ Clear แหล่งคำขอ แล้วใช้กลไก Return เพื่อคืนสถานะและ Resume โปรแกรมเดิม ลำดับนี้เป็นแบบจำลองร่วม ส่วนรายละเอียดการเก็บ Register และคำสั่ง Return ขึ้นกับสถาปัตยกรรม</a:t>
            </a:r>
          </a:p>
          <a:p xmlns:a="http://schemas.openxmlformats.org/drawingml/2006/main">
            <a:r>
              <a:t/>
            </a:r>
          </a:p>
          <a:p xmlns:a="http://schemas.openxmlformats.org/drawingml/2006/main">
            <a:r>
              <a:t>[Sources]</a:t>
            </a:r>
          </a:p>
          <a:p xmlns:a="http://schemas.openxmlformats.org/drawingml/2006/main">
            <a:r>
              <a:t>- [1] /Users/3rapat/student/internship/CODEFIN/project/vahalla-wealth/private-docs/other-project/uni-work/embedded-system/1/textbook/avr-microcontroller-and-embedded-systems-by-ali-mazidi.pdf, p. 376</a:t>
            </a:r>
          </a:p>
          <a:p xmlns:a="http://schemas.openxmlformats.org/drawingml/2006/main">
            <a:r>
              <a:t>- [2] /Users/3rapat/student/internship/CODEFIN/project/vahalla-wealth/private-docs/other-project/uni-work/embedded-system/1/textbook/Microchip-Technology(2018)_ATmega328P 8-bit_AVR_Microcontroller.pdf, pp. 33–34</a:t>
            </a:r>
          </a:p>
          <a:p xmlns:a="http://schemas.openxmlformats.org/drawingml/2006/main">
            <a:r>
              <a:t>- [3] /Users/3rapat/student/internship/CODEFIN/project/vahalla-wealth/private-docs/other-project/uni-work/embedded-system/1/textbook/THE_DEFINITIVE_GUIDE_TO_THE_ARM_CORTEX-МЗ_Stellaris_MCU_9000Series_TEINSTRUMENTS_ARM_SECOND_EDITION.pdf, pp. 172–175</a:t>
            </a:r>
          </a:p>
          <a:p xmlns:a="http://schemas.openxmlformats.org/drawingml/2006/main">
            <a:r>
              <a:t>- [4] https://developer.arm.com/documentation/dui0552/a/the-cortex-m3-processor/exception-model/exception-entry-and-return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บทบรรยาย 1:34–2:12</a:t>
            </a:r>
            <a:endParaRPr/>
          </a:p>
          <a:p xmlns:a="http://schemas.openxmlformats.org/drawingml/2006/main">
            <a:pPr marL="0" lvl="0" indent="0" algn="l">
              <a:spcBef>
                <a:spcPts val="0"/>
              </a:spcBef>
              <a:spcAft>
                <a:spcPts val="0"/>
              </a:spcAft>
              <a:buNone/>
            </a:pPr>
            <a:r>
              <a:t>ความถูกต้องมีสามเงื่อนไข หนึ่ง คำขอต้องผ่านกฎ Enable, Mask และ Priority เพื่อไม่ให้ Control Flow เปลี่ยนผิดจังหวะ สอง ต้องรักษา Context Integrity โดย Hardware เก็บเฉพาะสถานะที่สถาปัตยกรรมกำหนด ส่วนสถานะเพิ่มเติมที่ ISR แก้ไขต้องเป็นไปตาม ABI และ Compiler สาม ISR ต้อง Acknowledge แหล่งคำขอและทำเฉพาะงานจำเป็นให้เสร็จเร็ว เพราะช่วงเวลาที่ Interrupt ถูกปิดหรือ ISR ทำงานนานจะเพิ่ม Latency และ Jitter ของเหตุการณ์อื่น</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[2] /Users/3rapat/student/internship/CODEFIN/project/vahalla-wealth/private-docs/other-project/uni-work/embedded-system/1/textbook/Microchip-Technology(2018)_ATmega328P 8-bit_AVR_Microcontroller.pdf, pp. 33–34</a:t>
            </a:r>
            <a:endParaRPr/>
          </a:p>
          <a:p xmlns:a="http://schemas.openxmlformats.org/drawingml/2006/main">
            <a:pPr marL="0" lvl="0" indent="0" algn="l">
              <a:spcBef>
                <a:spcPts val="0"/>
              </a:spcBef>
              <a:spcAft>
                <a:spcPts val="0"/>
              </a:spcAft>
              <a:buNone/>
            </a:pPr>
            <a:r>
              <a:t>- [3] /Users/3rapat/student/internship/CODEFIN/project/vahalla-wealth/private-docs/other-project/uni-work/embedded-system/1/textbook/THE_DEFINITIVE_GUIDE_TO_THE_ARM_CORTEX-МЗ_Stellaris_MCU_9000Series_TEINSTRUMENTS_ARM_SECOND_EDITION.pdf, pp. 172–175</a:t>
            </a:r>
            <a:endParaRPr/>
          </a:p>
          <a:p xmlns:a="http://schemas.openxmlformats.org/drawingml/2006/main">
            <a:pPr marL="0" lvl="0" indent="0" algn="l">
              <a:spcBef>
                <a:spcPts val="0"/>
              </a:spcBef>
              <a:spcAft>
                <a:spcPts val="0"/>
              </a:spcAft>
              <a:buNone/>
            </a:pPr>
            <a:r>
              <a:t>- [4] https://developer.arm.com/documentation/dui0552/a/the-cortex-m3-processor/exception-model/exception-entry-and-return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บทบรรยาย 2:12–2:25</a:t>
            </a:r>
          </a:p>
          <a:p xmlns:a="http://schemas.openxmlformats.org/drawingml/2006/main">
            <a:r>
              <a:t>สรุปคือ Interrupt ไม่ใช่เพียงการกระโดดไปยังฟังก์ชัน แต่เป็นลำดับทางสถาปัตยกรรมที่ต้องควบคุมการตอบรับ รักษาสถานะ จัดการแหล่งคำขอ และคืนการทำงานเดิมอย่างมีขอบเขตเวลา เอกสารหลักที่ใช้คือหนังสือ AVR, Datasheet ของ Microchip, ตำรา Cortex-M3 และเอกสารทางการของ Arm ขอบคุณครับ</a:t>
            </a:r>
          </a:p>
          <a:p xmlns:a="http://schemas.openxmlformats.org/drawingml/2006/main">
            <a:r>
              <a:t/>
            </a:r>
          </a:p>
          <a:p xmlns:a="http://schemas.openxmlformats.org/drawingml/2006/main">
            <a:r>
              <a:t>[Sources]</a:t>
            </a:r>
          </a:p>
          <a:p xmlns:a="http://schemas.openxmlformats.org/drawingml/2006/main">
            <a:r>
              <a:t>- [1] Mazidi, M. A., Naimi, S., and Naimi, S. (2011). The AVR Microcontroller and Embedded Systems. pp. 375–376, Prentice Hall.</a:t>
            </a:r>
          </a:p>
          <a:p xmlns:a="http://schemas.openxmlformats.org/drawingml/2006/main">
            <a:r>
              <a:t>- [2] Microchip Technology Inc. (2018). ATmega328/P Datasheet Complete. pp. 33–34, Microchip Technology Inc.</a:t>
            </a:r>
          </a:p>
          <a:p xmlns:a="http://schemas.openxmlformats.org/drawingml/2006/main">
            <a:r>
              <a:t>- [3] Yiu, J. (2010). The Definitive Guide to the ARM Cortex-M3. 2nd ed. pp. 172–175, Newnes.</a:t>
            </a:r>
          </a:p>
          <a:p xmlns:a="http://schemas.openxmlformats.org/drawingml/2006/main">
            <a:r>
              <a:t>- [4] Arm Ltd. (2010). Cortex-M3 Devices Generic User Guide, ARM DUI 0552A. pp. 2-26–2-27, Arm Ltd.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6ef71bb6cc450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6825167e604436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b19ad083f74456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acd41d2ab46490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b9022aad4fe495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b2fa8920bda430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b2493bf9d1d4d9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22e511f1b3f4485"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118432070c45a5" /><Relationship Type="http://schemas.openxmlformats.org/officeDocument/2006/relationships/slideLayout" Target="/ppt/slideLayouts/slideLayout1.xml" Id="Ra892fe6e00eb4e31" /><Relationship Type="http://schemas.openxmlformats.org/officeDocument/2006/relationships/slideLayout" Target="/ppt/slideLayouts/slideLayout2.xml" Id="Rb66bd13edb5441e1" /><Relationship Type="http://schemas.openxmlformats.org/officeDocument/2006/relationships/slideLayout" Target="/ppt/slideLayouts/slideLayout3.xml" Id="R6c6689054ff44d62" /><Relationship Type="http://schemas.openxmlformats.org/officeDocument/2006/relationships/slideLayout" Target="/ppt/slideLayouts/slideLayout4.xml" Id="Rcb28140ef3764f34" /><Relationship Type="http://schemas.openxmlformats.org/officeDocument/2006/relationships/slideLayout" Target="/ppt/slideLayouts/slideLayout5.xml" Id="R266eb619894d4240" /><Relationship Type="http://schemas.openxmlformats.org/officeDocument/2006/relationships/slideLayout" Target="/ppt/slideLayouts/slideLayout6.xml" Id="R5a8c9d3aa71a427b" /><Relationship Type="http://schemas.openxmlformats.org/officeDocument/2006/relationships/slideLayout" Target="/ppt/slideLayouts/slideLayout7.xml" Id="R1f50f40b09084cba" /><Relationship Type="http://schemas.openxmlformats.org/officeDocument/2006/relationships/slideLayout" Target="/ppt/slideLayouts/slideLayout8.xml" Id="R433a8062bd9847a5" /></Relationships>
</file>

<file path=ppt/slideMasters/slideMaster1.xml><?xml version="1.0" encoding="utf-8"?>
<p:sldMaster xmlns:p="http://schemas.openxmlformats.org/presentationml/2006/main">
  <p:cSld>
    <p:bg>
      <p:bgPr>
        <a:solidFill xmlns:a="http://schemas.openxmlformats.org/drawingml/2006/main">
          <a:srgbClr val="002615"/>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a892fe6e00eb4e31"/>
    <p:sldLayoutId xmlns:r="http://schemas.openxmlformats.org/officeDocument/2006/relationships" id="2147483650" r:id="Rb66bd13edb5441e1"/>
    <p:sldLayoutId xmlns:r="http://schemas.openxmlformats.org/officeDocument/2006/relationships" id="2147483651" r:id="R6c6689054ff44d62"/>
    <p:sldLayoutId xmlns:r="http://schemas.openxmlformats.org/officeDocument/2006/relationships" id="2147483652" r:id="Rcb28140ef3764f34"/>
    <p:sldLayoutId xmlns:r="http://schemas.openxmlformats.org/officeDocument/2006/relationships" id="2147483653" r:id="R266eb619894d4240"/>
    <p:sldLayoutId xmlns:r="http://schemas.openxmlformats.org/officeDocument/2006/relationships" id="2147483654" r:id="R5a8c9d3aa71a427b"/>
    <p:sldLayoutId xmlns:r="http://schemas.openxmlformats.org/officeDocument/2006/relationships" id="2147483655" r:id="R1f50f40b09084cba"/>
    <p:sldLayoutId xmlns:r="http://schemas.openxmlformats.org/officeDocument/2006/relationships" id="2147483656" r:id="R433a8062bd9847a5"/>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p15:clr>
            <a:srgbClr xmlns:a="http://schemas.openxmlformats.org/drawingml/2006/main" val="F26B43"/>
          </p15:clr>
        </p15:guide>
        <p15:guide id="2" pos="7680">
          <p15:clr>
            <a:srgbClr xmlns:a="http://schemas.openxmlformats.org/drawingml/2006/main" val="F26B43"/>
          </p15:clr>
        </p15:guide>
        <p15:guide id="3" pos="248">
          <p15:clr>
            <a:srgbClr xmlns:a="http://schemas.openxmlformats.org/drawingml/2006/main" val="F26B43"/>
          </p15:clr>
        </p15:guide>
        <p15:guide id="4" pos="1264">
          <p15:clr>
            <a:srgbClr xmlns:a="http://schemas.openxmlformats.org/drawingml/2006/main" val="F26B43"/>
          </p15:clr>
        </p15:guide>
        <p15:guide id="5" pos="1480">
          <p15:clr>
            <a:srgbClr xmlns:a="http://schemas.openxmlformats.org/drawingml/2006/main" val="F26B43"/>
          </p15:clr>
        </p15:guide>
        <p15:guide id="6" pos="2496">
          <p15:clr>
            <a:srgbClr xmlns:a="http://schemas.openxmlformats.org/drawingml/2006/main" val="F26B43"/>
          </p15:clr>
        </p15:guide>
        <p15:guide id="7" pos="2712">
          <p15:clr>
            <a:srgbClr xmlns:a="http://schemas.openxmlformats.org/drawingml/2006/main" val="F26B43"/>
          </p15:clr>
        </p15:guide>
        <p15:guide id="8" pos="3736">
          <p15:clr>
            <a:srgbClr xmlns:a="http://schemas.openxmlformats.org/drawingml/2006/main" val="F26B43"/>
          </p15:clr>
        </p15:guide>
        <p15:guide id="9" pos="3944">
          <p15:clr>
            <a:srgbClr xmlns:a="http://schemas.openxmlformats.org/drawingml/2006/main" val="F26B43"/>
          </p15:clr>
        </p15:guide>
        <p15:guide id="10" pos="4968">
          <p15:clr>
            <a:srgbClr xmlns:a="http://schemas.openxmlformats.org/drawingml/2006/main" val="F26B43"/>
          </p15:clr>
        </p15:guide>
        <p15:guide id="11" pos="5184">
          <p15:clr>
            <a:srgbClr xmlns:a="http://schemas.openxmlformats.org/drawingml/2006/main" val="F26B43"/>
          </p15:clr>
        </p15:guide>
        <p15:guide id="12" pos="6200">
          <p15:clr>
            <a:srgbClr xmlns:a="http://schemas.openxmlformats.org/drawingml/2006/main" val="F26B43"/>
          </p15:clr>
        </p15:guide>
        <p15:guide id="13" pos="6416">
          <p15:clr>
            <a:srgbClr xmlns:a="http://schemas.openxmlformats.org/drawingml/2006/main" val="F26B43"/>
          </p15:clr>
        </p15:guide>
        <p15:guide id="14" pos="7432">
          <p15:clr>
            <a:srgbClr xmlns:a="http://schemas.openxmlformats.org/drawingml/2006/main" val="F26B43"/>
          </p15:clr>
        </p15:guide>
        <p15:guide id="15" orient="horz">
          <p15:clr>
            <a:srgbClr xmlns:a="http://schemas.openxmlformats.org/drawingml/2006/main" val="F26B43"/>
          </p15:clr>
        </p15:guide>
        <p15:guide id="17" orient="horz" pos="248">
          <p15:clr>
            <a:srgbClr xmlns:a="http://schemas.openxmlformats.org/drawingml/2006/main" val="F26B43"/>
          </p15:clr>
        </p15:guide>
        <p15:guide id="18" orient="horz" pos="656">
          <p15:clr>
            <a:srgbClr xmlns:a="http://schemas.openxmlformats.org/drawingml/2006/main" val="F26B43"/>
          </p15:clr>
        </p15:guide>
        <p15:guide id="19" orient="horz" pos="872">
          <p15:clr>
            <a:srgbClr xmlns:a="http://schemas.openxmlformats.org/drawingml/2006/main" val="F26B43"/>
          </p15:clr>
        </p15:guide>
        <p15:guide id="20" orient="horz" pos="1280">
          <p15:clr>
            <a:srgbClr xmlns:a="http://schemas.openxmlformats.org/drawingml/2006/main" val="F26B43"/>
          </p15:clr>
        </p15:guide>
        <p15:guide id="21" orient="horz" pos="1496">
          <p15:clr>
            <a:srgbClr xmlns:a="http://schemas.openxmlformats.org/drawingml/2006/main" val="F26B43"/>
          </p15:clr>
        </p15:guide>
        <p15:guide id="22" orient="horz" pos="1904">
          <p15:clr>
            <a:srgbClr xmlns:a="http://schemas.openxmlformats.org/drawingml/2006/main" val="F26B43"/>
          </p15:clr>
        </p15:guide>
        <p15:guide id="23" orient="horz" pos="2120">
          <p15:clr>
            <a:srgbClr xmlns:a="http://schemas.openxmlformats.org/drawingml/2006/main" val="F26B43"/>
          </p15:clr>
        </p15:guide>
        <p15:guide id="24" orient="horz" pos="2528">
          <p15:clr>
            <a:srgbClr xmlns:a="http://schemas.openxmlformats.org/drawingml/2006/main" val="F26B43"/>
          </p15:clr>
        </p15:guide>
        <p15:guide id="25" orient="horz" pos="2744">
          <p15:clr>
            <a:srgbClr xmlns:a="http://schemas.openxmlformats.org/drawingml/2006/main" val="F26B43"/>
          </p15:clr>
        </p15:guide>
        <p15:guide id="26" orient="horz" pos="3152">
          <p15:clr>
            <a:srgbClr xmlns:a="http://schemas.openxmlformats.org/drawingml/2006/main" val="F26B43"/>
          </p15:clr>
        </p15:guide>
        <p15:guide id="27" orient="horz" pos="3368">
          <p15:clr>
            <a:srgbClr xmlns:a="http://schemas.openxmlformats.org/drawingml/2006/main" val="F26B43"/>
          </p15:clr>
        </p15:guide>
        <p15:guide id="28" orient="horz" pos="3776">
          <p15:clr>
            <a:srgbClr xmlns:a="http://schemas.openxmlformats.org/drawingml/2006/main" val="F26B43"/>
          </p15:clr>
        </p15:guide>
        <p15:guide id="29" orient="horz" pos="4088">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372f3a280d24e5b" /><Relationship Type="http://schemas.openxmlformats.org/officeDocument/2006/relationships/notesSlide" Target="/ppt/notesSlides/notesSlide1.xml" Id="Rd680052a63424f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9edc962254a4cb9" /><Relationship Type="http://schemas.openxmlformats.org/officeDocument/2006/relationships/notesSlide" Target="/ppt/notesSlides/notesSlide2.xml" Id="R2bca4cb626bc41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662453dd11844b9" /><Relationship Type="http://schemas.openxmlformats.org/officeDocument/2006/relationships/notesSlide" Target="/ppt/notesSlides/notesSlide3.xml" Id="R62e62b5604ff49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7761201cb394dfa" /><Relationship Type="http://schemas.openxmlformats.org/officeDocument/2006/relationships/notesSlide" Target="/ppt/notesSlides/notesSlide4.xml" Id="Rbaf3043b172b40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c436a964ec14791" /><Relationship Type="http://schemas.openxmlformats.org/officeDocument/2006/relationships/notesSlide" Target="/ppt/notesSlides/notesSlide5.xml" Id="R047dab8da030485c" /></Relationships>
</file>

<file path=ppt/slides/slide1.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1371600" y="2066174"/>
            <a:ext cx="9448800" cy="2203686"/>
          </a:xfrm>
        </p:spPr>
        <p:txBody>
          <a:bodyPr xmlns:a="http://schemas.openxmlformats.org/drawingml/2006/main" anchor="ctr">
            <a:normAutofit fontScale="100000"/>
          </a:bodyPr>
          <a:lstStyle xmlns:a="http://schemas.openxmlformats.org/drawingml/2006/main"/>
          <a:p xmlns:a="http://schemas.openxmlformats.org/drawingml/2006/main">
            <a:pPr algn="ctr">
              <a:buNone/>
              <a:defRPr sz="4950" b="1">
                <a:solidFill>
                  <a:srgbClr val="7DD3FC"/>
                </a:solidFill>
                <a:latin typeface="Tahoma"/>
                <a:ea typeface="Tahoma"/>
                <a:cs typeface="Tahoma"/>
              </a:defRPr>
            </a:pPr>
            <a:r>
              <a:rPr sz="4950" b="1">
                <a:solidFill>
                  <a:srgbClr val="7DD3FC"/>
                </a:solidFill>
                <a:latin typeface="Tahoma"/>
                <a:ea typeface="Tahoma"/>
                <a:cs typeface="Tahoma"/>
              </a:rPr>
              <a:t>41  Interrupt</a:t>
            </a:r>
          </a:p>
          <a:p xmlns:a="http://schemas.openxmlformats.org/drawingml/2006/main">
            <a:pPr algn="ctr">
              <a:buNone/>
              <a:defRPr sz="4950" b="1">
                <a:solidFill>
                  <a:srgbClr val="7DD3FC"/>
                </a:solidFill>
                <a:latin typeface="Tahoma"/>
                <a:ea typeface="Tahoma"/>
                <a:cs typeface="Tahoma"/>
              </a:defRPr>
            </a:pPr>
            <a:r>
              <a:rPr sz="4950" b="1">
                <a:solidFill>
                  <a:srgbClr val="7DD3FC"/>
                </a:solidFill>
                <a:latin typeface="Tahoma"/>
                <a:ea typeface="Tahoma"/>
                <a:cs typeface="Tahoma"/>
              </a:rPr>
              <a:t>Mechanism</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2461605" y="4874716"/>
            <a:ext cx="7267329" cy="691197"/>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defRPr sz="1725">
                <a:solidFill>
                  <a:srgbClr val="F4F8FC"/>
                </a:solidFill>
                <a:latin typeface="Tahoma"/>
                <a:ea typeface="Tahoma"/>
                <a:cs typeface="Tahoma"/>
              </a:defRPr>
            </a:pPr>
            <a:r>
              <a:rPr sz="1725">
                <a:solidFill>
                  <a:srgbClr val="F4F8FC"/>
                </a:solidFill>
                <a:latin typeface="Tahoma"/>
                <a:ea typeface="Tahoma"/>
                <a:cs typeface="Tahoma"/>
              </a:rPr>
              <a:t>นายธีรภัทร ภู่ระย้า  •  66362416  •  กลุ่ม 1  •  ลำดับ 4</a:t>
            </a:r>
          </a:p>
        </p:txBody>
      </p:sp>
      <p:sp>
        <p:nvSpPr>
          <p:cNvPr id="3" name="Rounded Rectangle 2">
            <a:extLst xmlns:a="http://schemas.openxmlformats.org/drawingml/2006/main">
              <a:ext uri="{FF2B5EF4-FFF2-40B4-BE49-F238E27FC236}">
                <a16:creationId xmlns:a16="http://schemas.microsoft.com/office/drawing/2014/main" id="{A4393902-CF74-AC35-55A9-910ABBD4C9FD}"/>
              </a:ext>
            </a:extLst>
          </p:cNvPr>
          <p:cNvSpPr>
            <a:spLocks xmlns:a="http://schemas.openxmlformats.org/drawingml/2006/main" noGrp="1"/>
          </p:cNvSpPr>
          <p:nvPr/>
        </p:nvSpPr>
        <p:spPr>
          <a:xfrm xmlns:a="http://schemas.openxmlformats.org/drawingml/2006/main">
            <a:off x="4793264" y="1096027"/>
            <a:ext cx="2604013" cy="488816"/>
          </a:xfrm>
          <a:prstGeom xmlns:a="http://schemas.openxmlformats.org/drawingml/2006/main" prst="roundRect">
            <a:avLst>
              <a:gd name="adj" fmla="val 50000"/>
            </a:avLst>
          </a:prstGeom>
          <a:solidFill xmlns:a="http://schemas.openxmlformats.org/drawingml/2006/main">
            <a:srgbClr val="173B5E"/>
          </a:solidFill>
          <a:ln xmlns:a="http://schemas.openxmlformats.org/drawingml/2006/main" w="9525">
            <a:solidFill>
              <a:srgbClr val="335B7A"/>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normAutofit fontScale="100000"/>
          </a:bodyPr>
          <a:lstStyle xmlns:a="http://schemas.openxmlformats.org/drawingml/2006/main"/>
          <a:p xmlns:a="http://schemas.openxmlformats.org/drawingml/2006/main">
            <a:pPr algn="ctr">
              <a:buNone/>
              <a:defRPr sz="938" b="1">
                <a:solidFill>
                  <a:srgbClr val="F4F8FC"/>
                </a:solidFill>
                <a:latin typeface="Tahoma"/>
                <a:ea typeface="Tahoma"/>
                <a:cs typeface="Tahoma"/>
              </a:defRPr>
            </a:pPr>
            <a:r>
              <a:rPr sz="938" b="1">
                <a:solidFill>
                  <a:srgbClr val="F4F8FC"/>
                </a:solidFill>
                <a:latin typeface="Tahoma"/>
                <a:ea typeface="Tahoma"/>
                <a:cs typeface="Tahoma"/>
              </a:rPr>
              <a:t>305341  •  EMBEDDED SYSTEM 1</a:t>
            </a:r>
          </a:p>
        </p:txBody>
      </p:sp>
    </p:spTree>
    <p:extLst>
      <p:ext uri="{BB962C8B-B14F-4D97-AF65-F5344CB8AC3E}">
        <p14:creationId xmlns:p14="http://schemas.microsoft.com/office/powerpoint/2010/main" val="3507737165"/>
      </p:ext>
    </p:extLst>
  </p:cSld>
</p:sld>
</file>

<file path=ppt/slides/slide2.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rmAutofit fontScale="100000"/>
          </a:bodyPr>
          <a:lstStyle xmlns:a="http://schemas.openxmlformats.org/drawingml/2006/main"/>
          <a:p xmlns:a="http://schemas.openxmlformats.org/drawingml/2006/main">
            <a:pPr algn="r">
              <a:defRPr sz="1000">
                <a:solidFill>
                  <a:srgbClr val="B8C7D9"/>
                </a:solidFill>
                <a:latin typeface="Tahoma"/>
                <a:ea typeface="Tahoma"/>
                <a:cs typeface="Tahoma"/>
              </a:defRPr>
            </a:pPr>
            <a:fld id="{E2598689-54C9-18A7-3A19-ED76AA08988F}" type="slidenum">
              <a:rPr sz="1000">
                <a:solidFill>
                  <a:srgbClr val="B8C7D9"/>
                </a:solidFill>
                <a:latin typeface="Tahoma"/>
                <a:ea typeface="Tahoma"/>
                <a:cs typeface="Tahoma"/>
              </a:rPr>
              <a:t>2</a:t>
            </a:fld>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lgn="l">
              <a:defRPr sz="2775" b="1">
                <a:solidFill>
                  <a:srgbClr val="F4F8FC"/>
                </a:solidFill>
                <a:latin typeface="Tahoma"/>
                <a:ea typeface="Tahoma"/>
                <a:cs typeface="Tahoma"/>
              </a:defRPr>
            </a:pPr>
            <a:r>
              <a:rPr sz="2775" b="1">
                <a:solidFill>
                  <a:srgbClr val="F4F8FC"/>
                </a:solidFill>
                <a:latin typeface="Tahoma"/>
                <a:ea typeface="Tahoma"/>
                <a:cs typeface="Tahoma"/>
              </a:rPr>
              <a:t>Interrupt คือการถ่ายโอนการควบคุมตามเหตุการณ์ [1][2]</a:t>
            </a: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463">
                <a:solidFill>
                  <a:srgbClr val="F4F8FC"/>
                </a:solidFill>
                <a:latin typeface="Tahoma"/>
                <a:ea typeface="Tahoma"/>
                <a:cs typeface="Tahoma"/>
              </a:defRPr>
            </a:pPr>
            <a:r>
              <a:rPr sz="1463">
                <a:solidFill>
                  <a:srgbClr val="F4F8FC"/>
                </a:solidFill>
                <a:latin typeface="Tahoma"/>
                <a:ea typeface="Tahoma"/>
                <a:cs typeface="Tahoma"/>
              </a:rPr>
              <a:t>เหตุการณ์สร้างคำขอแบบอะซิงโครนัส</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425" b="1">
                <a:solidFill>
                  <a:srgbClr val="7DD3FC"/>
                </a:solidFill>
                <a:latin typeface="Tahoma"/>
                <a:ea typeface="Tahoma"/>
                <a:cs typeface="Tahoma"/>
              </a:defRPr>
            </a:pPr>
            <a:r>
              <a:rPr sz="1425" b="1">
                <a:solidFill>
                  <a:srgbClr val="7DD3FC"/>
                </a:solidFill>
                <a:latin typeface="Tahoma"/>
                <a:ea typeface="Tahoma"/>
                <a:cs typeface="Tahoma"/>
              </a:rPr>
              <a:t>EVENT-DRIVEN</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463">
                <a:solidFill>
                  <a:srgbClr val="F4F8FC"/>
                </a:solidFill>
                <a:latin typeface="Tahoma"/>
                <a:ea typeface="Tahoma"/>
                <a:cs typeface="Tahoma"/>
              </a:defRPr>
            </a:pPr>
            <a:r>
              <a:rPr sz="1463">
                <a:solidFill>
                  <a:srgbClr val="F4F8FC"/>
                </a:solidFill>
                <a:latin typeface="Tahoma"/>
                <a:ea typeface="Tahoma"/>
                <a:cs typeface="Tahoma"/>
              </a:rPr>
              <a:t>เก็บสถานะที่จำเป็นก่อนเปลี่ยนเส้นทาง</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425" b="1">
                <a:solidFill>
                  <a:srgbClr val="7DD3FC"/>
                </a:solidFill>
                <a:latin typeface="Tahoma"/>
                <a:ea typeface="Tahoma"/>
                <a:cs typeface="Tahoma"/>
              </a:defRPr>
            </a:pPr>
            <a:r>
              <a:rPr sz="1425" b="1">
                <a:solidFill>
                  <a:srgbClr val="7DD3FC"/>
                </a:solidFill>
                <a:latin typeface="Tahoma"/>
                <a:ea typeface="Tahoma"/>
                <a:cs typeface="Tahoma"/>
              </a:rPr>
              <a:t>STATE-PRESERVING</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463">
                <a:solidFill>
                  <a:srgbClr val="F4F8FC"/>
                </a:solidFill>
                <a:latin typeface="Tahoma"/>
                <a:ea typeface="Tahoma"/>
                <a:cs typeface="Tahoma"/>
              </a:defRPr>
            </a:pPr>
            <a:r>
              <a:rPr sz="1463">
                <a:solidFill>
                  <a:srgbClr val="F4F8FC"/>
                </a:solidFill>
                <a:latin typeface="Tahoma"/>
                <a:ea typeface="Tahoma"/>
                <a:cs typeface="Tahoma"/>
              </a:rPr>
              <a:t>Vector table ระบุตำแหน่งของ handler</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425" b="1">
                <a:solidFill>
                  <a:srgbClr val="7DD3FC"/>
                </a:solidFill>
                <a:latin typeface="Tahoma"/>
                <a:ea typeface="Tahoma"/>
                <a:cs typeface="Tahoma"/>
              </a:defRPr>
            </a:pPr>
            <a:r>
              <a:rPr sz="1425" b="1">
                <a:solidFill>
                  <a:srgbClr val="7DD3FC"/>
                </a:solidFill>
                <a:latin typeface="Tahoma"/>
                <a:ea typeface="Tahoma"/>
                <a:cs typeface="Tahoma"/>
              </a:rPr>
              <a:t>VECTORED</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463">
                <a:solidFill>
                  <a:srgbClr val="F4F8FC"/>
                </a:solidFill>
                <a:latin typeface="Tahoma"/>
                <a:ea typeface="Tahoma"/>
                <a:cs typeface="Tahoma"/>
              </a:defRPr>
            </a:pPr>
            <a:r>
              <a:rPr sz="1463">
                <a:solidFill>
                  <a:srgbClr val="F4F8FC"/>
                </a:solidFill>
                <a:latin typeface="Tahoma"/>
                <a:ea typeface="Tahoma"/>
                <a:cs typeface="Tahoma"/>
              </a:rPr>
              <a:t>Enable, mask และ priority กำกับการตอบรับ</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425" b="1">
                <a:solidFill>
                  <a:srgbClr val="7DD3FC"/>
                </a:solidFill>
                <a:latin typeface="Tahoma"/>
                <a:ea typeface="Tahoma"/>
                <a:cs typeface="Tahoma"/>
              </a:defRPr>
            </a:pPr>
            <a:r>
              <a:rPr sz="1425" b="1">
                <a:solidFill>
                  <a:srgbClr val="7DD3FC"/>
                </a:solidFill>
                <a:latin typeface="Tahoma"/>
                <a:ea typeface="Tahoma"/>
                <a:cs typeface="Tahoma"/>
              </a:rPr>
              <a:t>PRIORITY-AWARE</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2025">
                <a:solidFill>
                  <a:srgbClr val="F4F8FC"/>
                </a:solidFill>
                <a:latin typeface="Tahoma"/>
                <a:ea typeface="Tahoma"/>
                <a:cs typeface="Tahoma"/>
              </a:defRPr>
            </a:pPr>
            <a:r>
              <a:rPr sz="2025">
                <a:solidFill>
                  <a:srgbClr val="F4F8FC"/>
                </a:solidFill>
                <a:latin typeface="Tahoma"/>
                <a:ea typeface="Tahoma"/>
                <a:cs typeface="Tahoma"/>
              </a:rPr>
              <a:t>กลไกที่ทำให้ CPU เปลี่ยนจากโปรแกรมปัจจุบันไปยัง ISR เมื่อคำขอผ่านเงื่อนไขการตอบรับ จากนั้นคืนบริบทและดำเนินงานต่อ ณ ตำแหน่งเดิม</a:t>
            </a:r>
          </a:p>
        </p:txBody>
      </p:sp>
    </p:spTree>
    <p:extLst>
      <p:ext uri="{BB962C8B-B14F-4D97-AF65-F5344CB8AC3E}">
        <p14:creationId xmlns:p14="http://schemas.microsoft.com/office/powerpoint/2010/main" val="676116957"/>
      </p:ext>
    </p:extLst>
  </p:cSld>
</p:sld>
</file>

<file path=ppt/slides/slide3.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2" name="Rounded Rectangle 11">
            <a:extLst xmlns:a="http://schemas.openxmlformats.org/drawingml/2006/main">
              <a:ext uri="{FF2B5EF4-FFF2-40B4-BE49-F238E27FC236}">
                <a16:creationId xmlns:a16="http://schemas.microsoft.com/office/drawing/2014/main" id="{86FC0B29-995A-397B-C2F3-07F01F976246}"/>
              </a:ext>
            </a:extLst>
          </p:cNvPr>
          <p:cNvSpPr>
            <a:spLocks xmlns:a="http://schemas.openxmlformats.org/drawingml/2006/main" noGrp="1"/>
          </p:cNvSpPr>
          <p:nvPr/>
        </p:nvSpPr>
        <p:spPr>
          <a:xfrm xmlns:a="http://schemas.openxmlformats.org/drawingml/2006/main">
            <a:off x="7833152" y="2134181"/>
            <a:ext cx="3568700" cy="3709944"/>
          </a:xfrm>
          <a:prstGeom xmlns:a="http://schemas.openxmlformats.org/drawingml/2006/main" prst="roundRect">
            <a:avLst>
              <a:gd name="adj" fmla="val 3585"/>
            </a:avLst>
          </a:prstGeom>
          <a:solidFill xmlns:a="http://schemas.openxmlformats.org/drawingml/2006/main">
            <a:srgbClr val="102A43"/>
          </a:solidFill>
          <a:ln xmlns:a="http://schemas.openxmlformats.org/drawingml/2006/main" w="9525">
            <a:solidFill>
              <a:srgbClr val="335B7A"/>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nchor="b">
            <a:normAutofit fontScale="100000"/>
          </a:bodyPr>
          <a:lstStyle xmlns:a="http://schemas.openxmlformats.org/drawingml/2006/main"/>
          <a:p xmlns:a="http://schemas.openxmlformats.org/drawingml/2006/main">
            <a:pPr algn="r">
              <a:defRPr sz="1000">
                <a:solidFill>
                  <a:srgbClr val="B8C7D9"/>
                </a:solidFill>
                <a:latin typeface="Tahoma"/>
                <a:ea typeface="Tahoma"/>
                <a:cs typeface="Tahoma"/>
              </a:defRPr>
            </a:pPr>
            <a:fld id="{202359C0-8A7A-196E-DD58-8E6569619F09}" type="slidenum">
              <a:rPr sz="1000">
                <a:solidFill>
                  <a:srgbClr val="B8C7D9"/>
                </a:solidFill>
                <a:latin typeface="Tahoma"/>
                <a:ea typeface="Tahoma"/>
                <a:cs typeface="Tahoma"/>
              </a:rPr>
              <a:t>3</a:t>
            </a:fld>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chor="t">
            <a:normAutofit fontScale="100000"/>
          </a:bodyPr>
          <a:lstStyle xmlns:a="http://schemas.openxmlformats.org/drawingml/2006/main"/>
          <a:p xmlns:a="http://schemas.openxmlformats.org/drawingml/2006/main">
            <a:pPr algn="l">
              <a:defRPr sz="2775" b="1">
                <a:solidFill>
                  <a:srgbClr val="F4F8FC"/>
                </a:solidFill>
                <a:latin typeface="Tahoma"/>
                <a:ea typeface="Tahoma"/>
                <a:cs typeface="Tahoma"/>
              </a:defRPr>
            </a:pPr>
            <a:r>
              <a:rPr sz="2775" b="1">
                <a:solidFill>
                  <a:srgbClr val="F4F8FC"/>
                </a:solidFill>
                <a:latin typeface="Tahoma"/>
                <a:ea typeface="Tahoma"/>
                <a:cs typeface="Tahoma"/>
              </a:rPr>
              <a:t>การตอบสนองแบ่งเป็น 3 ระยะต่อเนื่อง [1][2][3][4]</a:t>
            </a:r>
          </a:p>
        </p:txBody>
      </p:sp>
      <p:cxnSp>
        <p:nvCxnSpPr>
          <p:cNvPr id="28"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19050" cap="flat">
            <a:solidFill>
              <a:srgbClr val="60A5FA"/>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rgbClr val="7DD3FC"/>
          </a:solidFill>
          <a:ln xmlns:a="http://schemas.openxmlformats.org/drawingml/2006/main" w="9525">
            <a:solidFill>
              <a:srgbClr val="7DD3FC"/>
            </a:solidFill>
            <a:prstDash val="solid"/>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rgbClr val="7DD3FC"/>
          </a:solidFill>
          <a:ln xmlns:a="http://schemas.openxmlformats.org/drawingml/2006/main" w="9525">
            <a:solidFill>
              <a:srgbClr val="7DD3FC"/>
            </a:solidFill>
            <a:prstDash val="solid"/>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rgbClr val="7DD3FC"/>
          </a:solidFill>
          <a:ln xmlns:a="http://schemas.openxmlformats.org/drawingml/2006/main" w="9525">
            <a:solidFill>
              <a:srgbClr val="7DD3FC"/>
            </a:solidFill>
            <a:prstDash val="solid"/>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275" b="1">
                <a:solidFill>
                  <a:srgbClr val="7DD3FC"/>
                </a:solidFill>
                <a:latin typeface="Tahoma"/>
                <a:ea typeface="Tahoma"/>
                <a:cs typeface="Tahoma"/>
              </a:defRPr>
            </a:pPr>
            <a:r>
              <a:rPr sz="1275" b="1">
                <a:solidFill>
                  <a:srgbClr val="7DD3FC"/>
                </a:solidFill>
                <a:latin typeface="Tahoma"/>
                <a:ea typeface="Tahoma"/>
                <a:cs typeface="Tahoma"/>
              </a:rPr>
              <a:t>PHASE 01</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275" b="1">
                <a:solidFill>
                  <a:srgbClr val="7DD3FC"/>
                </a:solidFill>
                <a:latin typeface="Tahoma"/>
                <a:ea typeface="Tahoma"/>
                <a:cs typeface="Tahoma"/>
              </a:defRPr>
            </a:pPr>
            <a:r>
              <a:rPr sz="1275" b="1">
                <a:solidFill>
                  <a:srgbClr val="7DD3FC"/>
                </a:solidFill>
                <a:latin typeface="Tahoma"/>
                <a:ea typeface="Tahoma"/>
                <a:cs typeface="Tahoma"/>
              </a:rPr>
              <a:t>PHASE 02</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275" b="1">
                <a:solidFill>
                  <a:srgbClr val="7DD3FC"/>
                </a:solidFill>
                <a:latin typeface="Tahoma"/>
                <a:ea typeface="Tahoma"/>
                <a:cs typeface="Tahoma"/>
              </a:defRPr>
            </a:pPr>
            <a:r>
              <a:rPr sz="1275" b="1">
                <a:solidFill>
                  <a:srgbClr val="7DD3FC"/>
                </a:solidFill>
                <a:latin typeface="Tahoma"/>
                <a:ea typeface="Tahoma"/>
                <a:cs typeface="Tahoma"/>
              </a:rPr>
              <a:t>PHASE 03</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350">
                <a:solidFill>
                  <a:srgbClr val="B8C7D9"/>
                </a:solidFill>
                <a:latin typeface="Tahoma"/>
                <a:ea typeface="Tahoma"/>
                <a:cs typeface="Tahoma"/>
              </a:defRPr>
            </a:pPr>
            <a:r>
              <a:rPr sz="1350" b="1">
                <a:solidFill>
                  <a:srgbClr val="F4F8FC"/>
                </a:solidFill>
                <a:latin typeface="Tahoma"/>
                <a:ea typeface="Tahoma"/>
                <a:cs typeface="Tahoma"/>
              </a:rPr>
              <a:t>ENTRY</a:t>
            </a:r>
          </a:p>
          <a:p xmlns:a="http://schemas.openxmlformats.org/drawingml/2006/main">
            <a:pPr marL="0" indent="0" algn="l">
              <a:lnSpc>
                <a:spcPct val="114000"/>
              </a:lnSpc>
              <a:spcBef>
                <a:spcPts val="0"/>
              </a:spcBef>
              <a:spcAft>
                <a:spcPts val="800"/>
              </a:spcAft>
              <a:buFont typeface="Arial"/>
              <a:buNone/>
              <a:defRPr sz="1350">
                <a:solidFill>
                  <a:srgbClr val="B8C7D9"/>
                </a:solidFill>
                <a:latin typeface="Tahoma"/>
                <a:ea typeface="Tahoma"/>
                <a:cs typeface="Tahoma"/>
              </a:defRPr>
            </a:pPr>
            <a:r>
              <a:rPr sz="1350">
                <a:solidFill>
                  <a:srgbClr val="B8C7D9"/>
                </a:solidFill>
                <a:latin typeface="Tahoma"/>
                <a:ea typeface="Tahoma"/>
                <a:cs typeface="Tahoma"/>
              </a:rPr>
              <a:t>2–4  Qualify → Save → Vector</a:t>
            </a:r>
          </a:p>
          <a:p xmlns:a="http://schemas.openxmlformats.org/drawingml/2006/main">
            <a:pPr marL="0" indent="0" algn="l">
              <a:lnSpc>
                <a:spcPct val="114000"/>
              </a:lnSpc>
              <a:spcBef>
                <a:spcPts val="0"/>
              </a:spcBef>
              <a:spcAft>
                <a:spcPts val="800"/>
              </a:spcAft>
              <a:buFont typeface="Arial"/>
              <a:buNone/>
              <a:defRPr sz="1350">
                <a:solidFill>
                  <a:srgbClr val="B8C7D9"/>
                </a:solidFill>
                <a:latin typeface="Tahoma"/>
                <a:ea typeface="Tahoma"/>
                <a:cs typeface="Tahoma"/>
              </a:defRPr>
            </a:pPr>
            <a:r>
              <a:rPr sz="1350">
                <a:solidFill>
                  <a:srgbClr val="B8C7D9"/>
                </a:solidFill>
                <a:latin typeface="Tahoma"/>
                <a:ea typeface="Tahoma"/>
                <a:cs typeface="Tahoma"/>
              </a:rPr>
              <a:t>ก่อนเริ่ม handler</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350">
                <a:solidFill>
                  <a:srgbClr val="B8C7D9"/>
                </a:solidFill>
                <a:latin typeface="Tahoma"/>
                <a:ea typeface="Tahoma"/>
                <a:cs typeface="Tahoma"/>
              </a:defRPr>
            </a:pPr>
            <a:r>
              <a:rPr sz="1350" b="1">
                <a:solidFill>
                  <a:srgbClr val="F4F8FC"/>
                </a:solidFill>
                <a:latin typeface="Tahoma"/>
                <a:ea typeface="Tahoma"/>
                <a:cs typeface="Tahoma"/>
              </a:rPr>
              <a:t>REQUEST</a:t>
            </a:r>
          </a:p>
          <a:p xmlns:a="http://schemas.openxmlformats.org/drawingml/2006/main">
            <a:pPr marL="0" indent="0" algn="l">
              <a:lnSpc>
                <a:spcPct val="114000"/>
              </a:lnSpc>
              <a:spcBef>
                <a:spcPts val="0"/>
              </a:spcBef>
              <a:spcAft>
                <a:spcPts val="800"/>
              </a:spcAft>
              <a:buFont typeface="Arial"/>
              <a:buNone/>
              <a:defRPr sz="1350">
                <a:solidFill>
                  <a:srgbClr val="B8C7D9"/>
                </a:solidFill>
                <a:latin typeface="Tahoma"/>
                <a:ea typeface="Tahoma"/>
                <a:cs typeface="Tahoma"/>
              </a:defRPr>
            </a:pPr>
            <a:r>
              <a:rPr sz="1350">
                <a:solidFill>
                  <a:srgbClr val="B8C7D9"/>
                </a:solidFill>
                <a:latin typeface="Tahoma"/>
                <a:ea typeface="Tahoma"/>
                <a:cs typeface="Tahoma"/>
              </a:rPr>
              <a:t>1  Event / flag สร้างคำขอ</a:t>
            </a:r>
          </a:p>
          <a:p xmlns:a="http://schemas.openxmlformats.org/drawingml/2006/main">
            <a:pPr marL="0" indent="0" algn="l">
              <a:lnSpc>
                <a:spcPct val="114000"/>
              </a:lnSpc>
              <a:spcBef>
                <a:spcPts val="0"/>
              </a:spcBef>
              <a:spcAft>
                <a:spcPts val="800"/>
              </a:spcAft>
              <a:buFont typeface="Arial"/>
              <a:buNone/>
              <a:defRPr sz="1350">
                <a:solidFill>
                  <a:srgbClr val="B8C7D9"/>
                </a:solidFill>
                <a:latin typeface="Tahoma"/>
                <a:ea typeface="Tahoma"/>
                <a:cs typeface="Tahoma"/>
              </a:defRPr>
            </a:pPr>
            <a:r>
              <a:rPr sz="1350">
                <a:solidFill>
                  <a:srgbClr val="B8C7D9"/>
                </a:solidFill>
                <a:latin typeface="Tahoma"/>
                <a:ea typeface="Tahoma"/>
                <a:cs typeface="Tahoma"/>
              </a:rPr>
              <a:t>และเข้าสถานะ Pending</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350">
                <a:solidFill>
                  <a:srgbClr val="B8C7D9"/>
                </a:solidFill>
                <a:latin typeface="Tahoma"/>
                <a:ea typeface="Tahoma"/>
                <a:cs typeface="Tahoma"/>
              </a:defRPr>
            </a:pPr>
            <a:r>
              <a:rPr sz="1350" b="1">
                <a:solidFill>
                  <a:srgbClr val="F4F8FC"/>
                </a:solidFill>
                <a:latin typeface="Tahoma"/>
                <a:ea typeface="Tahoma"/>
                <a:cs typeface="Tahoma"/>
              </a:rPr>
              <a:t>SERVICE / RETURN</a:t>
            </a:r>
          </a:p>
          <a:p xmlns:a="http://schemas.openxmlformats.org/drawingml/2006/main">
            <a:pPr marL="0" indent="0" algn="l">
              <a:lnSpc>
                <a:spcPct val="114000"/>
              </a:lnSpc>
              <a:spcBef>
                <a:spcPts val="0"/>
              </a:spcBef>
              <a:spcAft>
                <a:spcPts val="800"/>
              </a:spcAft>
              <a:buFont typeface="Arial"/>
              <a:buNone/>
              <a:defRPr sz="1350">
                <a:solidFill>
                  <a:srgbClr val="B8C7D9"/>
                </a:solidFill>
                <a:latin typeface="Tahoma"/>
                <a:ea typeface="Tahoma"/>
                <a:cs typeface="Tahoma"/>
              </a:defRPr>
            </a:pPr>
            <a:r>
              <a:rPr sz="1350">
                <a:solidFill>
                  <a:srgbClr val="B8C7D9"/>
                </a:solidFill>
                <a:latin typeface="Tahoma"/>
                <a:ea typeface="Tahoma"/>
                <a:cs typeface="Tahoma"/>
              </a:rPr>
              <a:t>5–6  ISR / acknowledge → restore</a:t>
            </a:r>
          </a:p>
          <a:p xmlns:a="http://schemas.openxmlformats.org/drawingml/2006/main">
            <a:pPr marL="0" indent="0" algn="l">
              <a:lnSpc>
                <a:spcPct val="114000"/>
              </a:lnSpc>
              <a:spcBef>
                <a:spcPts val="0"/>
              </a:spcBef>
              <a:spcAft>
                <a:spcPts val="800"/>
              </a:spcAft>
              <a:buFont typeface="Arial"/>
              <a:buNone/>
              <a:defRPr sz="1350">
                <a:solidFill>
                  <a:srgbClr val="B8C7D9"/>
                </a:solidFill>
                <a:latin typeface="Tahoma"/>
                <a:ea typeface="Tahoma"/>
                <a:cs typeface="Tahoma"/>
              </a:defRPr>
            </a:pPr>
            <a:r>
              <a:rPr sz="1350">
                <a:solidFill>
                  <a:srgbClr val="B8C7D9"/>
                </a:solidFill>
                <a:latin typeface="Tahoma"/>
                <a:ea typeface="Tahoma"/>
                <a:cs typeface="Tahoma"/>
              </a:rPr>
              <a:t>แล้ว resume โปรแกรมเดิม</a:t>
            </a:r>
          </a:p>
        </p:txBody>
      </p:sp>
    </p:spTree>
    <p:extLst>
      <p:ext uri="{BB962C8B-B14F-4D97-AF65-F5344CB8AC3E}">
        <p14:creationId xmlns:p14="http://schemas.microsoft.com/office/powerpoint/2010/main" val="3446338916"/>
      </p:ext>
    </p:extLst>
  </p:cSld>
</p:sld>
</file>

<file path=ppt/slides/slide4.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rmAutofit fontScale="100000"/>
          </a:bodyPr>
          <a:lstStyle xmlns:a="http://schemas.openxmlformats.org/drawingml/2006/main"/>
          <a:p xmlns:a="http://schemas.openxmlformats.org/drawingml/2006/main">
            <a:pPr algn="r">
              <a:defRPr sz="1000">
                <a:solidFill>
                  <a:srgbClr val="B8C7D9"/>
                </a:solidFill>
                <a:latin typeface="Tahoma"/>
                <a:ea typeface="Tahoma"/>
                <a:cs typeface="Tahoma"/>
              </a:defRPr>
            </a:pPr>
            <a:fld id="{EFD6AB9A-5F9E-5F59-51AB-3C8734130965}" type="slidenum">
              <a:rPr sz="1000">
                <a:solidFill>
                  <a:srgbClr val="B8C7D9"/>
                </a:solidFill>
                <a:latin typeface="Tahoma"/>
                <a:ea typeface="Tahoma"/>
                <a:cs typeface="Tahoma"/>
              </a:rPr>
              <a:t>4</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668" y="419100"/>
            <a:ext cx="11404568" cy="914400"/>
          </a:xfr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lgn="l">
              <a:defRPr sz="2625" b="1">
                <a:solidFill>
                  <a:srgbClr val="F4F8FC"/>
                </a:solidFill>
                <a:latin typeface="Tahoma"/>
                <a:ea typeface="Tahoma"/>
                <a:cs typeface="Tahoma"/>
              </a:defRPr>
            </a:pPr>
            <a:r>
              <a:rPr sz="2625" b="1">
                <a:solidFill>
                  <a:srgbClr val="F4F8FC"/>
                </a:solidFill>
                <a:latin typeface="Tahoma"/>
                <a:ea typeface="Tahoma"/>
                <a:cs typeface="Tahoma"/>
              </a:rPr>
              <a:t>ความถูกต้องของ Interrupt ขึ้นกับ State และ Latency [2][3][4]</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marL="0" indent="0" algn="l">
              <a:lnSpc>
                <a:spcPct val="114000"/>
              </a:lnSpc>
              <a:spcBef>
                <a:spcPts val="0"/>
              </a:spcBef>
              <a:spcAft>
                <a:spcPts val="800"/>
              </a:spcAft>
              <a:buNone/>
              <a:defRPr sz="1350">
                <a:solidFill>
                  <a:srgbClr val="B8C7D9"/>
                </a:solidFill>
                <a:latin typeface="Tahoma"/>
                <a:ea typeface="Tahoma"/>
                <a:cs typeface="Tahoma"/>
              </a:defRPr>
            </a:pPr>
            <a:r>
              <a:rPr sz="1350" b="1">
                <a:solidFill>
                  <a:srgbClr val="F4F8FC"/>
                </a:solidFill>
                <a:latin typeface="Tahoma"/>
                <a:ea typeface="Tahoma"/>
                <a:cs typeface="Tahoma"/>
              </a:rPr>
              <a:t>ENABLE / MASK / PRIORITY</a:t>
            </a:r>
            <a:endParaRPr sz="1800" b="1">
              <a:latin typeface="Inter SemiBold"/>
              <a:ea typeface="Inter SemiBold"/>
              <a:cs typeface="Inter SemiBold"/>
            </a:endParaRPr>
          </a:p>
          <a:p xmlns:a="http://schemas.openxmlformats.org/drawingml/2006/main">
            <a:pPr marL="0" indent="0" algn="l">
              <a:lnSpc>
                <a:spcPct val="114000"/>
              </a:lnSpc>
              <a:spcBef>
                <a:spcPts val="0"/>
              </a:spcBef>
              <a:spcAft>
                <a:spcPts val="800"/>
              </a:spcAft>
              <a:buNone/>
              <a:defRPr sz="1350">
                <a:solidFill>
                  <a:srgbClr val="B8C7D9"/>
                </a:solidFill>
                <a:latin typeface="Tahoma"/>
                <a:ea typeface="Tahoma"/>
                <a:cs typeface="Tahoma"/>
              </a:defRPr>
            </a:pPr>
            <a:r>
              <a:rPr sz="1350">
                <a:solidFill>
                  <a:srgbClr val="B8C7D9"/>
                </a:solidFill>
                <a:latin typeface="Tahoma"/>
                <a:ea typeface="Tahoma"/>
                <a:cs typeface="Tahoma"/>
              </a:rPr>
              <a:t>คำขอต้องผ่านเงื่อนไขการตอบรับก่อนเปลี่ยน control flow</a:t>
            </a:r>
            <a:endParaRPr sz="1800">
              <a:latin typeface="Inter"/>
              <a:ea typeface="Inter"/>
              <a:cs typeface="Inter"/>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chor="t">
            <a:normAutofit fontScale="100000"/>
          </a:bodyPr>
          <a:lstStyle xmlns:a="http://schemas.openxmlformats.org/drawingml/2006/main"/>
          <a:p xmlns:a="http://schemas.openxmlformats.org/drawingml/2006/main">
            <a:pPr marL="0" marR="0" lvl="0" indent="0" algn="l">
              <a:lnSpc>
                <a:spcPct val="114000"/>
              </a:lnSpc>
              <a:spcBef>
                <a:spcPts val="0"/>
              </a:spcBef>
              <a:spcAft>
                <a:spcPts val="800"/>
              </a:spcAft>
              <a:buClrTx/>
              <a:buSzTx/>
              <a:buNone/>
              <a:defRPr sz="1350">
                <a:solidFill>
                  <a:srgbClr val="B8C7D9"/>
                </a:solidFill>
                <a:latin typeface="Tahoma"/>
                <a:ea typeface="Tahoma"/>
                <a:cs typeface="Tahoma"/>
              </a:defRPr>
            </a:pPr>
            <a:r>
              <a:rPr sz="1350" b="1">
                <a:solidFill>
                  <a:srgbClr val="F4F8FC"/>
                </a:solidFill>
                <a:latin typeface="Tahoma"/>
                <a:ea typeface="Tahoma"/>
                <a:cs typeface="Tahoma"/>
              </a:rPr>
              <a:t>BOUNDED ISR</a:t>
            </a:r>
          </a:p>
          <a:p xmlns:a="http://schemas.openxmlformats.org/drawingml/2006/main">
            <a:pPr marL="0" marR="0" lvl="0" indent="0" algn="l" defTabSz="914400">
              <a:lnSpc>
                <a:spcPct val="114000"/>
              </a:lnSpc>
              <a:spcBef>
                <a:spcPts val="0"/>
              </a:spcBef>
              <a:spcAft>
                <a:spcPts val="800"/>
              </a:spcAft>
              <a:buClrTx/>
              <a:buSzTx/>
              <a:buFont typeface="Arial"/>
              <a:buNone/>
              <a:defRPr sz="1350">
                <a:solidFill>
                  <a:srgbClr val="B8C7D9"/>
                </a:solidFill>
                <a:latin typeface="Tahoma"/>
                <a:ea typeface="Tahoma"/>
                <a:cs typeface="Tahoma"/>
              </a:defRPr>
            </a:pPr>
            <a:r>
              <a:rPr sz="1350" b="0" i="0" u="none" cap="none">
                <a:ln>
                  <a:noFill/>
                </a:ln>
                <a:solidFill>
                  <a:srgbClr val="B8C7D9"/>
                </a:solidFill>
                <a:latin typeface="Tahoma"/>
                <a:ea typeface="Tahoma"/>
                <a:cs typeface="Tahoma"/>
              </a:rPr>
              <a:t>Acknowledge แหล่งคำขอ และทำเฉพาะงานจำเป็นเพื่อลด latency และ jitter</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chor="t">
            <a:normAutofit fontScale="100000"/>
          </a:bodyPr>
          <a:lstStyle xmlns:a="http://schemas.openxmlformats.org/drawingml/2006/main"/>
          <a:p xmlns:a="http://schemas.openxmlformats.org/drawingml/2006/main">
            <a:pPr marL="0" marR="0" lvl="0" indent="0" algn="l">
              <a:lnSpc>
                <a:spcPct val="114000"/>
              </a:lnSpc>
              <a:spcBef>
                <a:spcPts val="0"/>
              </a:spcBef>
              <a:spcAft>
                <a:spcPts val="800"/>
              </a:spcAft>
              <a:buClrTx/>
              <a:buSzTx/>
              <a:buNone/>
              <a:defRPr sz="1350">
                <a:solidFill>
                  <a:srgbClr val="B8C7D9"/>
                </a:solidFill>
                <a:latin typeface="Tahoma"/>
                <a:ea typeface="Tahoma"/>
                <a:cs typeface="Tahoma"/>
              </a:defRPr>
            </a:pPr>
            <a:r>
              <a:rPr sz="1350" b="1">
                <a:solidFill>
                  <a:srgbClr val="F4F8FC"/>
                </a:solidFill>
                <a:latin typeface="Tahoma"/>
                <a:ea typeface="Tahoma"/>
                <a:cs typeface="Tahoma"/>
              </a:rPr>
              <a:t>CONTEXT INTEGRITY</a:t>
            </a:r>
          </a:p>
          <a:p xmlns:a="http://schemas.openxmlformats.org/drawingml/2006/main">
            <a:pPr marL="0" marR="0" lvl="0" indent="0" algn="l" defTabSz="914400">
              <a:lnSpc>
                <a:spcPct val="114000"/>
              </a:lnSpc>
              <a:spcBef>
                <a:spcPts val="0"/>
              </a:spcBef>
              <a:spcAft>
                <a:spcPts val="800"/>
              </a:spcAft>
              <a:buClrTx/>
              <a:buSzTx/>
              <a:buFont typeface="Arial"/>
              <a:buNone/>
              <a:defRPr sz="1350">
                <a:solidFill>
                  <a:srgbClr val="B8C7D9"/>
                </a:solidFill>
                <a:latin typeface="Tahoma"/>
                <a:ea typeface="Tahoma"/>
                <a:cs typeface="Tahoma"/>
              </a:defRPr>
            </a:pPr>
            <a:r>
              <a:rPr sz="1350" b="0" i="0" u="none" cap="none">
                <a:ln>
                  <a:noFill/>
                </a:ln>
                <a:solidFill>
                  <a:srgbClr val="B8C7D9"/>
                </a:solidFill>
                <a:latin typeface="Tahoma"/>
                <a:ea typeface="Tahoma"/>
                <a:cs typeface="Tahoma"/>
              </a:rPr>
              <a:t>ขอบเขตการ Save / Restore กำหนดโดยสถาปัตยกรรมและ ABI</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763754"/>
            <a:ext cx="1612900" cy="2624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275" b="1">
                <a:solidFill>
                  <a:srgbClr val="7DD3FC"/>
                </a:solidFill>
                <a:latin typeface="Tahoma"/>
                <a:ea typeface="Tahoma"/>
                <a:cs typeface="Tahoma"/>
              </a:defRPr>
            </a:pPr>
            <a:r>
              <a:rPr sz="1275" b="1">
                <a:solidFill>
                  <a:srgbClr val="7DD3FC"/>
                </a:solidFill>
                <a:latin typeface="Tahoma"/>
                <a:ea typeface="Tahoma"/>
                <a:cs typeface="Tahoma"/>
              </a:rPr>
              <a:t>01  •  QUALIFY</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763754"/>
            <a:ext cx="1612900" cy="2624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275" b="1">
                <a:solidFill>
                  <a:srgbClr val="7DD3FC"/>
                </a:solidFill>
                <a:latin typeface="Tahoma"/>
                <a:ea typeface="Tahoma"/>
                <a:cs typeface="Tahoma"/>
              </a:defRPr>
            </a:pPr>
            <a:r>
              <a:rPr sz="1275" b="1">
                <a:solidFill>
                  <a:srgbClr val="7DD3FC"/>
                </a:solidFill>
                <a:latin typeface="Tahoma"/>
                <a:ea typeface="Tahoma"/>
                <a:cs typeface="Tahoma"/>
              </a:rPr>
              <a:t>02  •  PRESERVE</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763754"/>
            <a:ext cx="1612900" cy="2624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275" b="1">
                <a:solidFill>
                  <a:srgbClr val="7DD3FC"/>
                </a:solidFill>
                <a:latin typeface="Tahoma"/>
                <a:ea typeface="Tahoma"/>
                <a:cs typeface="Tahoma"/>
              </a:defRPr>
            </a:pPr>
            <a:r>
              <a:rPr sz="1275" b="1">
                <a:solidFill>
                  <a:srgbClr val="7DD3FC"/>
                </a:solidFill>
                <a:latin typeface="Tahoma"/>
                <a:ea typeface="Tahoma"/>
                <a:cs typeface="Tahoma"/>
              </a:rPr>
              <a:t>03  •  COMPLETE</a:t>
            </a:r>
          </a:p>
        </p:txBody>
      </p:sp>
    </p:spTree>
    <p:extLst>
      <p:ext uri="{BB962C8B-B14F-4D97-AF65-F5344CB8AC3E}">
        <p14:creationId xmlns:p14="http://schemas.microsoft.com/office/powerpoint/2010/main" val="1393456992"/>
      </p:ext>
    </p:extLst>
  </p:cSld>
</p:sld>
</file>

<file path=ppt/slides/slide5.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chor="b">
            <a:normAutofit fontScale="100000"/>
          </a:bodyPr>
          <a:lstStyle xmlns:a="http://schemas.openxmlformats.org/drawingml/2006/main"/>
          <a:p xmlns:a="http://schemas.openxmlformats.org/drawingml/2006/main">
            <a:pPr algn="r">
              <a:defRPr sz="1000">
                <a:solidFill>
                  <a:srgbClr val="B8C7D9"/>
                </a:solidFill>
                <a:latin typeface="Tahoma"/>
                <a:ea typeface="Tahoma"/>
                <a:cs typeface="Tahoma"/>
              </a:defRPr>
            </a:pPr>
            <a:fld id="{EE5B3003-2C54-13C6-9832-7637201064DE}" type="slidenum">
              <a:rPr sz="1000">
                <a:solidFill>
                  <a:srgbClr val="B8C7D9"/>
                </a:solidFill>
                <a:latin typeface="Tahoma"/>
                <a:ea typeface="Tahoma"/>
                <a:cs typeface="Tahoma"/>
              </a:rPr>
              <a:t>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chor="t">
            <a:normAutofit fontScale="100000"/>
          </a:bodyPr>
          <a:lstStyle xmlns:a="http://schemas.openxmlformats.org/drawingml/2006/main"/>
          <a:p xmlns:a="http://schemas.openxmlformats.org/drawingml/2006/main">
            <a:pPr algn="l">
              <a:defRPr sz="2900" b="1">
                <a:solidFill>
                  <a:srgbClr val="F4F8FC"/>
                </a:solidFill>
                <a:latin typeface="Tahoma"/>
                <a:ea typeface="Tahoma"/>
                <a:cs typeface="Tahoma"/>
              </a:defRPr>
            </a:pPr>
            <a:r>
              <a:rPr sz="2900" b="1">
                <a:solidFill>
                  <a:srgbClr val="F4F8FC"/>
                </a:solidFill>
                <a:latin typeface="Tahoma"/>
                <a:ea typeface="Tahoma"/>
                <a:cs typeface="Tahoma"/>
              </a:rPr>
              <a:t>เอกสารอ้างอิง</a:t>
            </a: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chor="t">
            <a:normAutofit fontScale="100000"/>
          </a:bodyPr>
          <a:lstStyle xmlns:a="http://schemas.openxmlformats.org/drawingml/2006/main"/>
          <a:p xmlns:a="http://schemas.openxmlformats.org/drawingml/2006/main">
            <a:pPr marL="0" marR="0" lvl="0" indent="0" algn="l">
              <a:lnSpc>
                <a:spcPct val="114000"/>
              </a:lnSpc>
              <a:spcBef>
                <a:spcPts val="0"/>
              </a:spcBef>
              <a:spcAft>
                <a:spcPts val="800"/>
              </a:spcAft>
              <a:buClrTx/>
              <a:buSzTx/>
              <a:buNone/>
              <a:defRPr sz="1238">
                <a:solidFill>
                  <a:srgbClr val="F4F8FC"/>
                </a:solidFill>
                <a:latin typeface="Tahoma"/>
                <a:ea typeface="Tahoma"/>
                <a:cs typeface="Tahoma"/>
              </a:defRPr>
            </a:pPr>
            <a:r>
              <a:rPr sz="1238" b="1">
                <a:solidFill>
                  <a:srgbClr val="7DD3FC"/>
                </a:solidFill>
                <a:latin typeface="Tahoma"/>
                <a:ea typeface="Tahoma"/>
                <a:cs typeface="Tahoma"/>
              </a:rPr>
              <a:t>[1]  Mazidi et al. (2011).</a:t>
            </a:r>
          </a:p>
          <a:p xmlns:a="http://schemas.openxmlformats.org/drawingml/2006/main">
            <a:pPr marL="0" marR="0" lvl="0" indent="0" algn="l" defTabSz="914400">
              <a:lnSpc>
                <a:spcPct val="100000"/>
              </a:lnSpc>
              <a:spcBef>
                <a:spcPts val="1300"/>
              </a:spcBef>
              <a:spcAft>
                <a:spcPts val="1300"/>
              </a:spcAft>
              <a:buClrTx/>
              <a:buSzTx/>
              <a:buFontTx/>
              <a:buNone/>
              <a:defRPr sz="1238">
                <a:solidFill>
                  <a:srgbClr val="F4F8FC"/>
                </a:solidFill>
                <a:latin typeface="Tahoma"/>
                <a:ea typeface="Tahoma"/>
                <a:cs typeface="Tahoma"/>
              </a:defRPr>
            </a:pPr>
            <a:r>
              <a:rPr sz="1238" b="0" i="0" u="none" cap="none">
                <a:ln>
                  <a:noFill/>
                </a:ln>
                <a:solidFill>
                  <a:srgbClr val="F4F8FC"/>
                </a:solidFill>
                <a:latin typeface="Tahoma"/>
                <a:ea typeface="Tahoma"/>
                <a:cs typeface="Tahoma"/>
              </a:rPr>
              <a:t>M. A. Mazidi, S. Naimi และ S. Naimi. The AVR Microcontroller and Embedded Systems. หน้า 375–376, Prentice Hall.</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chor="t">
            <a:normAutofit fontScale="100000"/>
          </a:bodyPr>
          <a:lstStyle xmlns:a="http://schemas.openxmlformats.org/drawingml/2006/main"/>
          <a:p xmlns:a="http://schemas.openxmlformats.org/drawingml/2006/main">
            <a:pPr marL="0" marR="0" lvl="0" indent="0" algn="l">
              <a:lnSpc>
                <a:spcPct val="114000"/>
              </a:lnSpc>
              <a:spcBef>
                <a:spcPts val="0"/>
              </a:spcBef>
              <a:spcAft>
                <a:spcPts val="800"/>
              </a:spcAft>
              <a:buClrTx/>
              <a:buSzTx/>
              <a:buNone/>
              <a:defRPr sz="1238">
                <a:solidFill>
                  <a:srgbClr val="F4F8FC"/>
                </a:solidFill>
                <a:latin typeface="Tahoma"/>
                <a:ea typeface="Tahoma"/>
                <a:cs typeface="Tahoma"/>
              </a:defRPr>
            </a:pPr>
            <a:r>
              <a:rPr sz="1238" b="1">
                <a:solidFill>
                  <a:srgbClr val="7DD3FC"/>
                </a:solidFill>
                <a:latin typeface="Tahoma"/>
                <a:ea typeface="Tahoma"/>
                <a:cs typeface="Tahoma"/>
              </a:rPr>
              <a:t>[2]  Microchip Technology Inc. (2018).</a:t>
            </a:r>
          </a:p>
          <a:p xmlns:a="http://schemas.openxmlformats.org/drawingml/2006/main">
            <a:pPr marL="0" marR="0" lvl="0" indent="0" algn="l" defTabSz="914400">
              <a:lnSpc>
                <a:spcPct val="100000"/>
              </a:lnSpc>
              <a:spcBef>
                <a:spcPts val="1300"/>
              </a:spcBef>
              <a:spcAft>
                <a:spcPts val="1300"/>
              </a:spcAft>
              <a:buClrTx/>
              <a:buSzTx/>
              <a:buFontTx/>
              <a:buNone/>
              <a:defRPr sz="1238">
                <a:solidFill>
                  <a:srgbClr val="F4F8FC"/>
                </a:solidFill>
                <a:latin typeface="Tahoma"/>
                <a:ea typeface="Tahoma"/>
                <a:cs typeface="Tahoma"/>
              </a:defRPr>
            </a:pPr>
            <a:r>
              <a:rPr sz="1238" b="0" i="0" u="none" cap="none">
                <a:ln>
                  <a:noFill/>
                </a:ln>
                <a:solidFill>
                  <a:srgbClr val="F4F8FC"/>
                </a:solidFill>
                <a:latin typeface="Tahoma"/>
                <a:ea typeface="Tahoma"/>
                <a:cs typeface="Tahoma"/>
              </a:rPr>
              <a:t>ATmega328/P AVR Microcontroller Datasheet Complete. หน้า 33–34, Microchip Technology.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238">
                <a:solidFill>
                  <a:srgbClr val="F4F8FC"/>
                </a:solidFill>
                <a:latin typeface="Tahoma"/>
                <a:ea typeface="Tahoma"/>
                <a:cs typeface="Tahoma"/>
              </a:defRPr>
            </a:pPr>
            <a:r>
              <a:rPr sz="1238" b="1">
                <a:solidFill>
                  <a:srgbClr val="7DD3FC"/>
                </a:solidFill>
                <a:latin typeface="Tahoma"/>
                <a:ea typeface="Tahoma"/>
                <a:cs typeface="Tahoma"/>
              </a:rPr>
              <a:t>[3]  Yiu, J. (2010).</a:t>
            </a:r>
          </a:p>
          <a:p xmlns:a="http://schemas.openxmlformats.org/drawingml/2006/main">
            <a:pPr marL="0" indent="0" algn="l">
              <a:lnSpc>
                <a:spcPct val="100000"/>
              </a:lnSpc>
              <a:spcBef>
                <a:spcPts val="1300"/>
              </a:spcBef>
              <a:spcAft>
                <a:spcPts val="1300"/>
              </a:spcAft>
              <a:buFontTx/>
              <a:buNone/>
              <a:defRPr sz="1238">
                <a:solidFill>
                  <a:srgbClr val="F4F8FC"/>
                </a:solidFill>
                <a:latin typeface="Tahoma"/>
                <a:ea typeface="Tahoma"/>
                <a:cs typeface="Tahoma"/>
              </a:defRPr>
            </a:pPr>
            <a:r>
              <a:rPr sz="1238">
                <a:solidFill>
                  <a:srgbClr val="F4F8FC"/>
                </a:solidFill>
                <a:latin typeface="Tahoma"/>
                <a:ea typeface="Tahoma"/>
                <a:cs typeface="Tahoma"/>
              </a:rPr>
              <a:t>The Definitive Guide to the ARM Cortex-M3. 2nd ed. หน้า 172–175, Newnes.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238">
                <a:solidFill>
                  <a:srgbClr val="F4F8FC"/>
                </a:solidFill>
                <a:latin typeface="Tahoma"/>
                <a:ea typeface="Tahoma"/>
                <a:cs typeface="Tahoma"/>
              </a:defRPr>
            </a:pPr>
            <a:r>
              <a:rPr sz="1238" b="1">
                <a:solidFill>
                  <a:srgbClr val="7DD3FC"/>
                </a:solidFill>
                <a:latin typeface="Tahoma"/>
                <a:ea typeface="Tahoma"/>
                <a:cs typeface="Tahoma"/>
              </a:rPr>
              <a:t>[4]  Arm Ltd. (2010).</a:t>
            </a:r>
          </a:p>
          <a:p xmlns:a="http://schemas.openxmlformats.org/drawingml/2006/main">
            <a:pPr marL="0" indent="0" algn="l">
              <a:lnSpc>
                <a:spcPct val="100000"/>
              </a:lnSpc>
              <a:spcBef>
                <a:spcPts val="1300"/>
              </a:spcBef>
              <a:spcAft>
                <a:spcPts val="1300"/>
              </a:spcAft>
              <a:buFontTx/>
              <a:buNone/>
              <a:defRPr sz="1238">
                <a:solidFill>
                  <a:srgbClr val="F4F8FC"/>
                </a:solidFill>
                <a:latin typeface="Tahoma"/>
                <a:ea typeface="Tahoma"/>
                <a:cs typeface="Tahoma"/>
              </a:defRPr>
            </a:pPr>
            <a:r>
              <a:rPr sz="1238">
                <a:solidFill>
                  <a:srgbClr val="F4F8FC"/>
                </a:solidFill>
                <a:latin typeface="Tahoma"/>
                <a:ea typeface="Tahoma"/>
                <a:cs typeface="Tahoma"/>
              </a:rPr>
              <a:t>Cortex-M3 Devices Generic User Guide (ออนไลน์). สืบค้นจาก https://developer.arm.com/documentation/dui0552/a [10 สิงหาคม 2569]</a:t>
            </a:r>
          </a:p>
        </p:txBody>
      </p:sp>
    </p:spTree>
    <p:extLst>
      <p:ext uri="{BB962C8B-B14F-4D97-AF65-F5344CB8AC3E}">
        <p14:creationId xmlns:p14="http://schemas.microsoft.com/office/powerpoint/2010/main" val="360145486"/>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2026-08-09T22:18:48.5440000Z</dcterms:created>
  <dcterms:modified xsi:type="dcterms:W3CDTF">2026-08-09T22:18:48.5440000Z</dcterms:modified>
</coreProperties>
</file>