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Inter" panose="02000503000000020004" pitchFamily="2" charset="0"/>
      <p:regular r:id="rId8"/>
      <p:bold r:id="rId9"/>
    </p:embeddedFont>
    <p:embeddedFont>
      <p:font typeface="Inter Medium" panose="02000503000000020004" pitchFamily="2" charset="0"/>
      <p:regular r:id="rId10"/>
    </p:embeddedFont>
    <p:embeddedFont>
      <p:font typeface="Inter SemiBold" panose="02000503000000020004" pitchFamily="2" charset="0"/>
      <p:regular r:id="rId11"/>
      <p:bold r:id="rId12"/>
    </p:embeddedFont>
    <p:embeddedFont>
      <p:font typeface="OpenAI Sans" panose="020B0004030202060203" pitchFamily="34" charset="0"/>
      <p:regular r:id="rId13"/>
      <p:bold r:id="rId14"/>
      <p:italic r:id="rId15"/>
      <p:boldItalic r:id="rId16"/>
    </p:embeddedFont>
    <p:embeddedFont>
      <p:font typeface="Tahoma" panose="020B0604030504040204" pitchFamily="34" charset="0"/>
      <p:regular r:id="rId17"/>
      <p:bold r:id="rId18"/>
    </p:embeddedFont>
  </p:embeddedFontLst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8802"/>
  </p:normalViewPr>
  <p:slideViewPr>
    <p:cSldViewPr snapToGrid="0">
      <p:cViewPr varScale="1">
        <p:scale>
          <a:sx n="84" d="100"/>
          <a:sy n="84" d="100"/>
        </p:scale>
        <p:origin x="18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sz="1200" b="1" i="0" kern="1200" dirty="0">
                <a:effectLst/>
              </a:rPr>
              <a:t>สไลด์ที่ 1: ชื่อเรื่องและขอบเขตการนำเสนอ (0:00–0:15)</a:t>
            </a:r>
          </a:p>
          <a:p>
            <a:endParaRPr lang="th-TH" sz="1200" b="1" i="0" kern="1200" dirty="0">
              <a:effectLst/>
            </a:endParaRPr>
          </a:p>
          <a:p>
            <a:r>
              <a:rPr lang="th-TH" sz="1200" b="0" i="0" kern="1200" dirty="0">
                <a:effectLst/>
              </a:rPr>
              <a:t>สวัสดีครับ ผมธีรภัทร ภู่ระย้า รหัสนิสิต 66362416 วันนี้จะมานำเสนอหัวข้อ </a:t>
            </a:r>
            <a:r>
              <a:rPr lang="th-TH" sz="1200" b="1" i="0" kern="1200" dirty="0" err="1">
                <a:effectLst/>
              </a:rPr>
              <a:t>Interrupt</a:t>
            </a:r>
            <a:r>
              <a:rPr lang="th-TH" sz="1200" b="1" i="0" kern="1200" dirty="0">
                <a:effectLst/>
              </a:rPr>
              <a:t> </a:t>
            </a:r>
            <a:r>
              <a:rPr lang="th-TH" sz="1200" b="1" i="0" kern="1200" dirty="0" err="1">
                <a:effectLst/>
              </a:rPr>
              <a:t>Mechanism</a:t>
            </a:r>
            <a:r>
              <a:rPr lang="th-TH" sz="1200" b="0" i="0" kern="1200" dirty="0">
                <a:effectLst/>
              </a:rPr>
              <a:t> หรือ กลไกการขัดจังหวะในระบบฝังตัวครับ</a:t>
            </a:r>
            <a:endParaRPr lang="en-US" sz="1200" b="0" i="0" kern="1200" dirty="0">
              <a:effectLst/>
            </a:endParaRPr>
          </a:p>
          <a:p>
            <a:endParaRPr lang="th-TH" sz="1200" b="0" i="0" kern="1200" dirty="0">
              <a:effectLst/>
            </a:endParaRPr>
          </a:p>
          <a:p>
            <a:r>
              <a:rPr lang="th-TH" sz="1200" b="0" i="0" kern="1200" dirty="0">
                <a:effectLst/>
              </a:rPr>
              <a:t>การนำเสนอจะเน้น 2 ประเด็นหลัก ได้แก่ นิยามของกลไกการขัดจังหวะ และลำดับการทำงานตั้งแต่มีคำขอเข้ามา จนกระทั่งตัวประมวลผลสามารถคืนการทำงานกลับไปยังโปรแกรมเดิมได้อย่างถูกต้องครับ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sz="1200" b="1" i="0" kern="1200" dirty="0">
                <a:effectLst/>
              </a:rPr>
              <a:t>สไลด์ที่ 2: นิยามและ 4 คุณสมบัติหลัก (0:15–0:55)</a:t>
            </a:r>
          </a:p>
          <a:p>
            <a:endParaRPr lang="th-TH" sz="1200" b="1" i="0" kern="1200" dirty="0">
              <a:effectLst/>
            </a:endParaRPr>
          </a:p>
          <a:p>
            <a:r>
              <a:rPr lang="th-TH" sz="1200" b="0" i="0" kern="1200" dirty="0">
                <a:effectLst/>
              </a:rPr>
              <a:t>ประเด็นแรก </a:t>
            </a:r>
            <a:r>
              <a:rPr lang="th-TH" sz="1200" b="0" i="0" kern="1200" dirty="0" err="1">
                <a:effectLst/>
              </a:rPr>
              <a:t>Interrupt</a:t>
            </a:r>
            <a:r>
              <a:rPr lang="th-TH" sz="1200" b="0" i="0" kern="1200" dirty="0">
                <a:effectLst/>
              </a:rPr>
              <a:t> คือกลไกที่อนุญาตให้ฮาร์ดแวร์ภายนอกหยุดการทำงานหลักของ CPU ชั่วคราว เพื่อถ่ายโอนการควบคุมไปยังฟังก์ชันบริการที่เรียกว่า </a:t>
            </a:r>
            <a:r>
              <a:rPr lang="th-TH" sz="1200" b="1" i="0" kern="1200" dirty="0" err="1">
                <a:effectLst/>
              </a:rPr>
              <a:t>Interrupt</a:t>
            </a:r>
            <a:r>
              <a:rPr lang="th-TH" sz="1200" b="1" i="0" kern="1200" dirty="0">
                <a:effectLst/>
              </a:rPr>
              <a:t> Service </a:t>
            </a:r>
            <a:r>
              <a:rPr lang="th-TH" sz="1200" b="1" i="0" kern="1200" dirty="0" err="1">
                <a:effectLst/>
              </a:rPr>
              <a:t>Routine</a:t>
            </a:r>
            <a:r>
              <a:rPr lang="th-TH" sz="1200" b="1" i="0" kern="1200" dirty="0">
                <a:effectLst/>
              </a:rPr>
              <a:t> หรือ ISR</a:t>
            </a:r>
            <a:r>
              <a:rPr lang="th-TH" sz="1200" b="0" i="0" kern="1200" dirty="0">
                <a:effectLst/>
              </a:rPr>
              <a:t> ก่อนจะกลับมาประมวลผลโปรแกรมเดิมต่อ ต่างจากวิธี </a:t>
            </a:r>
            <a:r>
              <a:rPr lang="th-TH" sz="1200" b="1" i="0" kern="1200" dirty="0" err="1">
                <a:effectLst/>
              </a:rPr>
              <a:t>Polling</a:t>
            </a:r>
            <a:r>
              <a:rPr lang="th-TH" sz="1200" b="0" i="0" kern="1200" dirty="0">
                <a:effectLst/>
              </a:rPr>
              <a:t> ที่ CPU ต้องเสียรอบเวลาคอยวนถามอุปกรณ์ตลอดเวลา ซึ่งเปลืองพลังงานและตอบสนองช้ากว่าครับ</a:t>
            </a:r>
            <a:endParaRPr lang="en-US" sz="1200" b="0" i="0" kern="1200" dirty="0">
              <a:effectLst/>
            </a:endParaRPr>
          </a:p>
          <a:p>
            <a:endParaRPr lang="th-TH" sz="1200" b="0" i="0" kern="1200" dirty="0">
              <a:effectLst/>
            </a:endParaRPr>
          </a:p>
          <a:p>
            <a:r>
              <a:rPr lang="th-TH" sz="1200" b="0" i="0" kern="1200" dirty="0">
                <a:effectLst/>
              </a:rPr>
              <a:t>มี 4 คุณสมบัติสำคัญ ดังนี้ครับ</a:t>
            </a:r>
          </a:p>
          <a:p>
            <a:r>
              <a:rPr lang="en-US" sz="1200" b="0" i="0" kern="1200" dirty="0">
                <a:effectLst/>
              </a:rPr>
              <a:t>1. </a:t>
            </a:r>
            <a:r>
              <a:rPr lang="th-TH" sz="1200" b="1" i="0" kern="1200" dirty="0" err="1">
                <a:effectLst/>
              </a:rPr>
              <a:t>Event</a:t>
            </a:r>
            <a:r>
              <a:rPr lang="th-TH" sz="1200" b="1" i="0" kern="1200" dirty="0">
                <a:effectLst/>
              </a:rPr>
              <a:t>-</a:t>
            </a:r>
            <a:r>
              <a:rPr lang="th-TH" sz="1200" b="1" i="0" kern="1200" dirty="0" err="1">
                <a:effectLst/>
              </a:rPr>
              <a:t>driven</a:t>
            </a:r>
            <a:r>
              <a:rPr lang="th-TH" sz="1200" b="0" i="0" kern="1200" dirty="0">
                <a:effectLst/>
              </a:rPr>
              <a:t> หมายถึงการเปลี่ยนทิศทางโปรแกรมเกิดขึ้นจากเหตุการณ์หรือคำขอของฮาร์ดแวร์ ไม่ใช่การเรียกฟังก์ชันตามลำดับปกติ</a:t>
            </a:r>
          </a:p>
          <a:p>
            <a:r>
              <a:rPr lang="en-US" sz="1200" b="0" i="0" kern="1200" dirty="0">
                <a:effectLst/>
              </a:rPr>
              <a:t>2.</a:t>
            </a:r>
            <a:r>
              <a:rPr lang="th-TH" sz="1200" b="1" i="0" kern="1200" dirty="0">
                <a:effectLst/>
              </a:rPr>
              <a:t>State-</a:t>
            </a:r>
            <a:r>
              <a:rPr lang="th-TH" sz="1200" b="1" i="0" kern="1200" dirty="0" err="1">
                <a:effectLst/>
              </a:rPr>
              <a:t>preserving</a:t>
            </a:r>
            <a:r>
              <a:rPr lang="th-TH" sz="1200" b="0" i="0" kern="1200" dirty="0">
                <a:effectLst/>
              </a:rPr>
              <a:t> หมายถึงการบันทึกสถานะเดิมของโปรแกรมไว้ก่อนเสมอ เพื่อให้สามารถกลับมาทำงานต่อได้อย่างถูกต้อง</a:t>
            </a:r>
          </a:p>
          <a:p>
            <a:r>
              <a:rPr lang="en-US" sz="1200" b="0" i="0" kern="1200" dirty="0">
                <a:effectLst/>
              </a:rPr>
              <a:t>3.</a:t>
            </a:r>
            <a:r>
              <a:rPr lang="th-TH" sz="1200" b="1" i="0" kern="1200" dirty="0" err="1">
                <a:effectLst/>
              </a:rPr>
              <a:t>Vectored</a:t>
            </a:r>
            <a:r>
              <a:rPr lang="th-TH" sz="1200" b="0" i="0" kern="1200" dirty="0">
                <a:effectLst/>
              </a:rPr>
              <a:t> หมายถึงการมีตาราง </a:t>
            </a:r>
            <a:r>
              <a:rPr lang="th-TH" sz="1200" b="0" i="0" kern="1200" dirty="0" err="1">
                <a:effectLst/>
              </a:rPr>
              <a:t>Vector</a:t>
            </a:r>
            <a:r>
              <a:rPr lang="th-TH" sz="1200" b="0" i="0" kern="1200" dirty="0">
                <a:effectLst/>
              </a:rPr>
              <a:t> </a:t>
            </a:r>
            <a:r>
              <a:rPr lang="th-TH" sz="1200" b="0" i="0" kern="1200" dirty="0" err="1">
                <a:effectLst/>
              </a:rPr>
              <a:t>Table</a:t>
            </a:r>
            <a:r>
              <a:rPr lang="th-TH" sz="1200" b="0" i="0" kern="1200" dirty="0">
                <a:effectLst/>
              </a:rPr>
              <a:t> ระบุตำแหน่งที่อยู่ของ ISR ของแต่ละอุปกรณ์อย่างชัดเจน</a:t>
            </a:r>
          </a:p>
          <a:p>
            <a:r>
              <a:rPr lang="en-US" sz="1200" b="0" i="0" kern="1200" dirty="0">
                <a:effectLst/>
              </a:rPr>
              <a:t>4.</a:t>
            </a:r>
            <a:r>
              <a:rPr lang="th-TH" sz="1200" b="1" i="0" kern="1200" dirty="0" err="1">
                <a:effectLst/>
              </a:rPr>
              <a:t>Priority</a:t>
            </a:r>
            <a:r>
              <a:rPr lang="th-TH" sz="1200" b="1" i="0" kern="1200" dirty="0">
                <a:effectLst/>
              </a:rPr>
              <a:t>-</a:t>
            </a:r>
            <a:r>
              <a:rPr lang="th-TH" sz="1200" b="1" i="0" kern="1200" dirty="0" err="1">
                <a:effectLst/>
              </a:rPr>
              <a:t>aware</a:t>
            </a:r>
            <a:r>
              <a:rPr lang="th-TH" sz="1200" b="0" i="0" kern="1200" dirty="0">
                <a:effectLst/>
              </a:rPr>
              <a:t> หมายถึงการมีลำดับความสำคัญคัดกรอง เมื่อมีคำขอเกิดขึ้นพร้อมกันครับ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sz="1200" b="1" i="0" kern="1200" dirty="0">
                <a:effectLst/>
              </a:rPr>
              <a:t>หน้า 3 — สามระยะการทำงาน (0:55–1:40)</a:t>
            </a:r>
            <a:endParaRPr lang="en-US" sz="1200" b="1" i="0" kern="1200" dirty="0">
              <a:effectLst/>
            </a:endParaRPr>
          </a:p>
          <a:p>
            <a:endParaRPr lang="th-TH" sz="1200" b="1" i="0" kern="1200" dirty="0">
              <a:effectLst/>
            </a:endParaRPr>
          </a:p>
          <a:p>
            <a:r>
              <a:rPr lang="th-TH" sz="1200" b="0" i="0" kern="1200" dirty="0">
                <a:effectLst/>
              </a:rPr>
              <a:t>สำหรับลำดับการทำงาน แบ่งออกเป็น 3 ระยะครับ</a:t>
            </a:r>
          </a:p>
          <a:p>
            <a:r>
              <a:rPr lang="en-US" sz="1200" b="0" i="0" kern="1200" dirty="0">
                <a:effectLst/>
              </a:rPr>
              <a:t>- </a:t>
            </a:r>
            <a:r>
              <a:rPr lang="th-TH" sz="1200" b="0" i="0" kern="1200" dirty="0">
                <a:effectLst/>
              </a:rPr>
              <a:t>ระยะแรก </a:t>
            </a:r>
            <a:r>
              <a:rPr lang="th-TH" sz="1200" b="1" i="0" kern="1200" dirty="0" err="1">
                <a:effectLst/>
              </a:rPr>
              <a:t>Request</a:t>
            </a:r>
            <a:r>
              <a:rPr lang="th-TH" sz="1200" b="0" i="0" kern="1200" dirty="0">
                <a:effectLst/>
              </a:rPr>
              <a:t> เมื่ออุปกรณ์เกิด </a:t>
            </a:r>
            <a:r>
              <a:rPr lang="th-TH" sz="1200" b="0" i="0" kern="1200" dirty="0" err="1">
                <a:effectLst/>
              </a:rPr>
              <a:t>event</a:t>
            </a:r>
            <a:r>
              <a:rPr lang="th-TH" sz="1200" b="0" i="0" kern="1200" dirty="0">
                <a:effectLst/>
              </a:rPr>
              <a:t> วงจรฮาร์ดแวร์จะตั้งค่า </a:t>
            </a:r>
            <a:r>
              <a:rPr lang="th-TH" sz="1200" b="0" i="0" kern="1200" dirty="0" err="1">
                <a:effectLst/>
              </a:rPr>
              <a:t>flag</a:t>
            </a:r>
            <a:r>
              <a:rPr lang="th-TH" sz="1200" b="0" i="0" kern="1200" dirty="0">
                <a:effectLst/>
              </a:rPr>
              <a:t> และส่งคำขอเข้าสู่สถานะ </a:t>
            </a:r>
            <a:r>
              <a:rPr lang="th-TH" sz="1200" b="0" i="0" kern="1200" dirty="0" err="1">
                <a:effectLst/>
              </a:rPr>
              <a:t>pending</a:t>
            </a:r>
            <a:r>
              <a:rPr lang="th-TH" sz="1200" b="0" i="0" kern="1200" dirty="0">
                <a:effectLst/>
              </a:rPr>
              <a:t> หรือสถานะรอดำเนินการ</a:t>
            </a:r>
          </a:p>
          <a:p>
            <a:r>
              <a:rPr lang="en-US" sz="1200" b="0" i="0" kern="1200" dirty="0">
                <a:effectLst/>
              </a:rPr>
              <a:t>- </a:t>
            </a:r>
            <a:r>
              <a:rPr lang="th-TH" sz="1200" b="0" i="0" kern="1200" dirty="0">
                <a:effectLst/>
              </a:rPr>
              <a:t>ระยะที่สอง </a:t>
            </a:r>
            <a:r>
              <a:rPr lang="th-TH" sz="1200" b="1" i="0" kern="1200" dirty="0" err="1">
                <a:effectLst/>
              </a:rPr>
              <a:t>Entry</a:t>
            </a:r>
            <a:r>
              <a:rPr lang="th-TH" sz="1200" b="0" i="0" kern="1200" dirty="0">
                <a:effectLst/>
              </a:rPr>
              <a:t> CPU จะตรวจสอบเงื่อนไข </a:t>
            </a:r>
            <a:r>
              <a:rPr lang="th-TH" sz="1200" b="0" i="0" kern="1200" dirty="0" err="1">
                <a:effectLst/>
              </a:rPr>
              <a:t>enable</a:t>
            </a:r>
            <a:r>
              <a:rPr lang="th-TH" sz="1200" b="0" i="0" kern="1200" dirty="0">
                <a:effectLst/>
              </a:rPr>
              <a:t>, </a:t>
            </a:r>
            <a:r>
              <a:rPr lang="th-TH" sz="1200" b="0" i="0" kern="1200" dirty="0" err="1">
                <a:effectLst/>
              </a:rPr>
              <a:t>mask</a:t>
            </a:r>
            <a:r>
              <a:rPr lang="th-TH" sz="1200" b="0" i="0" kern="1200" dirty="0">
                <a:effectLst/>
              </a:rPr>
              <a:t> และ </a:t>
            </a:r>
            <a:r>
              <a:rPr lang="th-TH" sz="1200" b="0" i="0" kern="1200" dirty="0" err="1">
                <a:effectLst/>
              </a:rPr>
              <a:t>priority</a:t>
            </a:r>
            <a:r>
              <a:rPr lang="th-TH" sz="1200" b="0" i="0" kern="1200" dirty="0">
                <a:effectLst/>
              </a:rPr>
              <a:t> เมื่อผ่านการอนุมัติ ระบบจะ </a:t>
            </a:r>
            <a:r>
              <a:rPr lang="th-TH" sz="1200" b="0" i="0" kern="1200" dirty="0" err="1">
                <a:effectLst/>
              </a:rPr>
              <a:t>preserve</a:t>
            </a:r>
            <a:r>
              <a:rPr lang="th-TH" sz="1200" b="0" i="0" kern="1200" dirty="0">
                <a:effectLst/>
              </a:rPr>
              <a:t> </a:t>
            </a:r>
            <a:r>
              <a:rPr lang="th-TH" sz="1200" b="0" i="0" kern="1200" dirty="0" err="1">
                <a:effectLst/>
              </a:rPr>
              <a:t>context</a:t>
            </a:r>
            <a:r>
              <a:rPr lang="th-TH" sz="1200" b="0" i="0" kern="1200" dirty="0">
                <a:effectLst/>
              </a:rPr>
              <a:t> ค้างไว้ แล้วเปิดดู </a:t>
            </a:r>
            <a:r>
              <a:rPr lang="th-TH" sz="1200" b="0" i="0" kern="1200" dirty="0" err="1">
                <a:effectLst/>
              </a:rPr>
              <a:t>Vector</a:t>
            </a:r>
            <a:r>
              <a:rPr lang="th-TH" sz="1200" b="0" i="0" kern="1200" dirty="0">
                <a:effectLst/>
              </a:rPr>
              <a:t> </a:t>
            </a:r>
            <a:r>
              <a:rPr lang="th-TH" sz="1200" b="0" i="0" kern="1200" dirty="0" err="1">
                <a:effectLst/>
              </a:rPr>
              <a:t>Table</a:t>
            </a:r>
            <a:r>
              <a:rPr lang="th-TH" sz="1200" b="0" i="0" kern="1200" dirty="0">
                <a:effectLst/>
              </a:rPr>
              <a:t> เพื่อกระโดดไปยังตำแหน่งเริ่มต้นของ ISR</a:t>
            </a:r>
          </a:p>
          <a:p>
            <a:pPr marL="171450" indent="-171450">
              <a:buFontTx/>
              <a:buChar char="-"/>
            </a:pPr>
            <a:r>
              <a:rPr lang="th-TH" sz="1200" b="0" i="0" kern="1200" dirty="0">
                <a:effectLst/>
              </a:rPr>
              <a:t>ระยะที่สาม </a:t>
            </a:r>
            <a:r>
              <a:rPr lang="th-TH" sz="1200" b="1" i="0" kern="1200" dirty="0">
                <a:effectLst/>
              </a:rPr>
              <a:t>Service &amp; </a:t>
            </a:r>
            <a:r>
              <a:rPr lang="th-TH" sz="1200" b="1" i="0" kern="1200" dirty="0" err="1">
                <a:effectLst/>
              </a:rPr>
              <a:t>Return</a:t>
            </a:r>
            <a:r>
              <a:rPr lang="th-TH" sz="1200" b="0" i="0" kern="1200" dirty="0">
                <a:effectLst/>
              </a:rPr>
              <a:t> ISR จะจัดการสาเหตุของคำขอ เคลียร์ </a:t>
            </a:r>
            <a:r>
              <a:rPr lang="th-TH" sz="1200" b="0" i="0" kern="1200" dirty="0" err="1">
                <a:effectLst/>
              </a:rPr>
              <a:t>flag</a:t>
            </a:r>
            <a:r>
              <a:rPr lang="th-TH" sz="1200" b="0" i="0" kern="1200" dirty="0">
                <a:effectLst/>
              </a:rPr>
              <a:t> ที่ค้างไว้ แล้วคืนการทำงานกลับสู่โปรแกรมหลักครับ</a:t>
            </a:r>
            <a:br>
              <a:rPr lang="en-US" sz="1200" b="0" i="0" kern="1200" dirty="0">
                <a:effectLst/>
              </a:rPr>
            </a:br>
            <a:endParaRPr lang="th-TH" sz="1200" b="0" i="0" kern="1200" dirty="0">
              <a:effectLst/>
            </a:endParaRPr>
          </a:p>
          <a:p>
            <a:r>
              <a:rPr lang="th-TH" sz="1200" b="0" i="0" kern="1200" dirty="0">
                <a:effectLst/>
              </a:rPr>
              <a:t>หากยกตัวอย่างจาก 8051 ที่เราเรียนในวิชานี้ ในระยะ </a:t>
            </a:r>
            <a:r>
              <a:rPr lang="th-TH" sz="1200" b="0" i="0" kern="1200" dirty="0" err="1">
                <a:effectLst/>
              </a:rPr>
              <a:t>Entry</a:t>
            </a:r>
            <a:r>
              <a:rPr lang="th-TH" sz="1200" b="0" i="0" kern="1200" dirty="0">
                <a:effectLst/>
              </a:rPr>
              <a:t> CPU จะใช้ </a:t>
            </a:r>
            <a:r>
              <a:rPr lang="th-TH" sz="1200" b="0" i="0" kern="1200" dirty="0" err="1">
                <a:effectLst/>
              </a:rPr>
              <a:t>Stack</a:t>
            </a:r>
            <a:r>
              <a:rPr lang="th-TH" sz="1200" b="0" i="0" kern="1200" dirty="0">
                <a:effectLst/>
              </a:rPr>
              <a:t> </a:t>
            </a:r>
            <a:r>
              <a:rPr lang="th-TH" sz="1200" b="0" i="0" kern="1200" dirty="0" err="1">
                <a:effectLst/>
              </a:rPr>
              <a:t>Pointer</a:t>
            </a:r>
            <a:r>
              <a:rPr lang="th-TH" sz="1200" b="0" i="0" kern="1200" dirty="0">
                <a:effectLst/>
              </a:rPr>
              <a:t> ดันตำแหน่ง </a:t>
            </a:r>
            <a:r>
              <a:rPr lang="th-TH" sz="1200" b="0" i="0" kern="1200" dirty="0" err="1">
                <a:effectLst/>
              </a:rPr>
              <a:t>Program</a:t>
            </a:r>
            <a:r>
              <a:rPr lang="th-TH" sz="1200" b="0" i="0" kern="1200" dirty="0">
                <a:effectLst/>
              </a:rPr>
              <a:t> </a:t>
            </a:r>
            <a:r>
              <a:rPr lang="th-TH" sz="1200" b="0" i="0" kern="1200" dirty="0" err="1">
                <a:effectLst/>
              </a:rPr>
              <a:t>Counter</a:t>
            </a:r>
            <a:r>
              <a:rPr lang="th-TH" sz="1200" b="0" i="0" kern="1200" dirty="0">
                <a:effectLst/>
              </a:rPr>
              <a:t> เก็บลง </a:t>
            </a:r>
            <a:r>
              <a:rPr lang="th-TH" sz="1200" b="0" i="0" kern="1200" dirty="0" err="1">
                <a:effectLst/>
              </a:rPr>
              <a:t>Stack</a:t>
            </a:r>
            <a:r>
              <a:rPr lang="th-TH" sz="1200" b="0" i="0" kern="1200" dirty="0">
                <a:effectLst/>
              </a:rPr>
              <a:t> และเมื่อจบ ISR จะต้องใช้คำสั่ง </a:t>
            </a:r>
            <a:r>
              <a:rPr lang="th-TH" sz="1200" b="1" i="0" kern="1200" dirty="0">
                <a:effectLst/>
              </a:rPr>
              <a:t>RETI</a:t>
            </a:r>
            <a:r>
              <a:rPr lang="th-TH" sz="1200" b="0" i="0" kern="1200" dirty="0">
                <a:effectLst/>
              </a:rPr>
              <a:t> ไม่ใช่ RET ธรรมดา เพราะ RETI จะทำการคืนค่า PC พร้อมกับเปิดระบบ Global </a:t>
            </a:r>
            <a:r>
              <a:rPr lang="th-TH" sz="1200" b="0" i="0" kern="1200" dirty="0" err="1">
                <a:effectLst/>
              </a:rPr>
              <a:t>Interrupt</a:t>
            </a:r>
            <a:r>
              <a:rPr lang="th-TH" sz="1200" b="0" i="0" kern="1200" dirty="0">
                <a:effectLst/>
              </a:rPr>
              <a:t> กลับมาอีกครั้ง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sz="1200" b="1" i="0" kern="1200" dirty="0">
                <a:effectLst/>
              </a:rPr>
              <a:t>หน้า 4 — เงื่อนไขที่ทำให้ทำงานถูกต้อง (1:40–2:15)</a:t>
            </a:r>
            <a:endParaRPr lang="en-US" sz="1200" b="1" i="0" kern="1200" dirty="0">
              <a:effectLst/>
            </a:endParaRPr>
          </a:p>
          <a:p>
            <a:endParaRPr lang="th-TH" sz="1200" b="1" i="0" kern="1200" dirty="0">
              <a:effectLst/>
            </a:endParaRPr>
          </a:p>
          <a:p>
            <a:r>
              <a:rPr lang="th-TH" sz="1200" b="0" i="0" kern="1200" dirty="0" err="1">
                <a:effectLst/>
              </a:rPr>
              <a:t>การทำ</a:t>
            </a:r>
            <a:r>
              <a:rPr lang="th-TH" sz="1200" b="0" i="0" kern="1200" dirty="0">
                <a:effectLst/>
              </a:rPr>
              <a:t>ให้กลไก </a:t>
            </a:r>
            <a:r>
              <a:rPr lang="th-TH" sz="1200" b="0" i="0" kern="1200" dirty="0" err="1">
                <a:effectLst/>
              </a:rPr>
              <a:t>interrupt</a:t>
            </a:r>
            <a:r>
              <a:rPr lang="th-TH" sz="1200" b="0" i="0" kern="1200" dirty="0">
                <a:effectLst/>
              </a:rPr>
              <a:t> ทำงานได้อย่างถูกต้องและเสถียร มีเงื่อนไขสำคัญ 3 ประการครับ</a:t>
            </a:r>
          </a:p>
          <a:p>
            <a:r>
              <a:rPr lang="en-US" sz="1200" b="0" i="0" kern="1200" dirty="0">
                <a:effectLst/>
              </a:rPr>
              <a:t>- </a:t>
            </a:r>
            <a:r>
              <a:rPr lang="th-TH" sz="1200" b="0" i="0" kern="1200" dirty="0">
                <a:effectLst/>
              </a:rPr>
              <a:t>ประการแรก </a:t>
            </a:r>
            <a:r>
              <a:rPr lang="th-TH" sz="1200" b="1" i="0" kern="1200" dirty="0" err="1">
                <a:effectLst/>
              </a:rPr>
              <a:t>Qualify</a:t>
            </a:r>
            <a:r>
              <a:rPr lang="th-TH" sz="1200" b="0" i="0" kern="1200" dirty="0">
                <a:effectLst/>
              </a:rPr>
              <a:t> คำขอต้องผ่านการตรวจสอบสิทธิ์และกรองสัญญาณก่อนเปลี่ยน </a:t>
            </a:r>
            <a:r>
              <a:rPr lang="th-TH" sz="1200" b="0" i="0" kern="1200" dirty="0" err="1">
                <a:effectLst/>
              </a:rPr>
              <a:t>control</a:t>
            </a:r>
            <a:r>
              <a:rPr lang="th-TH" sz="1200" b="0" i="0" kern="1200" dirty="0">
                <a:effectLst/>
              </a:rPr>
              <a:t> </a:t>
            </a:r>
            <a:r>
              <a:rPr lang="th-TH" sz="1200" b="0" i="0" kern="1200" dirty="0" err="1">
                <a:effectLst/>
              </a:rPr>
              <a:t>flow</a:t>
            </a:r>
            <a:r>
              <a:rPr lang="th-TH" sz="1200" b="0" i="0" kern="1200" dirty="0">
                <a:effectLst/>
              </a:rPr>
              <a:t> ทั้งการอนุมัติสิทธิ์ในระดับสวิตช์หลัก การเปิดปิดสิทธิ์รายอุปกรณ์ และระดับความสำคัญ เพื่อให้มั่นใจว่าคำขอที่เข้ามาได้รับการตอบสนองอย่างเหมาะสม</a:t>
            </a:r>
          </a:p>
          <a:p>
            <a:r>
              <a:rPr lang="en-US" sz="1200" b="0" i="0" kern="1200" dirty="0">
                <a:effectLst/>
              </a:rPr>
              <a:t>- </a:t>
            </a:r>
            <a:r>
              <a:rPr lang="th-TH" sz="1200" b="0" i="0" kern="1200" dirty="0">
                <a:effectLst/>
              </a:rPr>
              <a:t>ประการที่สอง </a:t>
            </a:r>
            <a:r>
              <a:rPr lang="th-TH" sz="1200" b="1" i="0" kern="1200" dirty="0" err="1">
                <a:effectLst/>
              </a:rPr>
              <a:t>Preserve</a:t>
            </a:r>
            <a:r>
              <a:rPr lang="th-TH" sz="1200" b="0" i="0" kern="1200" dirty="0">
                <a:effectLst/>
              </a:rPr>
              <a:t> ต้องรักษาความถูกต้องของ </a:t>
            </a:r>
            <a:r>
              <a:rPr lang="th-TH" sz="1200" b="0" i="0" kern="1200" dirty="0" err="1">
                <a:effectLst/>
              </a:rPr>
              <a:t>context</a:t>
            </a:r>
            <a:r>
              <a:rPr lang="th-TH" sz="1200" b="0" i="0" kern="1200" dirty="0">
                <a:effectLst/>
              </a:rPr>
              <a:t> โดยการจัดเก็บและคืนค่า </a:t>
            </a:r>
            <a:r>
              <a:rPr lang="th-TH" sz="1200" b="0" i="0" kern="1200" dirty="0" err="1">
                <a:effectLst/>
              </a:rPr>
              <a:t>register</a:t>
            </a:r>
            <a:r>
              <a:rPr lang="th-TH" sz="1200" b="0" i="0" kern="1200" dirty="0">
                <a:effectLst/>
              </a:rPr>
              <a:t> อย่างสมดุล ป้องกันไม่ให้การทำงานของ ISR ไปส่งผลกระทบหรือสร้างความเสียหายต่อโปรแกรมหลัก</a:t>
            </a:r>
          </a:p>
          <a:p>
            <a:r>
              <a:rPr lang="en-US" sz="1200" b="0" i="0" kern="1200" dirty="0">
                <a:effectLst/>
              </a:rPr>
              <a:t>- </a:t>
            </a:r>
            <a:r>
              <a:rPr lang="th-TH" sz="1200" b="0" i="0" kern="1200" dirty="0">
                <a:effectLst/>
              </a:rPr>
              <a:t>ประการที่สาม </a:t>
            </a:r>
            <a:r>
              <a:rPr lang="th-TH" sz="1200" b="1" i="0" kern="1200" dirty="0" err="1">
                <a:effectLst/>
              </a:rPr>
              <a:t>Complete</a:t>
            </a:r>
            <a:r>
              <a:rPr lang="th-TH" sz="1200" b="0" i="0" kern="1200" dirty="0">
                <a:effectLst/>
              </a:rPr>
              <a:t> ISR ต้องจัดการสาเหตุของคำขอ เคลียร์เงื่อนไขที่ค้างอยู่ คืนการทำงานด้วยกลไก </a:t>
            </a:r>
            <a:r>
              <a:rPr lang="th-TH" sz="1200" b="0" i="0" kern="1200" dirty="0" err="1">
                <a:effectLst/>
              </a:rPr>
              <a:t>return</a:t>
            </a:r>
            <a:r>
              <a:rPr lang="th-TH" sz="1200" b="0" i="0" kern="1200" dirty="0">
                <a:effectLst/>
              </a:rPr>
              <a:t> ที่ถูกต้อง และต้องออกแบบให้ทำงานกระชับที่สุดเท่าที่จำเป็น เพื่อลด </a:t>
            </a:r>
            <a:r>
              <a:rPr lang="th-TH" sz="1200" b="0" i="0" kern="1200" dirty="0" err="1">
                <a:effectLst/>
              </a:rPr>
              <a:t>latency</a:t>
            </a:r>
            <a:r>
              <a:rPr lang="th-TH" sz="1200" b="0" i="0" kern="1200" dirty="0">
                <a:effectLst/>
              </a:rPr>
              <a:t> และไม่กระทบต่อการตอบสนองของ </a:t>
            </a:r>
            <a:r>
              <a:rPr lang="th-TH" sz="1200" b="0" i="0" kern="1200" dirty="0" err="1">
                <a:effectLst/>
              </a:rPr>
              <a:t>interrupt</a:t>
            </a:r>
            <a:r>
              <a:rPr lang="th-TH" sz="1200" b="0" i="0" kern="1200" dirty="0">
                <a:effectLst/>
              </a:rPr>
              <a:t> ตัวอื่นในระบบครับ</a:t>
            </a:r>
          </a:p>
          <a:p>
            <a:br>
              <a:rPr lang="th-TH" dirty="0"/>
            </a:br>
            <a:endParaRPr lang="th-TH" sz="1200" b="0" i="0" kern="12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sz="1200" b="1" i="0" kern="1200" dirty="0">
                <a:effectLst/>
              </a:rPr>
              <a:t>สไลด์ที่ 5: สรุปและเอกสารอ้างอิง (2:15–2:30)</a:t>
            </a:r>
          </a:p>
          <a:p>
            <a:endParaRPr lang="th-TH" sz="1200" b="1" i="0" kern="1200" dirty="0">
              <a:effectLst/>
            </a:endParaRPr>
          </a:p>
          <a:p>
            <a:r>
              <a:rPr lang="th-TH" sz="1200" b="0" i="0" kern="1200" dirty="0">
                <a:effectLst/>
              </a:rPr>
              <a:t>สรุปคือ </a:t>
            </a:r>
            <a:r>
              <a:rPr lang="th-TH" sz="1200" b="0" i="0" kern="1200" dirty="0" err="1">
                <a:effectLst/>
              </a:rPr>
              <a:t>Interrupt</a:t>
            </a:r>
            <a:r>
              <a:rPr lang="th-TH" sz="1200" b="0" i="0" kern="1200" dirty="0">
                <a:effectLst/>
              </a:rPr>
              <a:t> เป็นกระบวนการทางสถาปัตยกรรมที่คัดกรองคำขอ รักษาสถานะ และคืนการทำงานได้อย่างแม่นยำ</a:t>
            </a:r>
          </a:p>
          <a:p>
            <a:endParaRPr lang="th-TH" sz="1200" b="0" i="0" kern="1200" dirty="0">
              <a:effectLst/>
            </a:endParaRPr>
          </a:p>
          <a:p>
            <a:r>
              <a:rPr lang="th-TH" sz="1200" b="0" i="0" kern="1200" dirty="0">
                <a:effectLst/>
              </a:rPr>
              <a:t>อ้างอิงเนื้อหาจาก </a:t>
            </a:r>
            <a:r>
              <a:rPr lang="th-TH" sz="1200" b="0" i="0" kern="1200" dirty="0" err="1">
                <a:effectLst/>
              </a:rPr>
              <a:t>Mazidi</a:t>
            </a:r>
            <a:r>
              <a:rPr lang="th-TH" sz="1200" b="0" i="0" kern="1200" dirty="0">
                <a:effectLst/>
              </a:rPr>
              <a:t> และ </a:t>
            </a:r>
            <a:r>
              <a:rPr lang="th-TH" sz="1200" b="0" i="0" kern="1200" dirty="0" err="1">
                <a:effectLst/>
              </a:rPr>
              <a:t>Microchip</a:t>
            </a:r>
            <a:r>
              <a:rPr lang="th-TH" sz="1200" b="0" i="0" kern="1200" dirty="0">
                <a:effectLst/>
              </a:rPr>
              <a:t> </a:t>
            </a:r>
            <a:r>
              <a:rPr lang="th-TH" sz="1200" b="0" i="0" kern="1200" dirty="0" err="1">
                <a:effectLst/>
              </a:rPr>
              <a:t>Datasheet</a:t>
            </a:r>
            <a:r>
              <a:rPr lang="th-TH" sz="1200" b="0" i="0" kern="1200" dirty="0">
                <a:effectLst/>
              </a:rPr>
              <a:t> สำหรับฝั่ง AVR ร่วมกับ </a:t>
            </a:r>
            <a:r>
              <a:rPr lang="th-TH" sz="1200" b="0" i="0" kern="1200" dirty="0" err="1">
                <a:effectLst/>
              </a:rPr>
              <a:t>Lecture</a:t>
            </a:r>
            <a:r>
              <a:rPr lang="th-TH" sz="1200" b="0" i="0" kern="1200" dirty="0">
                <a:effectLst/>
              </a:rPr>
              <a:t> 3 และ 4 ของวิชานี้สำหรับตัวอย่าง 8051 ครับ ขอบคุณครับ</a:t>
            </a:r>
          </a:p>
          <a:p>
            <a:endParaRPr lang="th-TH" sz="1200" b="0" i="0" kern="12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213811"/>
            <a:ext cx="2595934" cy="378058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334966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2213811"/>
            <a:ext cx="2595934" cy="378058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205679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48">
          <p15:clr>
            <a:srgbClr val="F26B43"/>
          </p15:clr>
        </p15:guide>
        <p15:guide id="4" pos="1264">
          <p15:clr>
            <a:srgbClr val="F26B43"/>
          </p15:clr>
        </p15:guide>
        <p15:guide id="5" pos="1480">
          <p15:clr>
            <a:srgbClr val="F26B43"/>
          </p15:clr>
        </p15:guide>
        <p15:guide id="6" pos="2496">
          <p15:clr>
            <a:srgbClr val="F26B43"/>
          </p15:clr>
        </p15:guide>
        <p15:guide id="7" pos="2712">
          <p15:clr>
            <a:srgbClr val="F26B43"/>
          </p15:clr>
        </p15:guide>
        <p15:guide id="8" pos="3736">
          <p15:clr>
            <a:srgbClr val="F26B43"/>
          </p15:clr>
        </p15:guide>
        <p15:guide id="9" pos="3944">
          <p15:clr>
            <a:srgbClr val="F26B43"/>
          </p15:clr>
        </p15:guide>
        <p15:guide id="10" pos="4968">
          <p15:clr>
            <a:srgbClr val="F26B43"/>
          </p15:clr>
        </p15:guide>
        <p15:guide id="11" pos="5184">
          <p15:clr>
            <a:srgbClr val="F26B43"/>
          </p15:clr>
        </p15:guide>
        <p15:guide id="12" pos="6200">
          <p15:clr>
            <a:srgbClr val="F26B43"/>
          </p15:clr>
        </p15:guide>
        <p15:guide id="13" pos="6416">
          <p15:clr>
            <a:srgbClr val="F26B43"/>
          </p15:clr>
        </p15:guide>
        <p15:guide id="14" pos="7432">
          <p15:clr>
            <a:srgbClr val="F26B43"/>
          </p15:clr>
        </p15:guide>
        <p15:guide id="15" orient="horz">
          <p15:clr>
            <a:srgbClr val="F26B43"/>
          </p15:clr>
        </p15:guide>
        <p15:guide id="17" orient="horz" pos="248">
          <p15:clr>
            <a:srgbClr val="F26B43"/>
          </p15:clr>
        </p15:guide>
        <p15:guide id="18" orient="horz" pos="656">
          <p15:clr>
            <a:srgbClr val="F26B43"/>
          </p15:clr>
        </p15:guide>
        <p15:guide id="19" orient="horz" pos="872">
          <p15:clr>
            <a:srgbClr val="F26B43"/>
          </p15:clr>
        </p15:guide>
        <p15:guide id="20" orient="horz" pos="1280">
          <p15:clr>
            <a:srgbClr val="F26B43"/>
          </p15:clr>
        </p15:guide>
        <p15:guide id="21" orient="horz" pos="1496">
          <p15:clr>
            <a:srgbClr val="F26B43"/>
          </p15:clr>
        </p15:guide>
        <p15:guide id="22" orient="horz" pos="1904">
          <p15:clr>
            <a:srgbClr val="F26B43"/>
          </p15:clr>
        </p15:guide>
        <p15:guide id="23" orient="horz" pos="2120">
          <p15:clr>
            <a:srgbClr val="F26B43"/>
          </p15:clr>
        </p15:guide>
        <p15:guide id="24" orient="horz" pos="2528">
          <p15:clr>
            <a:srgbClr val="F26B43"/>
          </p15:clr>
        </p15:guide>
        <p15:guide id="25" orient="horz" pos="2744">
          <p15:clr>
            <a:srgbClr val="F26B43"/>
          </p15:clr>
        </p15:guide>
        <p15:guide id="26" orient="horz" pos="3152">
          <p15:clr>
            <a:srgbClr val="F26B43"/>
          </p15:clr>
        </p15:guide>
        <p15:guide id="27" orient="horz" pos="3368">
          <p15:clr>
            <a:srgbClr val="F26B43"/>
          </p15:clr>
        </p15:guide>
        <p15:guide id="28" orient="horz" pos="3776">
          <p15:clr>
            <a:srgbClr val="F26B43"/>
          </p15:clr>
        </p15:guide>
        <p15:guide id="29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2066174"/>
            <a:ext cx="9448800" cy="2203686"/>
          </a:xfrm>
        </p:spPr>
        <p:txBody>
          <a:bodyPr anchor="ctr">
            <a:normAutofit/>
          </a:bodyPr>
          <a:lstStyle/>
          <a:p>
            <a:pPr algn="ctr">
              <a:buNone/>
              <a:defRPr sz="4950" b="1">
                <a:solidFill>
                  <a:srgbClr val="7DD3FC"/>
                </a:solidFill>
                <a:latin typeface="Tahoma"/>
                <a:ea typeface="Tahoma"/>
                <a:cs typeface="Tahoma"/>
              </a:defRPr>
            </a:pPr>
            <a:r>
              <a:rPr sz="4950" b="1">
                <a:solidFill>
                  <a:srgbClr val="7DD3FC"/>
                </a:solidFill>
                <a:latin typeface="Tahoma"/>
                <a:ea typeface="Tahoma"/>
                <a:cs typeface="Tahoma"/>
              </a:rPr>
              <a:t>41  Interrupt</a:t>
            </a:r>
          </a:p>
          <a:p>
            <a:pPr algn="ctr">
              <a:buNone/>
              <a:defRPr sz="4950" b="1">
                <a:solidFill>
                  <a:srgbClr val="7DD3FC"/>
                </a:solidFill>
                <a:latin typeface="Tahoma"/>
                <a:ea typeface="Tahoma"/>
                <a:cs typeface="Tahoma"/>
              </a:defRPr>
            </a:pPr>
            <a:r>
              <a:rPr sz="4950" b="1">
                <a:solidFill>
                  <a:srgbClr val="7DD3FC"/>
                </a:solidFill>
                <a:latin typeface="Tahoma"/>
                <a:ea typeface="Tahoma"/>
                <a:cs typeface="Tahoma"/>
              </a:rPr>
              <a:t>Mechanism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noGrp="1"/>
          </p:cNvSpPr>
          <p:nvPr/>
        </p:nvSpPr>
        <p:spPr>
          <a:xfrm>
            <a:off x="2461605" y="4874716"/>
            <a:ext cx="7267329" cy="691197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  <a:defRPr sz="1725">
                <a:solidFill>
                  <a:srgbClr val="F4F8FC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F4F8FC"/>
                </a:solidFill>
                <a:latin typeface="Tahoma"/>
                <a:ea typeface="Tahoma"/>
                <a:cs typeface="Tahoma"/>
              </a:rPr>
              <a:t>นายธีรภัทร ภู่ระย้า  •  66362416  •  กลุ่ม 1  •  ลำดับ 4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4393902-CF74-AC35-55A9-910ABBD4C9FD}"/>
              </a:ext>
            </a:extLst>
          </p:cNvPr>
          <p:cNvSpPr>
            <a:spLocks noGrp="1"/>
          </p:cNvSpPr>
          <p:nvPr/>
        </p:nvSpPr>
        <p:spPr>
          <a:xfrm>
            <a:off x="4793264" y="1096027"/>
            <a:ext cx="2604013" cy="488816"/>
          </a:xfrm>
          <a:prstGeom prst="roundRect">
            <a:avLst>
              <a:gd name="adj" fmla="val 50000"/>
            </a:avLst>
          </a:prstGeom>
          <a:solidFill>
            <a:srgbClr val="173B5E"/>
          </a:solidFill>
          <a:ln w="9525">
            <a:solidFill>
              <a:srgbClr val="335B7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buNone/>
              <a:defRPr sz="938" b="1">
                <a:solidFill>
                  <a:srgbClr val="F4F8FC"/>
                </a:solidFill>
                <a:latin typeface="Tahoma"/>
                <a:ea typeface="Tahoma"/>
                <a:cs typeface="Tahoma"/>
              </a:defRPr>
            </a:pPr>
            <a:r>
              <a:rPr sz="938" b="1">
                <a:solidFill>
                  <a:srgbClr val="F4F8FC"/>
                </a:solidFill>
                <a:latin typeface="Tahoma"/>
                <a:ea typeface="Tahoma"/>
                <a:cs typeface="Tahoma"/>
              </a:rPr>
              <a:t>305341  •  EMBEDDED SYSTEM 1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rmAutofit/>
          </a:bodyPr>
          <a:lstStyle/>
          <a:p>
            <a:pPr algn="r">
              <a:defRPr sz="1000">
                <a:solidFill>
                  <a:srgbClr val="B8C7D9"/>
                </a:solidFill>
                <a:latin typeface="Tahoma"/>
                <a:ea typeface="Tahoma"/>
                <a:cs typeface="Tahoma"/>
              </a:defRPr>
            </a:pPr>
            <a:fld id="{E2598689-54C9-18A7-3A19-ED76AA08988F}" type="slidenum">
              <a:rPr sz="1000">
                <a:solidFill>
                  <a:srgbClr val="B8C7D9"/>
                </a:solidFill>
                <a:latin typeface="Tahoma"/>
                <a:ea typeface="Tahoma"/>
                <a:cs typeface="Tahoma"/>
              </a:rPr>
              <a:t>2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rmAutofit/>
          </a:bodyPr>
          <a:lstStyle/>
          <a:p>
            <a:pPr algn="l">
              <a:defRPr sz="2775" b="1">
                <a:solidFill>
                  <a:srgbClr val="F4F8FC"/>
                </a:solidFill>
                <a:latin typeface="Tahoma"/>
                <a:ea typeface="Tahoma"/>
                <a:cs typeface="Tahoma"/>
              </a:defRPr>
            </a:pPr>
            <a:r>
              <a:rPr sz="2775" b="1">
                <a:solidFill>
                  <a:srgbClr val="F4F8FC"/>
                </a:solidFill>
                <a:latin typeface="Tahoma"/>
                <a:ea typeface="Tahoma"/>
                <a:cs typeface="Tahoma"/>
              </a:rPr>
              <a:t>Interrupt คือการถ่ายโอนการควบคุมตามเหตุการณ์ [1][2]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noGrp="1"/>
          </p:cNvSpPr>
          <p:nvPr/>
        </p:nvSpPr>
        <p:spPr>
          <a:xfrm>
            <a:off x="6972300" y="2374901"/>
            <a:ext cx="4826000" cy="647700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463">
                <a:solidFill>
                  <a:srgbClr val="F4F8FC"/>
                </a:solidFill>
                <a:latin typeface="Tahoma"/>
                <a:ea typeface="Tahoma"/>
                <a:cs typeface="Tahoma"/>
              </a:defRPr>
            </a:pPr>
            <a:r>
              <a:rPr sz="1463">
                <a:solidFill>
                  <a:srgbClr val="F4F8FC"/>
                </a:solidFill>
                <a:latin typeface="Tahoma"/>
                <a:ea typeface="Tahoma"/>
                <a:cs typeface="Tahoma"/>
              </a:rPr>
              <a:t>เหตุการณ์สร้างคำขอแบบอะซิงโครนัส</a:t>
            </a: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noGrp="1"/>
          </p:cNvSpPr>
          <p:nvPr/>
        </p:nvSpPr>
        <p:spPr>
          <a:xfrm>
            <a:off x="4851400" y="2374901"/>
            <a:ext cx="1866900" cy="647700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425" b="1">
                <a:solidFill>
                  <a:srgbClr val="7DD3FC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7DD3FC"/>
                </a:solidFill>
                <a:latin typeface="Tahoma"/>
                <a:ea typeface="Tahoma"/>
                <a:cs typeface="Tahoma"/>
              </a:rPr>
              <a:t>EVENT-DRIVEN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noGrp="1"/>
          </p:cNvSpPr>
          <p:nvPr/>
        </p:nvSpPr>
        <p:spPr>
          <a:xfrm>
            <a:off x="6972300" y="3365501"/>
            <a:ext cx="4826000" cy="647700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463">
                <a:solidFill>
                  <a:srgbClr val="F4F8FC"/>
                </a:solidFill>
                <a:latin typeface="Tahoma"/>
                <a:ea typeface="Tahoma"/>
                <a:cs typeface="Tahoma"/>
              </a:defRPr>
            </a:pPr>
            <a:r>
              <a:rPr sz="1463">
                <a:solidFill>
                  <a:srgbClr val="F4F8FC"/>
                </a:solidFill>
                <a:latin typeface="Tahoma"/>
                <a:ea typeface="Tahoma"/>
                <a:cs typeface="Tahoma"/>
              </a:rPr>
              <a:t>เก็บสถานะที่จำเป็นก่อนเปลี่ยนเส้นทาง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noGrp="1"/>
          </p:cNvSpPr>
          <p:nvPr/>
        </p:nvSpPr>
        <p:spPr>
          <a:xfrm>
            <a:off x="4851400" y="3365501"/>
            <a:ext cx="1866900" cy="647700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425" b="1">
                <a:solidFill>
                  <a:srgbClr val="7DD3FC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7DD3FC"/>
                </a:solidFill>
                <a:latin typeface="Tahoma"/>
                <a:ea typeface="Tahoma"/>
                <a:cs typeface="Tahoma"/>
              </a:rPr>
              <a:t>STATE-PRESERVING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noGrp="1"/>
          </p:cNvSpPr>
          <p:nvPr/>
        </p:nvSpPr>
        <p:spPr>
          <a:xfrm>
            <a:off x="6972300" y="4356101"/>
            <a:ext cx="4826000" cy="647700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463">
                <a:solidFill>
                  <a:srgbClr val="F4F8FC"/>
                </a:solidFill>
                <a:latin typeface="Tahoma"/>
                <a:ea typeface="Tahoma"/>
                <a:cs typeface="Tahoma"/>
              </a:defRPr>
            </a:pPr>
            <a:r>
              <a:rPr sz="1463" dirty="0">
                <a:solidFill>
                  <a:srgbClr val="F4F8FC"/>
                </a:solidFill>
                <a:latin typeface="Tahoma"/>
                <a:ea typeface="Tahoma"/>
                <a:cs typeface="Tahoma"/>
              </a:rPr>
              <a:t>Vector table </a:t>
            </a:r>
            <a:r>
              <a:rPr sz="1463" dirty="0" err="1">
                <a:solidFill>
                  <a:srgbClr val="F4F8FC"/>
                </a:solidFill>
                <a:latin typeface="Tahoma"/>
                <a:ea typeface="Tahoma"/>
                <a:cs typeface="Tahoma"/>
              </a:rPr>
              <a:t>ระบุตำแหน่งของ</a:t>
            </a:r>
            <a:r>
              <a:rPr sz="1463" dirty="0">
                <a:solidFill>
                  <a:srgbClr val="F4F8FC"/>
                </a:solidFill>
                <a:latin typeface="Tahoma"/>
                <a:ea typeface="Tahoma"/>
                <a:cs typeface="Tahoma"/>
              </a:rPr>
              <a:t> handler</a:t>
            </a:r>
          </a:p>
        </p:txBody>
      </p:sp>
      <p:sp>
        <p:nvSpPr>
          <p:cNvPr id="19" name="Content Placeholder 10">
            <a:extLst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noGrp="1"/>
          </p:cNvSpPr>
          <p:nvPr/>
        </p:nvSpPr>
        <p:spPr>
          <a:xfrm>
            <a:off x="4851400" y="4356101"/>
            <a:ext cx="1866900" cy="647700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425" b="1">
                <a:solidFill>
                  <a:srgbClr val="7DD3FC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7DD3FC"/>
                </a:solidFill>
                <a:latin typeface="Tahoma"/>
                <a:ea typeface="Tahoma"/>
                <a:cs typeface="Tahoma"/>
              </a:rPr>
              <a:t>VECTORED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noGrp="1"/>
          </p:cNvSpPr>
          <p:nvPr/>
        </p:nvSpPr>
        <p:spPr>
          <a:xfrm>
            <a:off x="6972300" y="5359401"/>
            <a:ext cx="4826000" cy="647700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463">
                <a:solidFill>
                  <a:srgbClr val="F4F8FC"/>
                </a:solidFill>
                <a:latin typeface="Tahoma"/>
                <a:ea typeface="Tahoma"/>
                <a:cs typeface="Tahoma"/>
              </a:defRPr>
            </a:pPr>
            <a:r>
              <a:rPr sz="1463">
                <a:solidFill>
                  <a:srgbClr val="F4F8FC"/>
                </a:solidFill>
                <a:latin typeface="Tahoma"/>
                <a:ea typeface="Tahoma"/>
                <a:cs typeface="Tahoma"/>
              </a:rPr>
              <a:t>Enable, mask และ priority กำกับการตอบรับ</a:t>
            </a:r>
          </a:p>
        </p:txBody>
      </p:sp>
      <p:sp>
        <p:nvSpPr>
          <p:cNvPr id="21" name="Content Placeholder 10">
            <a:extLst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noGrp="1"/>
          </p:cNvSpPr>
          <p:nvPr/>
        </p:nvSpPr>
        <p:spPr>
          <a:xfrm>
            <a:off x="4851400" y="5359401"/>
            <a:ext cx="1866900" cy="647700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425" b="1">
                <a:solidFill>
                  <a:srgbClr val="7DD3FC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7DD3FC"/>
                </a:solidFill>
                <a:latin typeface="Tahoma"/>
                <a:ea typeface="Tahoma"/>
                <a:cs typeface="Tahoma"/>
              </a:rPr>
              <a:t>PRIORITY-AWARE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noGrp="1"/>
          </p:cNvSpPr>
          <p:nvPr/>
        </p:nvSpPr>
        <p:spPr>
          <a:xfrm>
            <a:off x="393700" y="2374901"/>
            <a:ext cx="3568700" cy="3619499"/>
          </a:xfrm>
          <a:prstGeom prst="rect">
            <a:avLst/>
          </a:prstGeom>
        </p:spPr>
        <p:txBody>
          <a:bodyPr spcFirstLastPara="1" vert="horz" wrap="square" lIns="0" tIns="0" rIns="0" bIns="0" anchor="ctr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>
                <a:solidFill>
                  <a:srgbClr val="F4F8FC"/>
                </a:solidFill>
                <a:latin typeface="Tahoma"/>
                <a:ea typeface="Tahoma"/>
                <a:cs typeface="Tahoma"/>
              </a:defRPr>
            </a:pPr>
            <a:r>
              <a:rPr sz="2025">
                <a:solidFill>
                  <a:srgbClr val="F4F8FC"/>
                </a:solidFill>
                <a:latin typeface="Tahoma"/>
                <a:ea typeface="Tahoma"/>
                <a:cs typeface="Tahoma"/>
              </a:rPr>
              <a:t>กลไกที่ทำให้ CPU เปลี่ยนจากโปรแกรมปัจจุบันไปยัง ISR เมื่อคำขอผ่านเงื่อนไขการตอบรับ จากนั้นคืนบริบทและดำเนินงานต่อ ณ ตำแหน่งเดิม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6FC0B29-995A-397B-C2F3-07F01F976246}"/>
              </a:ext>
            </a:extLst>
          </p:cNvPr>
          <p:cNvSpPr>
            <a:spLocks noGrp="1"/>
          </p:cNvSpPr>
          <p:nvPr/>
        </p:nvSpPr>
        <p:spPr>
          <a:xfrm>
            <a:off x="7833152" y="2134181"/>
            <a:ext cx="3568700" cy="3709944"/>
          </a:xfrm>
          <a:prstGeom prst="roundRect">
            <a:avLst>
              <a:gd name="adj" fmla="val 3585"/>
            </a:avLst>
          </a:prstGeom>
          <a:solidFill>
            <a:srgbClr val="102A43"/>
          </a:solidFill>
          <a:ln w="9525">
            <a:solidFill>
              <a:srgbClr val="335B7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anchor="b">
            <a:normAutofit/>
          </a:bodyPr>
          <a:lstStyle/>
          <a:p>
            <a:pPr algn="r">
              <a:defRPr sz="1000">
                <a:solidFill>
                  <a:srgbClr val="B8C7D9"/>
                </a:solidFill>
                <a:latin typeface="Tahoma"/>
                <a:ea typeface="Tahoma"/>
                <a:cs typeface="Tahoma"/>
              </a:defRPr>
            </a:pPr>
            <a:fld id="{202359C0-8A7A-196E-DD58-8E6569619F09}" type="slidenum">
              <a:rPr sz="1000">
                <a:solidFill>
                  <a:srgbClr val="B8C7D9"/>
                </a:solidFill>
                <a:latin typeface="Tahoma"/>
                <a:ea typeface="Tahoma"/>
                <a:cs typeface="Tahoma"/>
              </a:rPr>
              <a:t>3</a:t>
            </a:fld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anchor="t">
            <a:normAutofit/>
          </a:bodyPr>
          <a:lstStyle/>
          <a:p>
            <a:pPr algn="l">
              <a:defRPr sz="2775" b="1">
                <a:solidFill>
                  <a:srgbClr val="F4F8FC"/>
                </a:solidFill>
                <a:latin typeface="Tahoma"/>
                <a:ea typeface="Tahoma"/>
                <a:cs typeface="Tahoma"/>
              </a:defRPr>
            </a:pPr>
            <a:r>
              <a:rPr sz="2775" b="1">
                <a:solidFill>
                  <a:srgbClr val="F4F8FC"/>
                </a:solidFill>
                <a:latin typeface="Tahoma"/>
                <a:ea typeface="Tahoma"/>
                <a:cs typeface="Tahoma"/>
              </a:rPr>
              <a:t>การตอบสนองแบ่งเป็น 3 ระยะต่อเนื่อง [1][2][3][4]</a:t>
            </a:r>
          </a:p>
        </p:txBody>
      </p:sp>
      <p:cxnSp>
        <p:nvCxnSpPr>
          <p:cNvPr id="28" name="Google Shape;2259;p159"/>
          <p:cNvCxnSpPr>
            <a:stCxn id="3" idx="2"/>
          </p:cNvCxnSpPr>
          <p:nvPr/>
        </p:nvCxnSpPr>
        <p:spPr>
          <a:xfrm>
            <a:off x="337718" y="3373753"/>
            <a:ext cx="12245400" cy="300"/>
          </a:xfrm>
          <a:prstGeom prst="straightConnector1">
            <a:avLst/>
          </a:prstGeom>
          <a:ln w="19050" cap="flat">
            <a:solidFill>
              <a:srgbClr val="60A5FA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noGrp="1"/>
          </p:cNvSpPr>
          <p:nvPr/>
        </p:nvSpPr>
        <p:spPr>
          <a:xfrm>
            <a:off x="337718" y="3320203"/>
            <a:ext cx="107100" cy="107100"/>
          </a:xfrm>
          <a:prstGeom prst="ellipse">
            <a:avLst/>
          </a:prstGeom>
          <a:solidFill>
            <a:srgbClr val="7DD3FC"/>
          </a:solidFill>
          <a:ln w="9525">
            <a:solidFill>
              <a:srgbClr val="7DD3FC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noGrp="1"/>
          </p:cNvSpPr>
          <p:nvPr/>
        </p:nvSpPr>
        <p:spPr>
          <a:xfrm>
            <a:off x="4251750" y="3320203"/>
            <a:ext cx="107100" cy="107100"/>
          </a:xfrm>
          <a:prstGeom prst="ellipse">
            <a:avLst/>
          </a:prstGeom>
          <a:solidFill>
            <a:srgbClr val="7DD3FC"/>
          </a:solidFill>
          <a:ln w="9525">
            <a:solidFill>
              <a:srgbClr val="7DD3FC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noGrp="1"/>
          </p:cNvSpPr>
          <p:nvPr/>
        </p:nvSpPr>
        <p:spPr>
          <a:xfrm>
            <a:off x="8176050" y="3320203"/>
            <a:ext cx="107100" cy="107100"/>
          </a:xfrm>
          <a:prstGeom prst="ellipse">
            <a:avLst/>
          </a:prstGeom>
          <a:solidFill>
            <a:srgbClr val="7DD3FC"/>
          </a:solidFill>
          <a:ln w="9525">
            <a:solidFill>
              <a:srgbClr val="7DD3FC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noGrp="1"/>
          </p:cNvSpPr>
          <p:nvPr/>
        </p:nvSpPr>
        <p:spPr>
          <a:xfrm>
            <a:off x="393700" y="2843266"/>
            <a:ext cx="1612900" cy="262400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275" b="1">
                <a:solidFill>
                  <a:srgbClr val="7DD3FC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7DD3FC"/>
                </a:solidFill>
                <a:latin typeface="Tahoma"/>
                <a:ea typeface="Tahoma"/>
                <a:cs typeface="Tahoma"/>
              </a:rPr>
              <a:t>PHASE 01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noGrp="1"/>
          </p:cNvSpPr>
          <p:nvPr/>
        </p:nvSpPr>
        <p:spPr>
          <a:xfrm>
            <a:off x="4294187" y="2843266"/>
            <a:ext cx="1612900" cy="262400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275" b="1">
                <a:solidFill>
                  <a:srgbClr val="7DD3FC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7DD3FC"/>
                </a:solidFill>
                <a:latin typeface="Tahoma"/>
                <a:ea typeface="Tahoma"/>
                <a:cs typeface="Tahoma"/>
              </a:rPr>
              <a:t>PHASE 02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noGrp="1"/>
          </p:cNvSpPr>
          <p:nvPr/>
        </p:nvSpPr>
        <p:spPr>
          <a:xfrm>
            <a:off x="8223249" y="2843266"/>
            <a:ext cx="1612900" cy="262400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275" b="1">
                <a:solidFill>
                  <a:srgbClr val="7DD3FC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7DD3FC"/>
                </a:solidFill>
                <a:latin typeface="Tahoma"/>
                <a:ea typeface="Tahoma"/>
                <a:cs typeface="Tahoma"/>
              </a:rPr>
              <a:t>PHASE 03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noGrp="1"/>
          </p:cNvSpPr>
          <p:nvPr/>
        </p:nvSpPr>
        <p:spPr>
          <a:xfrm>
            <a:off x="4317118" y="3822700"/>
            <a:ext cx="3156125" cy="15862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350">
                <a:solidFill>
                  <a:srgbClr val="B8C7D9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4F8FC"/>
                </a:solidFill>
                <a:latin typeface="Tahoma"/>
                <a:ea typeface="Tahoma"/>
                <a:cs typeface="Tahoma"/>
              </a:rPr>
              <a:t>ENTRY</a:t>
            </a:r>
          </a:p>
          <a:p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350">
                <a:solidFill>
                  <a:srgbClr val="B8C7D9"/>
                </a:solidFill>
                <a:latin typeface="Tahoma"/>
                <a:ea typeface="Tahoma"/>
                <a:cs typeface="Tahoma"/>
              </a:defRPr>
            </a:pPr>
            <a:r>
              <a:rPr sz="1350">
                <a:solidFill>
                  <a:srgbClr val="B8C7D9"/>
                </a:solidFill>
                <a:latin typeface="Tahoma"/>
                <a:ea typeface="Tahoma"/>
                <a:cs typeface="Tahoma"/>
              </a:rPr>
              <a:t>2–4  Qualify → Save → Vector</a:t>
            </a:r>
          </a:p>
          <a:p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350">
                <a:solidFill>
                  <a:srgbClr val="B8C7D9"/>
                </a:solidFill>
                <a:latin typeface="Tahoma"/>
                <a:ea typeface="Tahoma"/>
                <a:cs typeface="Tahoma"/>
              </a:defRPr>
            </a:pPr>
            <a:r>
              <a:rPr sz="1350">
                <a:solidFill>
                  <a:srgbClr val="B8C7D9"/>
                </a:solidFill>
                <a:latin typeface="Tahoma"/>
                <a:ea typeface="Tahoma"/>
                <a:cs typeface="Tahoma"/>
              </a:rPr>
              <a:t>ก่อนเริ่ม handler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noGrp="1"/>
          </p:cNvSpPr>
          <p:nvPr/>
        </p:nvSpPr>
        <p:spPr>
          <a:xfrm>
            <a:off x="399873" y="3822700"/>
            <a:ext cx="3156125" cy="15862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350">
                <a:solidFill>
                  <a:srgbClr val="B8C7D9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4F8FC"/>
                </a:solidFill>
                <a:latin typeface="Tahoma"/>
                <a:ea typeface="Tahoma"/>
                <a:cs typeface="Tahoma"/>
              </a:rPr>
              <a:t>REQUEST</a:t>
            </a:r>
          </a:p>
          <a:p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350">
                <a:solidFill>
                  <a:srgbClr val="B8C7D9"/>
                </a:solidFill>
                <a:latin typeface="Tahoma"/>
                <a:ea typeface="Tahoma"/>
                <a:cs typeface="Tahoma"/>
              </a:defRPr>
            </a:pPr>
            <a:r>
              <a:rPr sz="1350">
                <a:solidFill>
                  <a:srgbClr val="B8C7D9"/>
                </a:solidFill>
                <a:latin typeface="Tahoma"/>
                <a:ea typeface="Tahoma"/>
                <a:cs typeface="Tahoma"/>
              </a:rPr>
              <a:t>1  Event / flag สร้างคำขอ</a:t>
            </a:r>
          </a:p>
          <a:p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350">
                <a:solidFill>
                  <a:srgbClr val="B8C7D9"/>
                </a:solidFill>
                <a:latin typeface="Tahoma"/>
                <a:ea typeface="Tahoma"/>
                <a:cs typeface="Tahoma"/>
              </a:defRPr>
            </a:pPr>
            <a:r>
              <a:rPr sz="1350">
                <a:solidFill>
                  <a:srgbClr val="B8C7D9"/>
                </a:solidFill>
                <a:latin typeface="Tahoma"/>
                <a:ea typeface="Tahoma"/>
                <a:cs typeface="Tahoma"/>
              </a:rPr>
              <a:t>และเข้าสถานะ Pending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noGrp="1"/>
          </p:cNvSpPr>
          <p:nvPr/>
        </p:nvSpPr>
        <p:spPr>
          <a:xfrm>
            <a:off x="8177917" y="3822700"/>
            <a:ext cx="3156125" cy="15862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350">
                <a:solidFill>
                  <a:srgbClr val="B8C7D9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4F8FC"/>
                </a:solidFill>
                <a:latin typeface="Tahoma"/>
                <a:ea typeface="Tahoma"/>
                <a:cs typeface="Tahoma"/>
              </a:rPr>
              <a:t>SERVICE / RETURN</a:t>
            </a:r>
          </a:p>
          <a:p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350">
                <a:solidFill>
                  <a:srgbClr val="B8C7D9"/>
                </a:solidFill>
                <a:latin typeface="Tahoma"/>
                <a:ea typeface="Tahoma"/>
                <a:cs typeface="Tahoma"/>
              </a:defRPr>
            </a:pPr>
            <a:r>
              <a:rPr sz="1350">
                <a:solidFill>
                  <a:srgbClr val="B8C7D9"/>
                </a:solidFill>
                <a:latin typeface="Tahoma"/>
                <a:ea typeface="Tahoma"/>
                <a:cs typeface="Tahoma"/>
              </a:rPr>
              <a:t>5–6  ISR / acknowledge → restore</a:t>
            </a:r>
          </a:p>
          <a:p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350">
                <a:solidFill>
                  <a:srgbClr val="B8C7D9"/>
                </a:solidFill>
                <a:latin typeface="Tahoma"/>
                <a:ea typeface="Tahoma"/>
                <a:cs typeface="Tahoma"/>
              </a:defRPr>
            </a:pPr>
            <a:r>
              <a:rPr sz="1350">
                <a:solidFill>
                  <a:srgbClr val="B8C7D9"/>
                </a:solidFill>
                <a:latin typeface="Tahoma"/>
                <a:ea typeface="Tahoma"/>
                <a:cs typeface="Tahoma"/>
              </a:rPr>
              <a:t>แล้ว resume โปรแกรมเดิม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 spcFirstLastPara="1" vert="horz" wrap="square" lIns="0" tIns="0" rIns="0" bIns="0" anchor="b">
            <a:normAutofit/>
          </a:bodyPr>
          <a:lstStyle/>
          <a:p>
            <a:pPr algn="r">
              <a:defRPr sz="1000">
                <a:solidFill>
                  <a:srgbClr val="B8C7D9"/>
                </a:solidFill>
                <a:latin typeface="Tahoma"/>
                <a:ea typeface="Tahoma"/>
                <a:cs typeface="Tahoma"/>
              </a:defRPr>
            </a:pPr>
            <a:fld id="{EFD6AB9A-5F9E-5F59-51AB-3C8734130965}" type="slidenum">
              <a:rPr sz="1000">
                <a:solidFill>
                  <a:srgbClr val="B8C7D9"/>
                </a:solidFill>
                <a:latin typeface="Tahoma"/>
                <a:ea typeface="Tahoma"/>
                <a:cs typeface="Tahoma"/>
              </a:rPr>
              <a:t>4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68" y="419100"/>
            <a:ext cx="11404568" cy="914400"/>
          </a:xfrm>
        </p:spPr>
        <p:txBody>
          <a:bodyPr spcFirstLastPara="1" vert="horz" wrap="square" lIns="0" tIns="0" rIns="0" bIns="0" anchor="t">
            <a:normAutofit/>
          </a:bodyPr>
          <a:lstStyle/>
          <a:p>
            <a:pPr algn="l">
              <a:defRPr sz="2625" b="1">
                <a:solidFill>
                  <a:srgbClr val="F4F8FC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F4F8FC"/>
                </a:solidFill>
                <a:latin typeface="Tahoma"/>
                <a:ea typeface="Tahoma"/>
                <a:cs typeface="Tahoma"/>
              </a:rPr>
              <a:t>ความถูกต้องของ Interrupt ขึ้นกับ State และ Latency [2][3][4]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350">
                <a:solidFill>
                  <a:srgbClr val="B8C7D9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4F8FC"/>
                </a:solidFill>
                <a:latin typeface="Tahoma"/>
                <a:ea typeface="Tahoma"/>
                <a:cs typeface="Tahoma"/>
              </a:rPr>
              <a:t>ENABLE / MASK / PRIORITY</a:t>
            </a:r>
            <a:endParaRPr sz="1800" b="1">
              <a:latin typeface="Inter SemiBold"/>
              <a:ea typeface="Inter SemiBold"/>
              <a:cs typeface="Inter SemiBold"/>
            </a:endParaRPr>
          </a:p>
          <a:p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350">
                <a:solidFill>
                  <a:srgbClr val="B8C7D9"/>
                </a:solidFill>
                <a:latin typeface="Tahoma"/>
                <a:ea typeface="Tahoma"/>
                <a:cs typeface="Tahoma"/>
              </a:defRPr>
            </a:pPr>
            <a:r>
              <a:rPr sz="1350">
                <a:solidFill>
                  <a:srgbClr val="B8C7D9"/>
                </a:solidFill>
                <a:latin typeface="Tahoma"/>
                <a:ea typeface="Tahoma"/>
                <a:cs typeface="Tahoma"/>
              </a:rPr>
              <a:t>คำขอต้องผ่านเงื่อนไขการตอบรับก่อนเปลี่ยน control flow</a:t>
            </a:r>
            <a:endParaRPr sz="1800">
              <a:latin typeface="Inter"/>
              <a:ea typeface="Inter"/>
              <a:cs typeface="Inter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0" y="3365500"/>
            <a:ext cx="3568700" cy="2628900"/>
          </a:xfrm>
        </p:spPr>
        <p:txBody>
          <a:bodyPr anchor="t">
            <a:normAutofit/>
          </a:bodyPr>
          <a:lstStyle/>
          <a:p>
            <a:pPr marL="0" marR="0" lv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 sz="1350">
                <a:solidFill>
                  <a:srgbClr val="B8C7D9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4F8FC"/>
                </a:solidFill>
                <a:latin typeface="Tahoma"/>
                <a:ea typeface="Tahoma"/>
                <a:cs typeface="Tahoma"/>
              </a:rPr>
              <a:t>BOUNDED ISR</a:t>
            </a:r>
          </a:p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350">
                <a:solidFill>
                  <a:srgbClr val="B8C7D9"/>
                </a:solidFill>
                <a:latin typeface="Tahoma"/>
                <a:ea typeface="Tahoma"/>
                <a:cs typeface="Tahoma"/>
              </a:defRPr>
            </a:pPr>
            <a:r>
              <a:rPr sz="1350" b="0" i="0" u="none" cap="none">
                <a:ln>
                  <a:noFill/>
                </a:ln>
                <a:solidFill>
                  <a:srgbClr val="B8C7D9"/>
                </a:solidFill>
                <a:latin typeface="Tahoma"/>
                <a:ea typeface="Tahoma"/>
                <a:cs typeface="Tahoma"/>
              </a:rPr>
              <a:t>Acknowledge แหล่งคำขอ และทำเฉพาะงานจำเป็นเพื่อลด latency และ jitter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1650" y="3365500"/>
            <a:ext cx="3568700" cy="2628900"/>
          </a:xfrm>
        </p:spPr>
        <p:txBody>
          <a:bodyPr anchor="t">
            <a:normAutofit/>
          </a:bodyPr>
          <a:lstStyle/>
          <a:p>
            <a:pPr marL="0" marR="0" lv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 sz="1350">
                <a:solidFill>
                  <a:srgbClr val="B8C7D9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4F8FC"/>
                </a:solidFill>
                <a:latin typeface="Tahoma"/>
                <a:ea typeface="Tahoma"/>
                <a:cs typeface="Tahoma"/>
              </a:rPr>
              <a:t>CONTEXT INTEGRITY</a:t>
            </a:r>
          </a:p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350">
                <a:solidFill>
                  <a:srgbClr val="B8C7D9"/>
                </a:solidFill>
                <a:latin typeface="Tahoma"/>
                <a:ea typeface="Tahoma"/>
                <a:cs typeface="Tahoma"/>
              </a:defRPr>
            </a:pPr>
            <a:r>
              <a:rPr sz="1350" b="0" i="0" u="none" cap="none">
                <a:ln>
                  <a:noFill/>
                </a:ln>
                <a:solidFill>
                  <a:srgbClr val="B8C7D9"/>
                </a:solidFill>
                <a:latin typeface="Tahoma"/>
                <a:ea typeface="Tahoma"/>
                <a:cs typeface="Tahoma"/>
              </a:rPr>
              <a:t>ขอบเขตการ Save / Restore กำหนดโดยสถาปัตยกรรมและ ABI</a:t>
            </a:r>
          </a:p>
        </p:txBody>
      </p:sp>
      <p:sp>
        <p:nvSpPr>
          <p:cNvPr id="7" name="Content Placeholder 15">
            <a:extLst>
              <a:ext uri="{FF2B5EF4-FFF2-40B4-BE49-F238E27FC236}">
                <a16:creationId xmlns:a16="http://schemas.microsoft.com/office/drawing/2014/main" id="{DD72B81A-AC75-C1B0-4313-7B84D70521A7}"/>
              </a:ext>
            </a:extLst>
          </p:cNvPr>
          <p:cNvSpPr>
            <a:spLocks noGrp="1"/>
          </p:cNvSpPr>
          <p:nvPr/>
        </p:nvSpPr>
        <p:spPr>
          <a:xfrm>
            <a:off x="393700" y="2763754"/>
            <a:ext cx="1612900" cy="262400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275" b="1">
                <a:solidFill>
                  <a:srgbClr val="7DD3FC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7DD3FC"/>
                </a:solidFill>
                <a:latin typeface="Tahoma"/>
                <a:ea typeface="Tahoma"/>
                <a:cs typeface="Tahoma"/>
              </a:rPr>
              <a:t>01  •  QUALIFY</a:t>
            </a:r>
          </a:p>
        </p:txBody>
      </p:sp>
      <p:sp>
        <p:nvSpPr>
          <p:cNvPr id="8" name="Content Placeholder 15">
            <a:extLst>
              <a:ext uri="{FF2B5EF4-FFF2-40B4-BE49-F238E27FC236}">
                <a16:creationId xmlns:a16="http://schemas.microsoft.com/office/drawing/2014/main" id="{5200B2E2-6D19-9AFE-1E8D-518E55CC26ED}"/>
              </a:ext>
            </a:extLst>
          </p:cNvPr>
          <p:cNvSpPr>
            <a:spLocks noGrp="1"/>
          </p:cNvSpPr>
          <p:nvPr/>
        </p:nvSpPr>
        <p:spPr>
          <a:xfrm>
            <a:off x="4294187" y="2763754"/>
            <a:ext cx="1612900" cy="262400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275" b="1">
                <a:solidFill>
                  <a:srgbClr val="7DD3FC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7DD3FC"/>
                </a:solidFill>
                <a:latin typeface="Tahoma"/>
                <a:ea typeface="Tahoma"/>
                <a:cs typeface="Tahoma"/>
              </a:rPr>
              <a:t>02  •  PRESERVE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74611C1F-A471-6B24-C785-2D7A5B5DD6BA}"/>
              </a:ext>
            </a:extLst>
          </p:cNvPr>
          <p:cNvSpPr>
            <a:spLocks noGrp="1"/>
          </p:cNvSpPr>
          <p:nvPr/>
        </p:nvSpPr>
        <p:spPr>
          <a:xfrm>
            <a:off x="8223249" y="2763754"/>
            <a:ext cx="1612900" cy="262400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275" b="1">
                <a:solidFill>
                  <a:srgbClr val="7DD3FC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7DD3FC"/>
                </a:solidFill>
                <a:latin typeface="Tahoma"/>
                <a:ea typeface="Tahoma"/>
                <a:cs typeface="Tahoma"/>
              </a:rPr>
              <a:t>03  •  COMPLETE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188" y="6278563"/>
            <a:ext cx="519112" cy="241300"/>
          </a:xfrm>
        </p:spPr>
        <p:txBody>
          <a:bodyPr anchor="b">
            <a:normAutofit/>
          </a:bodyPr>
          <a:lstStyle/>
          <a:p>
            <a:pPr algn="r">
              <a:defRPr sz="1000">
                <a:solidFill>
                  <a:srgbClr val="B8C7D9"/>
                </a:solidFill>
                <a:latin typeface="Tahoma"/>
                <a:ea typeface="Tahoma"/>
                <a:cs typeface="Tahoma"/>
              </a:defRPr>
            </a:pPr>
            <a:fld id="{EE5B3003-2C54-13C6-9832-7637201064DE}" type="slidenum">
              <a:rPr sz="1000">
                <a:solidFill>
                  <a:srgbClr val="B8C7D9"/>
                </a:solidFill>
                <a:latin typeface="Tahoma"/>
                <a:ea typeface="Tahoma"/>
                <a:cs typeface="Tahoma"/>
              </a:rPr>
              <a:t>5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anchor="t">
            <a:normAutofit/>
          </a:bodyPr>
          <a:lstStyle/>
          <a:p>
            <a:pPr algn="l">
              <a:defRPr sz="2900" b="1">
                <a:solidFill>
                  <a:srgbClr val="F4F8FC"/>
                </a:solidFill>
                <a:latin typeface="Tahoma"/>
                <a:ea typeface="Tahoma"/>
                <a:cs typeface="Tahoma"/>
              </a:defRPr>
            </a:pPr>
            <a:r>
              <a:rPr sz="2900" b="1">
                <a:solidFill>
                  <a:srgbClr val="F4F8FC"/>
                </a:solidFill>
                <a:latin typeface="Tahoma"/>
                <a:ea typeface="Tahoma"/>
                <a:cs typeface="Tahoma"/>
              </a:rPr>
              <a:t>เอกสารอ้างอิง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2032000"/>
            <a:ext cx="5537200" cy="1643063"/>
          </a:xfrm>
        </p:spPr>
        <p:txBody>
          <a:bodyPr anchor="t">
            <a:normAutofit/>
          </a:bodyPr>
          <a:lstStyle/>
          <a:p>
            <a:pPr marL="0" marR="0" lv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 sz="1238">
                <a:solidFill>
                  <a:srgbClr val="F4F8FC"/>
                </a:solidFill>
                <a:latin typeface="Tahoma"/>
                <a:ea typeface="Tahoma"/>
                <a:cs typeface="Tahoma"/>
              </a:defRPr>
            </a:pPr>
            <a:r>
              <a:rPr sz="1238" b="1">
                <a:solidFill>
                  <a:srgbClr val="7DD3FC"/>
                </a:solidFill>
                <a:latin typeface="Tahoma"/>
                <a:ea typeface="Tahoma"/>
                <a:cs typeface="Tahoma"/>
              </a:rPr>
              <a:t>[1]  Mazidi et al. (2011).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238">
                <a:solidFill>
                  <a:srgbClr val="F4F8FC"/>
                </a:solidFill>
                <a:latin typeface="Tahoma"/>
                <a:ea typeface="Tahoma"/>
                <a:cs typeface="Tahoma"/>
              </a:defRPr>
            </a:pPr>
            <a:r>
              <a:rPr sz="1238" b="0" i="0" u="none" cap="none">
                <a:ln>
                  <a:noFill/>
                </a:ln>
                <a:solidFill>
                  <a:srgbClr val="F4F8FC"/>
                </a:solidFill>
                <a:latin typeface="Tahoma"/>
                <a:ea typeface="Tahoma"/>
                <a:cs typeface="Tahoma"/>
              </a:rPr>
              <a:t>M. A. Mazidi, S. Naimi และ S. Naimi. The AVR Microcontroller and Embedded Systems. หน้า 375–376, Prentice Hall.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56618" y="2032000"/>
            <a:ext cx="5537200" cy="1643063"/>
          </a:xfrm>
        </p:spPr>
        <p:txBody>
          <a:bodyPr anchor="t">
            <a:normAutofit/>
          </a:bodyPr>
          <a:lstStyle/>
          <a:p>
            <a:pPr marL="0" marR="0" lv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 sz="1238">
                <a:solidFill>
                  <a:srgbClr val="F4F8FC"/>
                </a:solidFill>
                <a:latin typeface="Tahoma"/>
                <a:ea typeface="Tahoma"/>
                <a:cs typeface="Tahoma"/>
              </a:defRPr>
            </a:pPr>
            <a:r>
              <a:rPr sz="1238" b="1">
                <a:solidFill>
                  <a:srgbClr val="7DD3FC"/>
                </a:solidFill>
                <a:latin typeface="Tahoma"/>
                <a:ea typeface="Tahoma"/>
                <a:cs typeface="Tahoma"/>
              </a:rPr>
              <a:t>[2]  Microchip Technology Inc. (2018).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238">
                <a:solidFill>
                  <a:srgbClr val="F4F8FC"/>
                </a:solidFill>
                <a:latin typeface="Tahoma"/>
                <a:ea typeface="Tahoma"/>
                <a:cs typeface="Tahoma"/>
              </a:defRPr>
            </a:pPr>
            <a:r>
              <a:rPr sz="1238" b="0" i="0" u="none" cap="none">
                <a:ln>
                  <a:noFill/>
                </a:ln>
                <a:solidFill>
                  <a:srgbClr val="F4F8FC"/>
                </a:solidFill>
                <a:latin typeface="Tahoma"/>
                <a:ea typeface="Tahoma"/>
                <a:cs typeface="Tahoma"/>
              </a:rPr>
              <a:t>ATmega328/P AVR Microcontroller Datasheet Complete. หน้า 33–34, Microchip Technology.</a:t>
            </a: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noGrp="1"/>
          </p:cNvSpPr>
          <p:nvPr/>
        </p:nvSpPr>
        <p:spPr>
          <a:xfrm>
            <a:off x="393700" y="4016975"/>
            <a:ext cx="5537200" cy="1643185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238">
                <a:solidFill>
                  <a:srgbClr val="F4F8FC"/>
                </a:solidFill>
                <a:latin typeface="Tahoma"/>
                <a:ea typeface="Tahoma"/>
                <a:cs typeface="Tahoma"/>
              </a:defRPr>
            </a:pPr>
            <a:r>
              <a:rPr sz="1238" b="1">
                <a:solidFill>
                  <a:srgbClr val="7DD3FC"/>
                </a:solidFill>
                <a:latin typeface="Tahoma"/>
                <a:ea typeface="Tahoma"/>
                <a:cs typeface="Tahoma"/>
              </a:rPr>
              <a:t>[3]  Yiu, J. (2010).</a:t>
            </a:r>
          </a:p>
          <a:p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238">
                <a:solidFill>
                  <a:srgbClr val="F4F8FC"/>
                </a:solidFill>
                <a:latin typeface="Tahoma"/>
                <a:ea typeface="Tahoma"/>
                <a:cs typeface="Tahoma"/>
              </a:defRPr>
            </a:pPr>
            <a:r>
              <a:rPr sz="1238">
                <a:solidFill>
                  <a:srgbClr val="F4F8FC"/>
                </a:solidFill>
                <a:latin typeface="Tahoma"/>
                <a:ea typeface="Tahoma"/>
                <a:cs typeface="Tahoma"/>
              </a:rPr>
              <a:t>The Definitive Guide to the ARM Cortex-M3. 2nd ed. หน้า 172–175, Newnes.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noGrp="1"/>
          </p:cNvSpPr>
          <p:nvPr/>
        </p:nvSpPr>
        <p:spPr>
          <a:xfrm>
            <a:off x="6256618" y="4016975"/>
            <a:ext cx="5537200" cy="1643185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238">
                <a:solidFill>
                  <a:srgbClr val="F4F8FC"/>
                </a:solidFill>
                <a:latin typeface="Tahoma"/>
                <a:ea typeface="Tahoma"/>
                <a:cs typeface="Tahoma"/>
              </a:defRPr>
            </a:pPr>
            <a:r>
              <a:rPr sz="1238" b="1">
                <a:solidFill>
                  <a:srgbClr val="7DD3FC"/>
                </a:solidFill>
                <a:latin typeface="Tahoma"/>
                <a:ea typeface="Tahoma"/>
                <a:cs typeface="Tahoma"/>
              </a:rPr>
              <a:t>[4]  Arm Ltd. (2010).</a:t>
            </a:r>
          </a:p>
          <a:p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238">
                <a:solidFill>
                  <a:srgbClr val="F4F8FC"/>
                </a:solidFill>
                <a:latin typeface="Tahoma"/>
                <a:ea typeface="Tahoma"/>
                <a:cs typeface="Tahoma"/>
              </a:defRPr>
            </a:pPr>
            <a:r>
              <a:rPr sz="1238">
                <a:solidFill>
                  <a:srgbClr val="F4F8FC"/>
                </a:solidFill>
                <a:latin typeface="Tahoma"/>
                <a:ea typeface="Tahoma"/>
                <a:cs typeface="Tahoma"/>
              </a:rPr>
              <a:t>Cortex-M3 Devices Generic User Guide (ออนไลน์). สืบค้นจาก https://developer.arm.com/documentation/dui0552/a [10 สิงหาคม 2569]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967</Words>
  <Application>Microsoft Macintosh PowerPoint</Application>
  <DocSecurity>0</DocSecurity>
  <PresentationFormat>แบบจอกว้าง</PresentationFormat>
  <Paragraphs>83</Paragraphs>
  <Slides>5</Slides>
  <Notes>5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6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5</vt:i4>
      </vt:variant>
    </vt:vector>
  </HeadingPairs>
  <TitlesOfParts>
    <vt:vector size="12" baseType="lpstr">
      <vt:lpstr>Inter Medium</vt:lpstr>
      <vt:lpstr>OpenAI Sans</vt:lpstr>
      <vt:lpstr>Arial</vt:lpstr>
      <vt:lpstr>Inter</vt:lpstr>
      <vt:lpstr>Tahoma</vt:lpstr>
      <vt:lpstr>Inter SemiBold</vt:lpstr>
      <vt:lpstr>Default Codex Theme</vt:lpstr>
      <vt:lpstr>41  Interrupt Mechanism</vt:lpstr>
      <vt:lpstr>Interrupt คือการถ่ายโอนการควบคุมตามเหตุการณ์ [1][2]</vt:lpstr>
      <vt:lpstr>การตอบสนองแบ่งเป็น 3 ระยะต่อเนื่อง [1][2][3][4]</vt:lpstr>
      <vt:lpstr>ความถูกต้องของ Interrupt ขึ้นกับ State และ Latency [2][3][4]</vt:lpstr>
      <vt:lpstr>เอกสารอ้างอิง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THEERAPAT POORAYA</cp:lastModifiedBy>
  <cp:revision>2</cp:revision>
  <dcterms:created xsi:type="dcterms:W3CDTF">2026-08-09T22:18:48Z</dcterms:created>
  <dcterms:modified xsi:type="dcterms:W3CDTF">2026-08-13T09:08:19Z</dcterms:modified>
</cp:coreProperties>
</file>